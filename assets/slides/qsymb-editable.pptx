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946906275f4842" /><Relationship Type="http://schemas.openxmlformats.org/officeDocument/2006/relationships/extended-properties" Target="/docProps/app.xml" Id="R5204e8ecf8104c0b" /><Relationship Type="http://schemas.openxmlformats.org/officeDocument/2006/relationships/officeDocument" Target="/ppt/presentation.xml" Id="R5d506d3f821642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868a160962448d"/>
  </p:sldMasterIdLst>
  <p:notesMasterIdLst>
    <p:notesMasterId xmlns:r="http://schemas.openxmlformats.org/officeDocument/2006/relationships" r:id="R30b3ce91f10a4c88"/>
  </p:notesMasterIdLst>
  <p:sldIdLst>
    <p:sldId xmlns:r="http://schemas.openxmlformats.org/officeDocument/2006/relationships" id="256" r:id="R35152a290bcf4b9f"/>
    <p:sldId xmlns:r="http://schemas.openxmlformats.org/officeDocument/2006/relationships" id="257" r:id="R46aaf209f0124f40"/>
    <p:sldId xmlns:r="http://schemas.openxmlformats.org/officeDocument/2006/relationships" id="258" r:id="Rfb180dc5f48b494d"/>
    <p:sldId xmlns:r="http://schemas.openxmlformats.org/officeDocument/2006/relationships" id="259" r:id="R2165ea1e2788440b"/>
    <p:sldId xmlns:r="http://schemas.openxmlformats.org/officeDocument/2006/relationships" id="260" r:id="Re463cf131d6947ad"/>
    <p:sldId xmlns:r="http://schemas.openxmlformats.org/officeDocument/2006/relationships" id="261" r:id="R9494b5ac80734d33"/>
    <p:sldId xmlns:r="http://schemas.openxmlformats.org/officeDocument/2006/relationships" id="262" r:id="R2a716edf71d14579"/>
    <p:sldId xmlns:r="http://schemas.openxmlformats.org/officeDocument/2006/relationships" id="263" r:id="R21b02af4b42d437c"/>
    <p:sldId xmlns:r="http://schemas.openxmlformats.org/officeDocument/2006/relationships" id="264" r:id="R719d18f85a0342df"/>
    <p:sldId xmlns:r="http://schemas.openxmlformats.org/officeDocument/2006/relationships" id="265" r:id="R5c61150ea54341ff"/>
    <p:sldId xmlns:r="http://schemas.openxmlformats.org/officeDocument/2006/relationships" id="266" r:id="Ra7b3a1d3b329449e"/>
    <p:sldId xmlns:r="http://schemas.openxmlformats.org/officeDocument/2006/relationships" id="267" r:id="Ree74c32b0a524d4f"/>
    <p:sldId xmlns:r="http://schemas.openxmlformats.org/officeDocument/2006/relationships" id="268" r:id="R41ef8a57517346eb"/>
    <p:sldId xmlns:r="http://schemas.openxmlformats.org/officeDocument/2006/relationships" id="269" r:id="R81e3b95c216b4e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6754cb77654080" /><Relationship Type="http://schemas.openxmlformats.org/officeDocument/2006/relationships/slideMaster" Target="/ppt/slideMasters/slideMaster1.xml" Id="R55868a160962448d" /><Relationship Type="http://schemas.openxmlformats.org/officeDocument/2006/relationships/notesMaster" Target="/ppt/notesMasters/notesMaster1.xml" Id="R30b3ce91f10a4c88" /><Relationship Type="http://schemas.openxmlformats.org/officeDocument/2006/relationships/presProps" Target="/ppt/presProps.xml" Id="Rbb334a0aaf7047e8" /><Relationship Type="http://schemas.openxmlformats.org/officeDocument/2006/relationships/tableStyles" Target="/ppt/tableStyles.xml" Id="R6d2cf65019b243a9" /><Relationship Type="http://schemas.openxmlformats.org/officeDocument/2006/relationships/slide" Target="/ppt/slides/slide1.xml" Id="R35152a290bcf4b9f" /><Relationship Type="http://schemas.openxmlformats.org/officeDocument/2006/relationships/slide" Target="/ppt/slides/slide2.xml" Id="R46aaf209f0124f40" /><Relationship Type="http://schemas.openxmlformats.org/officeDocument/2006/relationships/slide" Target="/ppt/slides/slide3.xml" Id="Rfb180dc5f48b494d" /><Relationship Type="http://schemas.openxmlformats.org/officeDocument/2006/relationships/slide" Target="/ppt/slides/slide4.xml" Id="R2165ea1e2788440b" /><Relationship Type="http://schemas.openxmlformats.org/officeDocument/2006/relationships/slide" Target="/ppt/slides/slide5.xml" Id="Re463cf131d6947ad" /><Relationship Type="http://schemas.openxmlformats.org/officeDocument/2006/relationships/slide" Target="/ppt/slides/slide6.xml" Id="R9494b5ac80734d33" /><Relationship Type="http://schemas.openxmlformats.org/officeDocument/2006/relationships/slide" Target="/ppt/slides/slide7.xml" Id="R2a716edf71d14579" /><Relationship Type="http://schemas.openxmlformats.org/officeDocument/2006/relationships/slide" Target="/ppt/slides/slide8.xml" Id="R21b02af4b42d437c" /><Relationship Type="http://schemas.openxmlformats.org/officeDocument/2006/relationships/slide" Target="/ppt/slides/slide9.xml" Id="R719d18f85a0342df" /><Relationship Type="http://schemas.openxmlformats.org/officeDocument/2006/relationships/slide" Target="/ppt/slides/slide10.xml" Id="R5c61150ea54341ff" /><Relationship Type="http://schemas.openxmlformats.org/officeDocument/2006/relationships/slide" Target="/ppt/slides/slide11.xml" Id="Ra7b3a1d3b329449e" /><Relationship Type="http://schemas.openxmlformats.org/officeDocument/2006/relationships/slide" Target="/ppt/slides/slide12.xml" Id="Ree74c32b0a524d4f" /><Relationship Type="http://schemas.openxmlformats.org/officeDocument/2006/relationships/slide" Target="/ppt/slides/slide13.xml" Id="R41ef8a57517346eb" /><Relationship Type="http://schemas.openxmlformats.org/officeDocument/2006/relationships/slide" Target="/ppt/slides/slide14.xml" Id="R81e3b95c216b4e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58fff48c4d4b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3956f2b59347b7" /><Relationship Type="http://schemas.openxmlformats.org/officeDocument/2006/relationships/notesMaster" Target="/ppt/notesMasters/notesMaster1.xml" Id="R56effaa4108548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748127d45d4a02" /><Relationship Type="http://schemas.openxmlformats.org/officeDocument/2006/relationships/notesMaster" Target="/ppt/notesMasters/notesMaster1.xml" Id="R7d9c27154c0748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172c75e2994f63" /><Relationship Type="http://schemas.openxmlformats.org/officeDocument/2006/relationships/notesMaster" Target="/ppt/notesMasters/notesMaster1.xml" Id="R8a70644149a640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d2fc7639034ed7" /><Relationship Type="http://schemas.openxmlformats.org/officeDocument/2006/relationships/notesMaster" Target="/ppt/notesMasters/notesMaster1.xml" Id="R6bf18feb18a14b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3b3446f0cd4507" /><Relationship Type="http://schemas.openxmlformats.org/officeDocument/2006/relationships/notesMaster" Target="/ppt/notesMasters/notesMaster1.xml" Id="Rccc5059d97ff4a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d38ef093304b92" /><Relationship Type="http://schemas.openxmlformats.org/officeDocument/2006/relationships/notesMaster" Target="/ppt/notesMasters/notesMaster1.xml" Id="Rb49ccc2dd76e48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51b4494c434c9f" /><Relationship Type="http://schemas.openxmlformats.org/officeDocument/2006/relationships/notesMaster" Target="/ppt/notesMasters/notesMaster1.xml" Id="R46958ca73d3349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4d4d13c2e0409f" /><Relationship Type="http://schemas.openxmlformats.org/officeDocument/2006/relationships/notesMaster" Target="/ppt/notesMasters/notesMaster1.xml" Id="R3511379052e64c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371890d7f94fb0" /><Relationship Type="http://schemas.openxmlformats.org/officeDocument/2006/relationships/notesMaster" Target="/ppt/notesMasters/notesMaster1.xml" Id="R80c2995379ed4f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4bfa6fc808411d" /><Relationship Type="http://schemas.openxmlformats.org/officeDocument/2006/relationships/notesMaster" Target="/ppt/notesMasters/notesMaster1.xml" Id="R6a0ab80c98c34e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c98447afaf40c9" /><Relationship Type="http://schemas.openxmlformats.org/officeDocument/2006/relationships/notesMaster" Target="/ppt/notesMasters/notesMaster1.xml" Id="Rca73972212d74d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1887369c6c4b15" /><Relationship Type="http://schemas.openxmlformats.org/officeDocument/2006/relationships/notesMaster" Target="/ppt/notesMasters/notesMaster1.xml" Id="Ra8333da74bf64f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fb98594dbd4ee7" /><Relationship Type="http://schemas.openxmlformats.org/officeDocument/2006/relationships/notesMaster" Target="/ppt/notesMasters/notesMaster1.xml" Id="R65cf058e263045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6c1c086e8c4056" /><Relationship Type="http://schemas.openxmlformats.org/officeDocument/2006/relationships/notesMaster" Target="/ppt/notesMasters/notesMaster1.xml" Id="R679a14261a1848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QSymb automatically synthesizes quantum-circuit rewrite rules.</a:t>
            </a:r>
          </a:p>
          <a:p xmlns:a="http://schemas.openxmlformats.org/drawingml/2006/main">
            <a:r>
              <a:t>- Goal: a compact rule basis with long-distance reach.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Why do existing rewrite rules struggle?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Paper title and abstract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Problem: preserve the circuit’s computation while reducing gate cost.</a:t>
            </a:r>
          </a:p>
          <a:p xmlns:a="http://schemas.openxmlformats.org/drawingml/2006/main">
            <a:r>
              <a:t>- Example: cancel CX/CX and X/X, leaving two gates.</a:t>
            </a:r>
          </a:p>
          <a:p xmlns:a="http://schemas.openxmlformats.org/drawingml/2006/main">
            <a:r>
              <a:t>- Fewer noisy operations can improve reliability; short coherence times limit depth.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What makes rewrite-based optimization difficult? Start with rule explosion.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§1 Introduction; §2 quantum-circuit semantics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Prior rule sets contain 4,615–11,777 concrete rules.</a:t>
            </a:r>
          </a:p>
          <a:p xmlns:a="http://schemas.openxmlformats.org/drawingml/2006/main">
            <a:r>
              <a:t>- Counts depend on the gate set; Quartz/Queso attribution follows Table 1.</a:t>
            </a:r>
          </a:p>
          <a:p xmlns:a="http://schemas.openxmlformats.org/drawingml/2006/main">
            <a:r>
              <a:t>- Many rules are derivable. Seek a compact basis with the same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Even thousands of small rules can struggle with a long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§7.1, Table 1: prior concrete rule sets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Small patterns cannot directly span arbitrarily long contexts.</a:t>
            </a:r>
          </a:p>
          <a:p xmlns:a="http://schemas.openxmlformats.org/drawingml/2006/main">
            <a:r>
              <a:t>- The rewrite requires S CZ = CX S; S is not unrestricted.</a:t>
            </a:r>
          </a:p>
          <a:p xmlns:a="http://schemas.openxmlformats.org/drawingml/2006/main">
            <a:r>
              <a:t>- Local sequences may also work; the challenge is finding the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Now show the workflow that synthesizes and applies this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Click cues:</a:t>
            </a:r>
          </a:p>
          <a:p xmlns:a="http://schemas.openxmlformats.org/drawingml/2006/main">
            <a:r>
              <a:t>1. Point to the 12 gates separating CZ and CX.</a:t>
            </a:r>
          </a:p>
          <a:p xmlns:a="http://schemas.openxmlformats.org/drawingml/2006/main">
            <a:r>
              <a:t>2. Under the displayed condition, move CZ through S as CX.</a:t>
            </a:r>
          </a:p>
          <a:p xmlns:a="http://schemas.openxmlformats.org/drawingml/2006/main">
            <a:r>
              <a:t>3. The CX pair cancels; one CZ and one CX are removed overall.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§§2–3, 5.5; illustrative CZ → CX instance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Concrete synthesis → symbolic synthesis → anchoring → optimization.</a:t>
            </a:r>
          </a:p>
          <a:p xmlns:a="http://schemas.openxmlformats.org/drawingml/2006/main">
            <a:r>
              <a:t>- Follow L = CZ, R = CX throughout.</a:t>
            </a:r>
          </a:p>
          <a:p xmlns:a="http://schemas.openxmlformats.org/drawingml/2006/main">
            <a:r>
              <a:t>- Illustrative example; the evaluation comes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Start with concrete equivalence classes and redundancy filtering.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QSymb synthesis / anchoring methods; CZ → CX illustration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Equivalent matrices share a class; CZ and CX stay separate.</a:t>
            </a:r>
          </a:p>
          <a:p xmlns:a="http://schemas.openxmlformats.org/drawingml/2006/main">
            <a:r>
              <a:t>- Keep useful rules; discard rules already derivable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Why can symbolic synthesis focus on canonical rules?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Click cues:</a:t>
            </a:r>
          </a:p>
          <a:p xmlns:a="http://schemas.openxmlformats.org/drawingml/2006/main">
            <a:r>
              <a:t>1. Enumerate small circuits.</a:t>
            </a:r>
          </a:p>
          <a:p xmlns:a="http://schemas.openxmlformats.org/drawingml/2006/main">
            <a:r>
              <a:t>2. Group equal matrices: I, CZ, CX classes.</a:t>
            </a:r>
          </a:p>
          <a:p xmlns:a="http://schemas.openxmlformats.org/drawingml/2006/main">
            <a:r>
              <a:t>3. Keep validated CX and X cancellation rules.</a:t>
            </a:r>
          </a:p>
          <a:p xmlns:a="http://schemas.openxmlformats.org/drawingml/2006/main">
            <a:r>
              <a:t>4. Consider CX → X → X rewriting to CX.</a:t>
            </a:r>
          </a:p>
          <a:p xmlns:a="http://schemas.openxmlformats.org/drawingml/2006/main">
            <a:r>
              <a:t>5. X cancellation already derives it: discard this redundant rule.</a:t>
            </a:r>
          </a:p>
          <a:p xmlns:a="http://schemas.openxmlformats.org/drawingml/2006/main">
            <a:r>
              <a:t>6. Export the concrete basis and CZ/CX representatives.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QSymb synthesis / anchoring methods; CZ → CX illustration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Condition: implement each gate’s inverse within the same gate set.</a:t>
            </a:r>
          </a:p>
          <a:p xmlns:a="http://schemas.openxmlformats.org/drawingml/2006/main">
            <a:r>
              <a:t>- Theorem: every single-S rule has an equivalent canonical form.</a:t>
            </a:r>
          </a:p>
          <a:p xmlns:a="http://schemas.openxmlformats.org/drawingml/2006/main">
            <a:r>
              <a:t>- Circuit order: left → right. Matrix products: right → left.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For a chosen L and R, when does a unitary S exist?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Click cues:</a:t>
            </a:r>
          </a:p>
          <a:p xmlns:a="http://schemas.openxmlformats.org/drawingml/2006/main">
            <a:r>
              <a:t>1. Start with G₁ → S → G₂ = G₁′ → S → G₂′.</a:t>
            </a:r>
          </a:p>
          <a:p xmlns:a="http://schemas.openxmlformats.org/drawingml/2006/main">
            <a:r>
              <a:t>2. Prepend (G₁′)⁻¹; append G₂⁻¹. Identify L and R.</a:t>
            </a:r>
          </a:p>
          <a:p xmlns:a="http://schemas.openxmlformats.org/drawingml/2006/main">
            <a:r>
              <a:t>3. Cancel inverse pairs: L → S = S → R, with the same constraints on 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§5.3.1, Theorem 5.1 and Lemma 5.6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Enumerate all candidate pairs (L, R) within the synthesis bounds.</a:t>
            </a:r>
          </a:p>
          <a:p xmlns:a="http://schemas.openxmlformats.org/drawingml/2006/main">
            <a:r>
              <a:t>- For each pair: decide whether a unitary S exists.</a:t>
            </a:r>
          </a:p>
          <a:p xmlns:a="http://schemas.openxmlformats.org/drawingml/2006/main">
            <a:r>
              <a:t>- If yes: solve S L = R S for the matrix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Turn the theorem into a procedure: trace → eigenvalues → solve.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Click cues:</a:t>
            </a:r>
          </a:p>
          <a:p xmlns:a="http://schemas.openxmlformats.org/drawingml/2006/main">
            <a:r>
              <a:t>1. First enumerate all candidate pairs within the bounds.</a:t>
            </a:r>
          </a:p>
          <a:p xmlns:a="http://schemas.openxmlformats.org/drawingml/2006/main">
            <a:r>
              <a:t>2. For each pair: does S exist? If yes, we must find its solution space.</a:t>
            </a:r>
          </a:p>
          <a:p xmlns:a="http://schemas.openxmlformats.org/drawingml/2006/main">
            <a:r>
              <a:t>3. Trace lemma: a solution implies equal traces. Different traces reject the pair.</a:t>
            </a:r>
          </a:p>
          <a:p xmlns:a="http://schemas.openxmlformats.org/drawingml/2006/main">
            <a:r>
              <a:t>4. Eigenvalue lemma: matching spectra and multiplicities are necessary and sufficient.</a:t>
            </a:r>
          </a:p>
          <a:p xmlns:a="http://schemas.openxmlformats.org/drawingml/2006/main">
            <a:r>
              <a:t>5. CZ and CX both have trace 2 and spectrum {1, 1, 1, −1}.</a:t>
            </a:r>
          </a:p>
          <a:p xmlns:a="http://schemas.openxmlformats.org/drawingml/2006/main">
            <a:r>
              <a:t>6. A unitary S exists. Next, derive its matrix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§5.3, Theorem 5.1, Lemmas 5.3–5.4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Trace filters candidates; matching eigenvalues establish unitary existence.</a:t>
            </a:r>
          </a:p>
          <a:p xmlns:a="http://schemas.openxmlformats.org/drawingml/2006/main">
            <a:r>
              <a:t>- Solve S CZ = CX S: ten free complex variables.</a:t>
            </a:r>
          </a:p>
          <a:p xmlns:a="http://schemas.openxmlformats.org/drawingml/2006/main">
            <a:r>
              <a:t>- The linear space includes nonunitary matrices; circuit matches are unitary.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Match a real 12-gate circuit against this matrix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Click cues:</a:t>
            </a:r>
          </a:p>
          <a:p xmlns:a="http://schemas.openxmlformats.org/drawingml/2006/main">
            <a:r>
              <a:t>1. Group by trace: I = 4; CZ/CX = 2; target X = 0.</a:t>
            </a:r>
          </a:p>
          <a:p xmlns:a="http://schemas.openxmlformats.org/drawingml/2006/main">
            <a:r>
              <a:t>2. Validate equal eigenvalues and multiplicities inside the trace group.</a:t>
            </a:r>
          </a:p>
          <a:p xmlns:a="http://schemas.openxmlformats.org/drawingml/2006/main">
            <a:r>
              <a:t>3. Introduce sixteen unknown entries in S.</a:t>
            </a:r>
          </a:p>
          <a:p xmlns:a="http://schemas.openxmlformats.org/drawingml/2006/main">
            <a:r>
              <a:t>4. S CZ negates column 4; CX S swaps rows 3 and 4.</a:t>
            </a:r>
          </a:p>
          <a:p xmlns:a="http://schemas.openxmlformats.org/drawingml/2006/main">
            <a:r>
              <a:t>5. Equate entries: two zeros, repeated entries, one sign change.</a:t>
            </a:r>
          </a:p>
          <a:p xmlns:a="http://schemas.openxmlformats.org/drawingml/2006/main">
            <a:r>
              <a:t>6. Collect ten free variables into the symbolic matrix.</a:t>
            </a:r>
          </a:p>
          <a:p xmlns:a="http://schemas.openxmlformats.org/drawingml/2006/main">
            <a:r>
              <a:t>7. Target H is a unitary witness; use a longer member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§§5.3.3–5.3.4, Lemmas 5.3–5.4; illustrative CZ → CX derivation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 has 12 gates: target H first, six Rz, five SX.</a:t>
            </a:r>
          </a:p>
          <a:p xmlns:a="http://schemas.openxmlformats.org/drawingml/2006/main">
            <a:r>
              <a:t>- Match first → convert CZ to CX → cancel the CX pair.</a:t>
            </a:r>
          </a:p>
          <a:p xmlns:a="http://schemas.openxmlformats.org/drawingml/2006/main">
            <a:r>
              <a:t>- Net saving: one CZ + one CX. All of 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Explain how anchoring makes this cancellation easy to expose.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Click cues:</a:t>
            </a:r>
          </a:p>
          <a:p xmlns:a="http://schemas.openxmlformats.org/drawingml/2006/main">
            <a:r>
              <a:t>1. Point to S: H executes before the target SX gates.</a:t>
            </a:r>
          </a:p>
          <a:p xmlns:a="http://schemas.openxmlformats.org/drawingml/2006/main">
            <a:r>
              <a:t>2. Combine Rz angles; SX⁵ = SX. Compute M.</a:t>
            </a:r>
          </a:p>
          <a:p xmlns:a="http://schemas.openxmlformats.org/drawingml/2006/main">
            <a:r>
              <a:t>3. Compare M with the synthesized symbolic pattern.</a:t>
            </a:r>
          </a:p>
          <a:p xmlns:a="http://schemas.openxmlformats.org/drawingml/2006/main">
            <a:r>
              <a:t>4. Assign coefficients: a=d=p, b=ip, e=−ip, j=r, k=ir; others zero.</a:t>
            </a:r>
          </a:p>
          <a:p xmlns:a="http://schemas.openxmlformats.org/drawingml/2006/main">
            <a:r>
              <a:t>5. Match accepted: CZ → S becomes S → CX.</a:t>
            </a:r>
          </a:p>
          <a:p xmlns:a="http://schemas.openxmlformats.org/drawingml/2006/main">
            <a:r>
              <a:t>6. Cancel CX → CX. Save one CZ and one CX overall.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§5.5 matching method; longer CZ → CX instance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Anchor the canonical rule by appending CX to both sides.</a:t>
            </a:r>
          </a:p>
          <a:p xmlns:a="http://schemas.openxmlformats.org/drawingml/2006/main">
            <a:r>
              <a:t>- Expose CX → CX so the concrete rule can cancel it.</a:t>
            </a:r>
          </a:p>
          <a:p xmlns:a="http://schemas.openxmlformats.org/drawingml/2006/main">
            <a:r>
              <a:t>- Original endpoints differ; the equal pair appears after rewriting.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How well does the full system work? Move to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Click cues:</a:t>
            </a:r>
          </a:p>
          <a:p xmlns:a="http://schemas.openxmlformats.org/drawingml/2006/main">
            <a:r>
              <a:t>1. Recall CZ → S = S → CX under S CZ = CX S.</a:t>
            </a:r>
          </a:p>
          <a:p xmlns:a="http://schemas.openxmlformats.org/drawingml/2006/main">
            <a:r>
              <a:t>2. Append CX to both sides.</a:t>
            </a:r>
          </a:p>
          <a:p xmlns:a="http://schemas.openxmlformats.org/drawingml/2006/main">
            <a:r>
              <a:t>3. Apply the concrete CX cancellation rule on the right.</a:t>
            </a:r>
          </a:p>
          <a:p xmlns:a="http://schemas.openxmlformats.org/drawingml/2006/main">
            <a:r>
              <a:t>4. Obtain CZ → S → CX = 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QSymb synthesis / anchoring methods; CZ → CX illustration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- 135 circuits; 4–36 qubits; IBM-Eagle and Nam.</a:t>
            </a:r>
          </a:p>
          <a:p xmlns:a="http://schemas.openxmlformats.org/drawingml/2006/main">
            <a:r>
              <a:t>- 60-minute search budget; average three trials.</a:t>
            </a:r>
          </a:p>
          <a:p xmlns:a="http://schemas.openxmlformats.org/drawingml/2006/main">
            <a:r>
              <a:t>- Metric: two-qubit gates. Guoq-Rewrite only; fixed-pass tools finish sooner.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Show the strongest final gate-reduction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§6, Algorithm 3, §7.2, Table 4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Final reductions: 27.44% IBM-Eagle; 29.95% Nam.</a:t>
            </a:r>
          </a:p>
          <a:p xmlns:a="http://schemas.openxmlformats.org/drawingml/2006/main">
            <a:r>
              <a:t>- Relative to original gate counts—not improvement over a baseline.</a:t>
            </a:r>
          </a:p>
          <a:p xmlns:a="http://schemas.openxmlformats.org/drawingml/2006/main">
            <a:r>
              <a:t>- Win rates count benchmark cases. Guoq starts faster; QSymb finishes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Which components cause the improvement? Show the ablations.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§7.2, Figs. 11–12 and runtime comparison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- 26–191× smaller concrete rule sets; same prior-rule coverage.</a:t>
            </a:r>
          </a:p>
          <a:p xmlns:a="http://schemas.openxmlformats.org/drawingml/2006/main">
            <a:r>
              <a:t>- Grouping speeds symbolic synthesis by 11.6×.</a:t>
            </a:r>
          </a:p>
          <a:p xmlns:a="http://schemas.openxmlformats.org/drawingml/2006/main">
            <a:r>
              <a:t>- Strict wins: 78% vs concrete only; 31% vs canonical symbolic.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Close with the role of symbolic rules and anchoring; invite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Tables 1–3, §7.3, Figs. 13–14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a1c176658740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7438524f2746c5" /><Relationship Type="http://schemas.openxmlformats.org/officeDocument/2006/relationships/slideLayout" Target="/ppt/slideLayouts/slideLayout1.xml" Id="R1019812aa0a047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19812aa0a047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914493866184a00"/><Relationship Type="http://schemas.openxmlformats.org/officeDocument/2006/relationships/image" Target="/ppt/media/image.png" Id="Rcd3737e53bf04031"/><Relationship Type="http://schemas.openxmlformats.org/officeDocument/2006/relationships/image" Target="/ppt/media/image2.png" Id="Rbb904c6ddb5b4feb"/><Relationship Type="http://schemas.openxmlformats.org/officeDocument/2006/relationships/notesSlide" Target="/ppt/notesSlides/notesSlide1.xml" Id="R8343356f2c974834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06475f360409f" /><Relationship Type="http://schemas.openxmlformats.org/officeDocument/2006/relationships/notesSlide" Target="/ppt/notesSlides/notesSlide2.xml" Id="R6d65037fce0047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2928a1abf46fd" /><Relationship Type="http://schemas.openxmlformats.org/officeDocument/2006/relationships/notesSlide" Target="/ppt/notesSlides/notesSlide3.xml" Id="R6c3036046db94a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6ad82b1c948af" /><Relationship Type="http://schemas.openxmlformats.org/officeDocument/2006/relationships/notesSlide" Target="/ppt/notesSlides/notesSlide4.xml" Id="R072c7fe881ac4b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45331522243b8" /><Relationship Type="http://schemas.openxmlformats.org/officeDocument/2006/relationships/notesSlide" Target="/ppt/notesSlides/notesSlide5.xml" Id="R1fd5cd9d5f8448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db5523e6b4efd" /><Relationship Type="http://schemas.openxmlformats.org/officeDocument/2006/relationships/notesSlide" Target="/ppt/notesSlides/notesSlide6.xml" Id="R2cd7252697ee46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a42a52a894a4a" /><Relationship Type="http://schemas.openxmlformats.org/officeDocument/2006/relationships/notesSlide" Target="/ppt/notesSlides/notesSlide7.xml" Id="R6e206b44f91d46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978aae97d4506" /><Relationship Type="http://schemas.openxmlformats.org/officeDocument/2006/relationships/notesSlide" Target="/ppt/notesSlides/notesSlide8.xml" Id="R5c6c90d0afb94c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1b1f29230406c" /><Relationship Type="http://schemas.openxmlformats.org/officeDocument/2006/relationships/notesSlide" Target="/ppt/notesSlides/notesSlide9.xml" Id="Ra96d2d25b6284e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a08e949a64f32" /><Relationship Type="http://schemas.openxmlformats.org/officeDocument/2006/relationships/notesSlide" Target="/ppt/notesSlides/notesSlide10.xml" Id="Rf6e9b4d0315e4b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deb1cad534fe9" /><Relationship Type="http://schemas.openxmlformats.org/officeDocument/2006/relationships/notesSlide" Target="/ppt/notesSlides/notesSlide11.xml" Id="Re6fe2f4e49bd4a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6bf679dbe4f22" /><Relationship Type="http://schemas.openxmlformats.org/officeDocument/2006/relationships/notesSlide" Target="/ppt/notesSlides/notesSlide12.xml" Id="Rdfb1431819f146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2f3ded369407a" /><Relationship Type="http://schemas.openxmlformats.org/officeDocument/2006/relationships/notesSlide" Target="/ppt/notesSlides/notesSlide13.xml" Id="R503c6be6f4744c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bad5222b845bb" /><Relationship Type="http://schemas.openxmlformats.org/officeDocument/2006/relationships/notesSlide" Target="/ppt/notesSlides/notesSlide14.xml" Id="Rec953597afaa43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356E0184-42F5-455D-9DB3-30E2B81C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6B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D410F728-025E-4087-A0BC-81EBEB7C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3"/>
            <a:ext cx="195277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71CED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1CED0"/>
                </a:solidFill>
                <a:latin typeface="Arial"/>
                <a:ea typeface="Arial"/>
                <a:cs typeface="Arial"/>
              </a:rPr>
              <a:t>OOPSLA 2026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4DFEB598-3E2B-4728-A5DE-BA90B68D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3448"/>
            <a:ext cx="2970788" cy="1078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 i="0">
                <a:solidFill>
                  <a:srgbClr val="84D4D1"/>
                </a:solidFill>
                <a:latin typeface="Arial"/>
                <a:ea typeface="Arial"/>
                <a:cs typeface="Arial"/>
              </a:defRPr>
            </a:pPr>
            <a:r>
              <a:rPr sz="6450" b="1" i="0">
                <a:solidFill>
                  <a:srgbClr val="84D4D1"/>
                </a:solidFill>
                <a:latin typeface="Arial"/>
                <a:ea typeface="Arial"/>
                <a:cs typeface="Arial"/>
              </a:rPr>
              <a:t>QSymb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C1D651E2-2FC5-43B5-B347-4008CADC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5481191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F8F6EF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F8F6EF"/>
                </a:solidFill>
                <a:latin typeface="Arial"/>
                <a:ea typeface="Arial"/>
                <a:cs typeface="Arial"/>
              </a:rPr>
              <a:t>Synthesis of Compact and Expressive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898CE3AC-CB61-40C9-8B8C-2E808DCE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444564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F8F6EF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F8F6EF"/>
                </a:solidFill>
                <a:latin typeface="Arial"/>
                <a:ea typeface="Arial"/>
                <a:cs typeface="Arial"/>
              </a:rPr>
              <a:t>Quantum-Circuit Optimizations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866FFD68-4D4D-41FA-A3C4-080CEA5B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18363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8F6E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8F6EF"/>
                </a:solidFill>
                <a:latin typeface="Arial"/>
                <a:ea typeface="Arial"/>
                <a:cs typeface="Arial"/>
              </a:rPr>
              <a:t>Wei Qiang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36655A32-702B-4E62-8BC3-DD0F0119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755" y="3472547"/>
            <a:ext cx="161032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4D4D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4D4D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8EEAA7C8-6CA7-44DC-9B85-EAFFF047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587" y="3467100"/>
            <a:ext cx="1638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8F6E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8F6EF"/>
                </a:solidFill>
                <a:latin typeface="Arial"/>
                <a:ea typeface="Arial"/>
                <a:cs typeface="Arial"/>
              </a:rPr>
              <a:t> &amp; Ronghui Gu</a:t>
            </a:r>
          </a:p>
        </p:txBody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9B84F88A-E96C-4BE6-B242-E6592FB4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262" y="3472547"/>
            <a:ext cx="28813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4D4D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4D4D1"/>
                </a:solidFill>
                <a:latin typeface="Arial"/>
                <a:ea typeface="Arial"/>
                <a:cs typeface="Arial"/>
              </a:rPr>
              <a:t>1,2</a:t>
            </a:r>
          </a:p>
        </p:txBody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84F6201E-D3C5-48F2-A8A6-19B7B3B5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6264"/>
            <a:ext cx="161032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4D4D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4D4D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737e53bf0403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18282" y="4171504"/>
            <a:ext cx="2819400" cy="419844"/>
          </a:xfrm>
          <a:prstGeom xmlns:a="http://schemas.openxmlformats.org/drawingml/2006/main" prst="rect">
            <a:avLst/>
          </a:prstGeom>
        </p:spPr>
      </p:pic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0306FBCC-47EC-4E55-943C-D91B315E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332" y="4175760"/>
            <a:ext cx="161032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4D4D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4D4D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04c6ddb5b4fe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646414" y="4228505"/>
            <a:ext cx="1524000" cy="305842"/>
          </a:xfrm>
          <a:prstGeom xmlns:a="http://schemas.openxmlformats.org/drawingml/2006/main" prst="rect">
            <a:avLst/>
          </a:prstGeom>
        </p:spPr>
      </p:pic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16AC5BEF-874E-4788-A7B7-AC3D96FE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95"/>
          </a:xfrm>
          <a:custGeom xmlns:a="http://schemas.openxmlformats.org/drawingml/2006/main">
            <a:pathLst>
              <a:path w="10858500" h="9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66269"/>
            </a:solidFill>
            <a:prstDash val="solid"/>
          </a:ln>
        </p:spPr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587E9BA7-8DB0-48D4-B070-B5C764DD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6005"/>
            <a:ext cx="304933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7C9C9"/>
                </a:solidFill>
                <a:latin typeface="Arial"/>
                <a:ea typeface="Arial"/>
                <a:cs typeface="Arial"/>
              </a:rPr>
              <a:t>Compact rules. Long-distance rewrites.</a:t>
            </a:r>
          </a:p>
        </p:txBody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D25E2D8B-037C-4A55-9E48-EFB432DE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657" y="6136005"/>
            <a:ext cx="1867793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7C9C9"/>
                </a:solidFill>
                <a:latin typeface="Arial"/>
                <a:ea typeface="Arial"/>
                <a:cs typeface="Arial"/>
              </a:rPr>
              <a:t>15-minute research talk</a:t>
            </a:r>
          </a:p>
        </p:txBody>
      </p:sp>
    </p:spTree>
    <p:extLst>
      <p:ext uri="{BB962C8B-B14F-4D97-AF65-F5344CB8AC3E}">
        <p14:creationId xmlns:p14="http://schemas.microsoft.com/office/powerpoint/2010/main" val="6361796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3B5488-2FEB-4F52-8BF5-87205CE3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CB3F0EAC-CB6B-4DB5-8A88-1B0A383C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5194429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Quantum-circuit optimization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4A0A7A95-A810-4F56-B269-C008D21E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0544"/>
            <a:ext cx="836676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Given a quantum circuit, find a cheaper circuit with the same behavior.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EE2FD50F-514E-4D42-A7D3-1406F6D0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2029"/>
            <a:ext cx="7611219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Preserve its unitary transformation (up to global phase). Reduce gate cost.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EA01F008-C4EB-4B70-9E43-A97B967D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4494"/>
            <a:ext cx="133350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INPUT CIRCUIT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F5752E10-88B4-44BC-A756-ACDEA392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4494"/>
            <a:ext cx="175260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OPTIMIZED CIRCUIT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58058ECF-55A9-458C-A972-8009A312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8864"/>
            <a:ext cx="4211955" cy="95"/>
          </a:xfrm>
          <a:custGeom xmlns:a="http://schemas.openxmlformats.org/drawingml/2006/main">
            <a:pathLst>
              <a:path w="4211955" h="95">
                <a:moveTo>
                  <a:pt x="0" y="0"/>
                </a:moveTo>
                <a:lnTo>
                  <a:pt x="42119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8C78CD3B-5A0E-4377-95B4-9B7D5D26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009"/>
            <a:ext cx="4211955" cy="95"/>
          </a:xfrm>
          <a:custGeom xmlns:a="http://schemas.openxmlformats.org/drawingml/2006/main">
            <a:pathLst>
              <a:path w="4211955" h="95">
                <a:moveTo>
                  <a:pt x="0" y="0"/>
                </a:moveTo>
                <a:lnTo>
                  <a:pt x="42119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3ACFEBB2-425B-4AB8-B5F0-990D4F6A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2901702"/>
            <a:ext cx="356235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20955">
            <a:solidFill>
              <a:srgbClr val="123039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0855CEC8-6DFE-41BB-80B9-8A1052F5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59" y="2941993"/>
            <a:ext cx="204936" cy="235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3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03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06C30F24-5BB6-45D6-8EAB-5B831A1F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23" y="3058864"/>
            <a:ext cx="95" cy="398145"/>
          </a:xfrm>
          <a:custGeom xmlns:a="http://schemas.openxmlformats.org/drawingml/2006/main">
            <a:pathLst>
              <a:path w="95" h="398145">
                <a:moveTo>
                  <a:pt x="0" y="0"/>
                </a:moveTo>
                <a:lnTo>
                  <a:pt x="0" y="398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6194">
            <a:solidFill>
              <a:srgbClr val="D66A3E"/>
            </a:solidFill>
            <a:prstDash val="solid"/>
          </a:ln>
        </p:spPr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549303DA-B624-4451-94D5-580AF07E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874" y="3011716"/>
            <a:ext cx="94297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478">
            <a:noFill/>
            <a:prstDash val="solid"/>
          </a:ln>
        </p:spPr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63A40216-7BA7-46E6-A845-B3234D7A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009" y="3346996"/>
            <a:ext cx="22002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6194">
            <a:solidFill>
              <a:srgbClr val="D66A3E"/>
            </a:solidFill>
            <a:prstDash val="solid"/>
          </a:ln>
        </p:spPr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50668EB8-30C8-495A-82A5-C50BF20B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383667"/>
            <a:ext cx="146685" cy="146685"/>
          </a:xfrm>
          <a:custGeom xmlns:a="http://schemas.openxmlformats.org/drawingml/2006/main">
            <a:pathLst>
              <a:path w="146685" h="146685">
                <a:moveTo>
                  <a:pt x="0" y="73343"/>
                </a:moveTo>
                <a:lnTo>
                  <a:pt x="146685" y="73343"/>
                </a:lnTo>
              </a:path>
              <a:path w="146685" h="146685">
                <a:moveTo>
                  <a:pt x="73343" y="0"/>
                </a:moveTo>
                <a:lnTo>
                  <a:pt x="73343" y="1466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6194">
            <a:solidFill>
              <a:srgbClr val="D66A3E"/>
            </a:solidFill>
            <a:prstDash val="solid"/>
          </a:ln>
        </p:spPr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E942BB07-0228-4BF5-89F6-A4852E3D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718" y="3058864"/>
            <a:ext cx="95" cy="398145"/>
          </a:xfrm>
          <a:custGeom xmlns:a="http://schemas.openxmlformats.org/drawingml/2006/main">
            <a:pathLst>
              <a:path w="95" h="398145">
                <a:moveTo>
                  <a:pt x="0" y="0"/>
                </a:moveTo>
                <a:lnTo>
                  <a:pt x="0" y="398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6194">
            <a:solidFill>
              <a:srgbClr val="D66A3E"/>
            </a:solidFill>
            <a:prstDash val="solid"/>
          </a:ln>
        </p:spPr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D04FBF13-4BA4-47C3-A39B-9BC0594B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569" y="3011716"/>
            <a:ext cx="94298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478">
            <a:noFill/>
            <a:prstDash val="solid"/>
          </a:ln>
        </p:spPr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648BFBF6-2FD0-484E-A7BC-DBE42F02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704" y="3346996"/>
            <a:ext cx="220027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6194">
            <a:solidFill>
              <a:srgbClr val="D66A3E"/>
            </a:solidFill>
            <a:prstDash val="solid"/>
          </a:ln>
        </p:spPr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7C1A5D8F-BE2C-45B4-9084-7B5076CE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83667"/>
            <a:ext cx="146685" cy="146685"/>
          </a:xfrm>
          <a:custGeom xmlns:a="http://schemas.openxmlformats.org/drawingml/2006/main">
            <a:pathLst>
              <a:path w="146685" h="146685">
                <a:moveTo>
                  <a:pt x="0" y="73343"/>
                </a:moveTo>
                <a:lnTo>
                  <a:pt x="146685" y="73343"/>
                </a:lnTo>
              </a:path>
              <a:path w="146685" h="146685">
                <a:moveTo>
                  <a:pt x="73343" y="0"/>
                </a:moveTo>
                <a:lnTo>
                  <a:pt x="73343" y="1466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6194">
            <a:solidFill>
              <a:srgbClr val="D66A3E"/>
            </a:solidFill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4541BC28-7696-4BD9-8E9C-02139CAF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385" y="2901702"/>
            <a:ext cx="75438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20955">
            <a:solidFill>
              <a:srgbClr val="123039"/>
            </a:solidFill>
            <a:prstDash val="solid"/>
          </a:ln>
        </p:spPr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5A2F0D18-C4BF-4B0E-8723-1F76EFC5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839" y="2941993"/>
            <a:ext cx="511671" cy="235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3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03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Rz(θ)</a:t>
            </a:r>
          </a:p>
        </p:txBody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1ACF815B-DC40-40D4-AE25-70A5ECA9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15" y="3299847"/>
            <a:ext cx="356235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20955">
            <a:solidFill>
              <a:srgbClr val="123039"/>
            </a:solidFill>
            <a:prstDash val="solid"/>
          </a:ln>
        </p:spPr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96498257-589D-4550-8282-451E9DD1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976" y="3340138"/>
            <a:ext cx="195114" cy="235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3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03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6B7D1B0F-F749-4CBB-B787-349E7686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3299847"/>
            <a:ext cx="356235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20955">
            <a:solidFill>
              <a:srgbClr val="123039"/>
            </a:solidFill>
            <a:prstDash val="solid"/>
          </a:ln>
        </p:spPr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0431BC7F-2EE0-4C75-B0F0-D8D684A8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671" y="3340138"/>
            <a:ext cx="195114" cy="235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3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03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9FFFEDEA-6A25-4E16-B32E-0D127362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58889"/>
            <a:ext cx="2047875" cy="95"/>
          </a:xfrm>
          <a:custGeom xmlns:a="http://schemas.openxmlformats.org/drawingml/2006/main">
            <a:pathLst>
              <a:path w="2047875" h="95">
                <a:moveTo>
                  <a:pt x="0" y="0"/>
                </a:moveTo>
                <a:lnTo>
                  <a:pt x="2047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6" name="object-23-s0-ux-arrow">
            <a:extLst xmlns:a="http://schemas.openxmlformats.org/drawingml/2006/main">
              <a:ext uri="{FF2B5EF4-FFF2-40B4-BE49-F238E27FC236}">
                <a16:creationId xmlns:a16="http://schemas.microsoft.com/office/drawing/2014/main" id="{92771205-D9A1-4C18-9793-CE2E9DC8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1739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7" name="object-24-s0-ux">
            <a:extLst xmlns:a="http://schemas.openxmlformats.org/drawingml/2006/main">
              <a:ext uri="{FF2B5EF4-FFF2-40B4-BE49-F238E27FC236}">
                <a16:creationId xmlns:a16="http://schemas.microsoft.com/office/drawing/2014/main" id="{85BF4801-8E8A-487F-B998-E6A160A6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10" y="2802642"/>
            <a:ext cx="1494681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equivalent rewrite</a:t>
            </a:r>
          </a:p>
        </p:txBody>
      </p:sp>
      <p:sp>
        <p:nvSpPr>
          <p:cNvPr id="28" name="object-25-s0-ux">
            <a:extLst xmlns:a="http://schemas.openxmlformats.org/drawingml/2006/main">
              <a:ext uri="{FF2B5EF4-FFF2-40B4-BE49-F238E27FC236}">
                <a16:creationId xmlns:a16="http://schemas.microsoft.com/office/drawing/2014/main" id="{F0AADF53-C836-4A41-AA3A-17806CAD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58864"/>
            <a:ext cx="1781175" cy="95"/>
          </a:xfrm>
          <a:custGeom xmlns:a="http://schemas.openxmlformats.org/drawingml/2006/main">
            <a:pathLst>
              <a:path w="1781175" h="95">
                <a:moveTo>
                  <a:pt x="0" y="0"/>
                </a:moveTo>
                <a:lnTo>
                  <a:pt x="1781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29" name="object-26-s0-ux">
            <a:extLst xmlns:a="http://schemas.openxmlformats.org/drawingml/2006/main">
              <a:ext uri="{FF2B5EF4-FFF2-40B4-BE49-F238E27FC236}">
                <a16:creationId xmlns:a16="http://schemas.microsoft.com/office/drawing/2014/main" id="{2822A1FF-77AF-4D5C-9DDB-70C04124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57009"/>
            <a:ext cx="1781175" cy="95"/>
          </a:xfrm>
          <a:custGeom xmlns:a="http://schemas.openxmlformats.org/drawingml/2006/main">
            <a:pathLst>
              <a:path w="1781175" h="95">
                <a:moveTo>
                  <a:pt x="0" y="0"/>
                </a:moveTo>
                <a:lnTo>
                  <a:pt x="1781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30" name="object-27-s0-ux">
            <a:extLst xmlns:a="http://schemas.openxmlformats.org/drawingml/2006/main">
              <a:ext uri="{FF2B5EF4-FFF2-40B4-BE49-F238E27FC236}">
                <a16:creationId xmlns:a16="http://schemas.microsoft.com/office/drawing/2014/main" id="{E79A531D-F361-42B3-BA23-B213AC8E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635" y="2901702"/>
            <a:ext cx="356235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20955">
            <a:solidFill>
              <a:srgbClr val="123039"/>
            </a:solidFill>
            <a:prstDash val="solid"/>
          </a:ln>
        </p:spPr>
      </p:sp>
      <p:sp>
        <p:nvSpPr>
          <p:cNvPr id="31" name="object-28-s0-ux">
            <a:extLst xmlns:a="http://schemas.openxmlformats.org/drawingml/2006/main">
              <a:ext uri="{FF2B5EF4-FFF2-40B4-BE49-F238E27FC236}">
                <a16:creationId xmlns:a16="http://schemas.microsoft.com/office/drawing/2014/main" id="{BD9E2F6D-B9E5-4F1A-977D-686DAF0D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384" y="2941993"/>
            <a:ext cx="204936" cy="235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3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03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2" name="object-29-s0-ux">
            <a:extLst xmlns:a="http://schemas.openxmlformats.org/drawingml/2006/main">
              <a:ext uri="{FF2B5EF4-FFF2-40B4-BE49-F238E27FC236}">
                <a16:creationId xmlns:a16="http://schemas.microsoft.com/office/drawing/2014/main" id="{56303D31-ACDF-4915-909D-3A4811E0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20" y="2901702"/>
            <a:ext cx="75438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20955">
            <a:solidFill>
              <a:srgbClr val="123039"/>
            </a:solidFill>
            <a:prstDash val="solid"/>
          </a:ln>
        </p:spPr>
      </p:sp>
      <p:sp>
        <p:nvSpPr>
          <p:cNvPr id="33" name="object-30-s0-ux">
            <a:extLst xmlns:a="http://schemas.openxmlformats.org/drawingml/2006/main">
              <a:ext uri="{FF2B5EF4-FFF2-40B4-BE49-F238E27FC236}">
                <a16:creationId xmlns:a16="http://schemas.microsoft.com/office/drawing/2014/main" id="{3DC0DC5C-407B-4031-B22B-05E93941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875" y="2941993"/>
            <a:ext cx="511671" cy="235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3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03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Rz(θ)</a:t>
            </a:r>
          </a:p>
        </p:txBody>
      </p:sp>
      <p:sp>
        <p:nvSpPr>
          <p:cNvPr id="34" name="object-31-s0-ux">
            <a:extLst xmlns:a="http://schemas.openxmlformats.org/drawingml/2006/main">
              <a:ext uri="{FF2B5EF4-FFF2-40B4-BE49-F238E27FC236}">
                <a16:creationId xmlns:a16="http://schemas.microsoft.com/office/drawing/2014/main" id="{23DE5905-94FC-4A6D-8222-454DE6DB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651" y="3625602"/>
            <a:ext cx="857399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6 gates</a:t>
            </a:r>
          </a:p>
        </p:txBody>
      </p:sp>
      <p:sp>
        <p:nvSpPr>
          <p:cNvPr id="35" name="object-32-s0-ux">
            <a:extLst xmlns:a="http://schemas.openxmlformats.org/drawingml/2006/main">
              <a:ext uri="{FF2B5EF4-FFF2-40B4-BE49-F238E27FC236}">
                <a16:creationId xmlns:a16="http://schemas.microsoft.com/office/drawing/2014/main" id="{93E2BB74-0AA3-464B-B55A-333E4A4B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131" y="3625602"/>
            <a:ext cx="896987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2 gates</a:t>
            </a:r>
          </a:p>
        </p:txBody>
      </p:sp>
      <p:sp>
        <p:nvSpPr>
          <p:cNvPr id="36" name="object-33-s0-ux">
            <a:extLst xmlns:a="http://schemas.openxmlformats.org/drawingml/2006/main">
              <a:ext uri="{FF2B5EF4-FFF2-40B4-BE49-F238E27FC236}">
                <a16:creationId xmlns:a16="http://schemas.microsoft.com/office/drawing/2014/main" id="{F4BD393B-F390-4DD8-9B2F-496C5F70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4239"/>
            <a:ext cx="10782300" cy="95"/>
          </a:xfrm>
          <a:custGeom xmlns:a="http://schemas.openxmlformats.org/drawingml/2006/main">
            <a:pathLst>
              <a:path w="10782300" h="9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37" name="object-34-s0-ux">
            <a:extLst xmlns:a="http://schemas.openxmlformats.org/drawingml/2006/main">
              <a:ext uri="{FF2B5EF4-FFF2-40B4-BE49-F238E27FC236}">
                <a16:creationId xmlns:a16="http://schemas.microsoft.com/office/drawing/2014/main" id="{0BF5A8BD-1219-48C8-A59C-06BC746E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0922"/>
            <a:ext cx="243518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Why reduce gates?</a:t>
            </a:r>
          </a:p>
        </p:txBody>
      </p:sp>
      <p:sp>
        <p:nvSpPr>
          <p:cNvPr id="38" name="object-35-s0-ux">
            <a:extLst xmlns:a="http://schemas.openxmlformats.org/drawingml/2006/main">
              <a:ext uri="{FF2B5EF4-FFF2-40B4-BE49-F238E27FC236}">
                <a16:creationId xmlns:a16="http://schemas.microsoft.com/office/drawing/2014/main" id="{023B18E0-4778-4E4C-BE06-F474DB2D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2877"/>
            <a:ext cx="354449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Each operation introduces noise.</a:t>
            </a:r>
          </a:p>
        </p:txBody>
      </p:sp>
      <p:sp>
        <p:nvSpPr>
          <p:cNvPr id="39" name="object-36-s0-ux">
            <a:extLst xmlns:a="http://schemas.openxmlformats.org/drawingml/2006/main">
              <a:ext uri="{FF2B5EF4-FFF2-40B4-BE49-F238E27FC236}">
                <a16:creationId xmlns:a16="http://schemas.microsoft.com/office/drawing/2014/main" id="{E6FA93DC-95ED-4B87-A6F5-02354BBF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3877"/>
            <a:ext cx="436423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Short coherence times limit circuit depth.</a:t>
            </a:r>
          </a:p>
        </p:txBody>
      </p:sp>
      <p:sp>
        <p:nvSpPr>
          <p:cNvPr id="40" name="object-37-s0-ux">
            <a:extLst xmlns:a="http://schemas.openxmlformats.org/drawingml/2006/main">
              <a:ext uri="{FF2B5EF4-FFF2-40B4-BE49-F238E27FC236}">
                <a16:creationId xmlns:a16="http://schemas.microsoft.com/office/drawing/2014/main" id="{D831D636-97BA-4406-853A-E90CF520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280922"/>
            <a:ext cx="1106150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41" name="object-38-s0-ux">
            <a:extLst xmlns:a="http://schemas.openxmlformats.org/drawingml/2006/main">
              <a:ext uri="{FF2B5EF4-FFF2-40B4-BE49-F238E27FC236}">
                <a16:creationId xmlns:a16="http://schemas.microsoft.com/office/drawing/2014/main" id="{8F039EF7-9577-49E9-AA2A-A4BB92A5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682877"/>
            <a:ext cx="3491359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Reduce exposure to gate errors.</a:t>
            </a:r>
          </a:p>
        </p:txBody>
      </p:sp>
      <p:sp>
        <p:nvSpPr>
          <p:cNvPr id="42" name="object-39-s0-ux">
            <a:extLst xmlns:a="http://schemas.openxmlformats.org/drawingml/2006/main">
              <a:ext uri="{FF2B5EF4-FFF2-40B4-BE49-F238E27FC236}">
                <a16:creationId xmlns:a16="http://schemas.microsoft.com/office/drawing/2014/main" id="{7BCCE623-C8D2-4B59-BBA3-C863A621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63877"/>
            <a:ext cx="325278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Make execution more reliable.</a:t>
            </a:r>
          </a:p>
        </p:txBody>
      </p:sp>
      <p:sp>
        <p:nvSpPr>
          <p:cNvPr id="43" name="object-40-s0-ux">
            <a:extLst xmlns:a="http://schemas.openxmlformats.org/drawingml/2006/main">
              <a:ext uri="{FF2B5EF4-FFF2-40B4-BE49-F238E27FC236}">
                <a16:creationId xmlns:a16="http://schemas.microsoft.com/office/drawing/2014/main" id="{10E06258-DBE0-4F58-BEEC-7CBE1AD4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36089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QSymb focuses on reducing two-qubit gates through equivalent circuit rewrites. Circuit time runs left to right.</a:t>
            </a:r>
          </a:p>
        </p:txBody>
      </p:sp>
      <p:sp>
        <p:nvSpPr>
          <p:cNvPr id="44" name="object-41-s0-ux">
            <a:extLst xmlns:a="http://schemas.openxmlformats.org/drawingml/2006/main">
              <a:ext uri="{FF2B5EF4-FFF2-40B4-BE49-F238E27FC236}">
                <a16:creationId xmlns:a16="http://schemas.microsoft.com/office/drawing/2014/main" id="{3DC1FB01-A4F1-4F04-B8E2-E61A6E5C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8545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§1 Introduction; §2 quantum-circuit semantics</a:t>
            </a:r>
          </a:p>
        </p:txBody>
      </p:sp>
      <p:sp>
        <p:nvSpPr>
          <p:cNvPr id="45" name="object-42-s0-ux">
            <a:extLst xmlns:a="http://schemas.openxmlformats.org/drawingml/2006/main">
              <a:ext uri="{FF2B5EF4-FFF2-40B4-BE49-F238E27FC236}">
                <a16:creationId xmlns:a16="http://schemas.microsoft.com/office/drawing/2014/main" id="{6978806D-2315-433F-A425-76D5CF75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</p:spTree>
    <p:extLst>
      <p:ext uri="{BB962C8B-B14F-4D97-AF65-F5344CB8AC3E}">
        <p14:creationId xmlns:p14="http://schemas.microsoft.com/office/powerpoint/2010/main" val="148187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DE244810-1596-4560-819A-BF6B25FA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3D428849-A39B-40F7-8888-683203AD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"/>
            <a:ext cx="4987588" cy="527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Challenge 1: rule explosion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7B898AE9-0318-4F52-BF56-A53E8A11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3778"/>
            <a:ext cx="8114645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Thousands of concrete rules—many consequences of smaller rules.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66750" y="1893838"/>
          <a:ext xmlns:a="http://schemas.openxmlformats.org/drawingml/2006/main" cx="10858500" cy="30384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20045"/>
                <a:gridCol w="3234482"/>
                <a:gridCol w="4403973"/>
              </a:tblGrid>
              <a:tr h="43815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350" b="0">
                          <a:solidFill>
                            <a:srgbClr val="5E7275"/>
                          </a:solidFill>
                          <a:latin typeface="Arial"/>
                          <a:ea typeface="Arial"/>
                          <a:cs typeface="Arial"/>
                        </a:rPr>
                        <a:t>Gate set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350" b="0">
                          <a:solidFill>
                            <a:srgbClr val="5E7275"/>
                          </a:solidFill>
                          <a:latin typeface="Arial"/>
                          <a:ea typeface="Arial"/>
                          <a:cs typeface="Arial"/>
                        </a:rPr>
                        <a:t>Prior rule count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350" b="0">
                          <a:solidFill>
                            <a:srgbClr val="5E7275"/>
                          </a:solidFill>
                          <a:latin typeface="Arial"/>
                          <a:ea typeface="Arial"/>
                          <a:cs typeface="Arial"/>
                        </a:rPr>
                        <a:t>Prior systems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652463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IBM-Eagle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1">
                          <a:solidFill>
                            <a:srgbClr val="087E86"/>
                          </a:solidFill>
                          <a:latin typeface="Arial"/>
                          <a:ea typeface="Arial"/>
                          <a:cs typeface="Arial"/>
                        </a:rPr>
                        <a:t>4,615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Queso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64770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Nam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1">
                          <a:solidFill>
                            <a:srgbClr val="087E86"/>
                          </a:solidFill>
                          <a:latin typeface="Arial"/>
                          <a:ea typeface="Arial"/>
                          <a:cs typeface="Arial"/>
                        </a:rPr>
                        <a:t>8,816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Quartz / Queso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64770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Rigetti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1">
                          <a:solidFill>
                            <a:srgbClr val="087E86"/>
                          </a:solidFill>
                          <a:latin typeface="Arial"/>
                          <a:ea typeface="Arial"/>
                          <a:cs typeface="Arial"/>
                        </a:rPr>
                        <a:t>8,773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Quartz / Queso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64770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Ion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1">
                          <a:solidFill>
                            <a:srgbClr val="087E86"/>
                          </a:solidFill>
                          <a:latin typeface="Arial"/>
                          <a:ea typeface="Arial"/>
                          <a:cs typeface="Arial"/>
                        </a:rPr>
                        <a:t>11,777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Queso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</a:tbl>
          </a:graphicData>
        </a:graphic>
      </p:graphicFrame>
      <p:sp>
        <p:nvSpPr>
          <p:cNvPr id="5" name="object-2-s0-ux-border-244.828125">
            <a:extLst xmlns:a="http://schemas.openxmlformats.org/drawingml/2006/main">
              <a:ext uri="{FF2B5EF4-FFF2-40B4-BE49-F238E27FC236}">
                <a16:creationId xmlns:a16="http://schemas.microsoft.com/office/drawing/2014/main" id="{B1421BAE-611F-40E2-ADB4-B1C8A9C7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1988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6" name="object-2-s0-ux-border-313.328125">
            <a:extLst xmlns:a="http://schemas.openxmlformats.org/drawingml/2006/main">
              <a:ext uri="{FF2B5EF4-FFF2-40B4-BE49-F238E27FC236}">
                <a16:creationId xmlns:a16="http://schemas.microsoft.com/office/drawing/2014/main" id="{CC56DC23-9208-4998-8050-F8746667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4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7" name="object-2-s0-ux-border-381.328125">
            <a:extLst xmlns:a="http://schemas.openxmlformats.org/drawingml/2006/main">
              <a:ext uri="{FF2B5EF4-FFF2-40B4-BE49-F238E27FC236}">
                <a16:creationId xmlns:a16="http://schemas.microsoft.com/office/drawing/2014/main" id="{ABE3D36B-7906-4558-A5C1-15A109CA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2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8" name="object-2-s0-ux-border-449.328125">
            <a:extLst xmlns:a="http://schemas.openxmlformats.org/drawingml/2006/main">
              <a:ext uri="{FF2B5EF4-FFF2-40B4-BE49-F238E27FC236}">
                <a16:creationId xmlns:a16="http://schemas.microsoft.com/office/drawing/2014/main" id="{25A55398-B92D-41A3-B62A-7EF7F936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9" name="object-2-s0-ux-border-517.328125">
            <a:extLst xmlns:a="http://schemas.openxmlformats.org/drawingml/2006/main">
              <a:ext uri="{FF2B5EF4-FFF2-40B4-BE49-F238E27FC236}">
                <a16:creationId xmlns:a16="http://schemas.microsoft.com/office/drawing/2014/main" id="{A00B6EAD-4D59-4497-97E2-5B84D305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7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10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327FC804-3A37-4693-8F7C-3E947435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5349"/>
            <a:ext cx="10858500" cy="95"/>
          </a:xfrm>
          <a:custGeom xmlns:a="http://schemas.openxmlformats.org/drawingml/2006/main">
            <a:pathLst>
              <a:path w="10858500" h="9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9CBC7"/>
            </a:solidFill>
            <a:prstDash val="solid"/>
          </a:ln>
        </p:spPr>
      </p:sp>
      <p:sp>
        <p:nvSpPr>
          <p:cNvPr id="11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29E8ABEA-2E0C-49D2-816B-6CE1E8B1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992"/>
            <a:ext cx="7285434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Challenge: keep full coverage with a compact basis of non-derivable rules.</a:t>
            </a:r>
          </a:p>
        </p:txBody>
      </p:sp>
      <p:sp>
        <p:nvSpPr>
          <p:cNvPr id="12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147B2ADA-85B3-466B-8175-5BBCE7A0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8295977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Concrete rule-set counts reported in QSymb, Table 1, by gate set. Quartz / Queso is the table’s joint attribution, not a sum.</a:t>
            </a:r>
          </a:p>
        </p:txBody>
      </p:sp>
      <p:sp>
        <p:nvSpPr>
          <p:cNvPr id="13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2315DD4F-9626-4D9B-A7AB-4BA9FF6E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39119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§7.1, Table 1: prior concrete rule sets</a:t>
            </a:r>
          </a:p>
        </p:txBody>
      </p:sp>
      <p:sp>
        <p:nvSpPr>
          <p:cNvPr id="14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BC41AA2A-A40D-4047-8E4F-135C630F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6018737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top-accent">
            <a:extLst xmlns:a="http://schemas.openxmlformats.org/drawingml/2006/main">
              <a:ext uri="{FF2B5EF4-FFF2-40B4-BE49-F238E27FC236}">
                <a16:creationId xmlns:a16="http://schemas.microsoft.com/office/drawing/2014/main" id="{9A61CDAB-17C3-47A8-8353-B64EB221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41532157-326E-4BE7-8EA3-30CA9F51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"/>
            <a:ext cx="9060567" cy="527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Challenge 2: limited reach across long subcircuits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F87DC391-E848-4B56-9019-B248D796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4258"/>
            <a:ext cx="360432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INPUT: CZ AND CX SEPARATED BY A 12-GATE S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8C53F8DA-F7AC-4254-88E3-3DE56636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581448"/>
            <a:ext cx="7105650" cy="125730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44F7692A-D66C-4906-A590-B749D5DD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48" y="1638598"/>
            <a:ext cx="4349204" cy="27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S: H first, then 6 Rz gates on q₀ + 5 SX gates on q₁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38A01D8A-C1E4-44C3-9FFD-99C77F34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1500"/>
            <a:ext cx="227261" cy="26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q₀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DA599E61-5A86-491C-9F93-C9D0163B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8700"/>
            <a:ext cx="227261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q₁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C998CA43-626B-4599-BB4D-6AB710BC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24373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01D3A9E0-0F55-45D3-B713-344DD448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81573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CE529E9A-336E-48BB-9CD7-755E084B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38698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88EF45FF-C970-467D-AAEB-E6FA4479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2469178"/>
            <a:ext cx="20002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5B47E3A5-2EA8-4101-9737-C6E0995D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97230ACF-335A-4D82-A185-5F204ADD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40" y="20015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Rz(θ₁)</a:t>
            </a:r>
          </a:p>
        </p:txBody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4F84CAF0-8896-43C9-96F7-9755B9F5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69AE7253-4A55-4E18-9FC2-A738CD3E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451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54EB8401-38B4-47D0-BE92-0F843CF3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85EC8B2A-5F56-4ABB-ACA4-FA78C47B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715" y="20015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Rz(θ₂)</a:t>
            </a:r>
          </a:p>
        </p:txBody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5D87F926-770C-40B9-B64F-96D4E1F2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80C650F9-3C59-41AD-A7F1-0B7E0851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26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2898ABBD-2916-4A7E-AF61-D1DA9398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69E855D0-29D5-4285-B93A-56248281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990" y="2001500"/>
            <a:ext cx="568970" cy="261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Rz(θ₃)</a:t>
            </a:r>
          </a:p>
        </p:txBody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EF4A13DC-7F7B-4F02-834F-6D4B3C3A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9369172D-7A0B-40EC-90CB-432B5000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01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70212039-8673-4B03-B722-F1F35D31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2656C637-2481-4FC9-B591-8B646A9F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65" y="20015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Rz(θ₄)</a:t>
            </a:r>
          </a:p>
        </p:txBody>
      </p:sp>
      <p:sp>
        <p:nvSpPr>
          <p:cNvPr id="26" name="object-24-s0-ux">
            <a:extLst xmlns:a="http://schemas.openxmlformats.org/drawingml/2006/main">
              <a:ext uri="{FF2B5EF4-FFF2-40B4-BE49-F238E27FC236}">
                <a16:creationId xmlns:a16="http://schemas.microsoft.com/office/drawing/2014/main" id="{FC948BE6-4DAB-4735-89C9-E3BACC64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7" name="object-25-s0-ux">
            <a:extLst xmlns:a="http://schemas.openxmlformats.org/drawingml/2006/main">
              <a:ext uri="{FF2B5EF4-FFF2-40B4-BE49-F238E27FC236}">
                <a16:creationId xmlns:a16="http://schemas.microsoft.com/office/drawing/2014/main" id="{94964E8C-99EC-4049-9BC2-3CCF3F74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276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8" name="object-26-s0-ux">
            <a:extLst xmlns:a="http://schemas.openxmlformats.org/drawingml/2006/main">
              <a:ext uri="{FF2B5EF4-FFF2-40B4-BE49-F238E27FC236}">
                <a16:creationId xmlns:a16="http://schemas.microsoft.com/office/drawing/2014/main" id="{F446BDBE-6FA4-49B9-842A-AE3FE3EB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9" name="object-27-s0-ux">
            <a:extLst xmlns:a="http://schemas.openxmlformats.org/drawingml/2006/main">
              <a:ext uri="{FF2B5EF4-FFF2-40B4-BE49-F238E27FC236}">
                <a16:creationId xmlns:a16="http://schemas.microsoft.com/office/drawing/2014/main" id="{125A9191-395C-4414-8E8D-07C5535F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40" y="2001500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Rz(θ₅)</a:t>
            </a:r>
          </a:p>
        </p:txBody>
      </p:sp>
      <p:sp>
        <p:nvSpPr>
          <p:cNvPr id="30" name="object-28-s0-ux">
            <a:extLst xmlns:a="http://schemas.openxmlformats.org/drawingml/2006/main">
              <a:ext uri="{FF2B5EF4-FFF2-40B4-BE49-F238E27FC236}">
                <a16:creationId xmlns:a16="http://schemas.microsoft.com/office/drawing/2014/main" id="{E437BB46-E9E3-4C14-B172-3B4DD9F6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1" name="object-29-s0-ux">
            <a:extLst xmlns:a="http://schemas.openxmlformats.org/drawingml/2006/main">
              <a:ext uri="{FF2B5EF4-FFF2-40B4-BE49-F238E27FC236}">
                <a16:creationId xmlns:a16="http://schemas.microsoft.com/office/drawing/2014/main" id="{BCE8D7CE-056D-4E62-B0BF-11DCE26D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51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32" name="object-30-s0-ux">
            <a:extLst xmlns:a="http://schemas.openxmlformats.org/drawingml/2006/main">
              <a:ext uri="{FF2B5EF4-FFF2-40B4-BE49-F238E27FC236}">
                <a16:creationId xmlns:a16="http://schemas.microsoft.com/office/drawing/2014/main" id="{ACA49F5C-694A-47B1-88F6-E9FC354B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3" name="object-31-s0-ux">
            <a:extLst xmlns:a="http://schemas.openxmlformats.org/drawingml/2006/main">
              <a:ext uri="{FF2B5EF4-FFF2-40B4-BE49-F238E27FC236}">
                <a16:creationId xmlns:a16="http://schemas.microsoft.com/office/drawing/2014/main" id="{4A3A86F2-1FB4-43FD-8556-9FDABEB3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815" y="2001500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Rz(θ₆)</a:t>
            </a:r>
          </a:p>
        </p:txBody>
      </p:sp>
      <p:sp>
        <p:nvSpPr>
          <p:cNvPr id="34" name="object-32-s0-ux">
            <a:extLst xmlns:a="http://schemas.openxmlformats.org/drawingml/2006/main">
              <a:ext uri="{FF2B5EF4-FFF2-40B4-BE49-F238E27FC236}">
                <a16:creationId xmlns:a16="http://schemas.microsoft.com/office/drawing/2014/main" id="{C731CEDC-AD42-4648-9071-91E1AABD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24373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5" name="object-33-s0-ux">
            <a:extLst xmlns:a="http://schemas.openxmlformats.org/drawingml/2006/main">
              <a:ext uri="{FF2B5EF4-FFF2-40B4-BE49-F238E27FC236}">
                <a16:creationId xmlns:a16="http://schemas.microsoft.com/office/drawing/2014/main" id="{E23B3699-DBCD-4202-B6CE-97C11979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0767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object-34-s0-ux">
            <a:extLst xmlns:a="http://schemas.openxmlformats.org/drawingml/2006/main">
              <a:ext uri="{FF2B5EF4-FFF2-40B4-BE49-F238E27FC236}">
                <a16:creationId xmlns:a16="http://schemas.microsoft.com/office/drawing/2014/main" id="{5F1E1042-E3F4-4B1E-8DDD-FD173412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339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object-35-s0-ux">
            <a:extLst xmlns:a="http://schemas.openxmlformats.org/drawingml/2006/main">
              <a:ext uri="{FF2B5EF4-FFF2-40B4-BE49-F238E27FC236}">
                <a16:creationId xmlns:a16="http://schemas.microsoft.com/office/drawing/2014/main" id="{0E1F295E-F159-437F-84EE-1752FAD4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24373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8" name="object-36-s0-ux">
            <a:extLst xmlns:a="http://schemas.openxmlformats.org/drawingml/2006/main">
              <a:ext uri="{FF2B5EF4-FFF2-40B4-BE49-F238E27FC236}">
                <a16:creationId xmlns:a16="http://schemas.microsoft.com/office/drawing/2014/main" id="{C5581654-0396-4F7C-83ED-9F394064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0767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object-37-s0-ux">
            <a:extLst xmlns:a="http://schemas.openxmlformats.org/drawingml/2006/main">
              <a:ext uri="{FF2B5EF4-FFF2-40B4-BE49-F238E27FC236}">
                <a16:creationId xmlns:a16="http://schemas.microsoft.com/office/drawing/2014/main" id="{C1173134-9EDA-40AD-AE6C-FD78D2E0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476798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0" name="object-38-s0-ux">
            <a:extLst xmlns:a="http://schemas.openxmlformats.org/drawingml/2006/main">
              <a:ext uri="{FF2B5EF4-FFF2-40B4-BE49-F238E27FC236}">
                <a16:creationId xmlns:a16="http://schemas.microsoft.com/office/drawing/2014/main" id="{A4FB3451-D14C-44FD-AE93-B5E599AD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514898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1" name="object-59-s1-ux">
            <a:extLst xmlns:a="http://schemas.openxmlformats.org/drawingml/2006/main">
              <a:ext uri="{FF2B5EF4-FFF2-40B4-BE49-F238E27FC236}">
                <a16:creationId xmlns:a16="http://schemas.microsoft.com/office/drawing/2014/main" id="{0899032A-B7F3-47E0-8A60-0CE3CE7C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67348"/>
            <a:ext cx="8343900" cy="95"/>
          </a:xfrm>
          <a:custGeom xmlns:a="http://schemas.openxmlformats.org/drawingml/2006/main">
            <a:pathLst>
              <a:path w="8343900" h="95">
                <a:moveTo>
                  <a:pt x="0" y="0"/>
                </a:moveTo>
                <a:lnTo>
                  <a:pt x="8343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2" name="object-59-s1-ux-arrow">
            <a:extLst xmlns:a="http://schemas.openxmlformats.org/drawingml/2006/main">
              <a:ext uri="{FF2B5EF4-FFF2-40B4-BE49-F238E27FC236}">
                <a16:creationId xmlns:a16="http://schemas.microsoft.com/office/drawing/2014/main" id="{FA2F6758-644C-48C8-A2A6-01C65045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010198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D66A3E"/>
          </a:solidFill>
          <a:ln xmlns:a="http://schemas.openxmlformats.org/drawingml/2006/main" w="0">
            <a:noFill/>
          </a:ln>
        </p:spPr>
      </p:sp>
      <p:sp>
        <p:nvSpPr>
          <p:cNvPr id="43" name="object-60-s1-ux">
            <a:extLst xmlns:a="http://schemas.openxmlformats.org/drawingml/2006/main">
              <a:ext uri="{FF2B5EF4-FFF2-40B4-BE49-F238E27FC236}">
                <a16:creationId xmlns:a16="http://schemas.microsoft.com/office/drawing/2014/main" id="{60D2D06C-E7F4-4C43-A279-FF65184E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728" y="3186410"/>
            <a:ext cx="480774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Move across the whole S when S CZ = CX S</a:t>
            </a:r>
          </a:p>
        </p:txBody>
      </p:sp>
      <p:sp>
        <p:nvSpPr>
          <p:cNvPr id="44" name="object-102-s2-ux">
            <a:extLst xmlns:a="http://schemas.openxmlformats.org/drawingml/2006/main">
              <a:ext uri="{FF2B5EF4-FFF2-40B4-BE49-F238E27FC236}">
                <a16:creationId xmlns:a16="http://schemas.microsoft.com/office/drawing/2014/main" id="{CC595F73-1417-4D3E-AA79-47E1D4FC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8858"/>
            <a:ext cx="2571304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CANCEL THE ADJACENT CX PAIR</a:t>
            </a:r>
          </a:p>
        </p:txBody>
      </p:sp>
      <p:sp>
        <p:nvSpPr>
          <p:cNvPr id="45" name="object-103-s2-ux">
            <a:extLst xmlns:a="http://schemas.openxmlformats.org/drawingml/2006/main">
              <a:ext uri="{FF2B5EF4-FFF2-40B4-BE49-F238E27FC236}">
                <a16:creationId xmlns:a16="http://schemas.microsoft.com/office/drawing/2014/main" id="{EEBB454C-C797-4C06-9905-7649BF1D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96048"/>
            <a:ext cx="7105650" cy="125730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46" name="object-104-s2-ux">
            <a:extLst xmlns:a="http://schemas.openxmlformats.org/drawingml/2006/main">
              <a:ext uri="{FF2B5EF4-FFF2-40B4-BE49-F238E27FC236}">
                <a16:creationId xmlns:a16="http://schemas.microsoft.com/office/drawing/2014/main" id="{4CB95669-5C04-44FE-98ED-72BB74ED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48" y="4153198"/>
            <a:ext cx="4349204" cy="27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S: H first, then 6 Rz gates on q₀ + 5 SX gates on q₁</a:t>
            </a:r>
          </a:p>
        </p:txBody>
      </p:sp>
      <p:sp>
        <p:nvSpPr>
          <p:cNvPr id="47" name="object-105-s2-ux">
            <a:extLst xmlns:a="http://schemas.openxmlformats.org/drawingml/2006/main">
              <a:ext uri="{FF2B5EF4-FFF2-40B4-BE49-F238E27FC236}">
                <a16:creationId xmlns:a16="http://schemas.microsoft.com/office/drawing/2014/main" id="{9A1EB72A-0D64-4C82-A009-DB883EB0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6100"/>
            <a:ext cx="227261" cy="26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q₀</a:t>
            </a:r>
          </a:p>
        </p:txBody>
      </p:sp>
      <p:sp>
        <p:nvSpPr>
          <p:cNvPr id="48" name="object-106-s2-ux">
            <a:extLst xmlns:a="http://schemas.openxmlformats.org/drawingml/2006/main">
              <a:ext uri="{FF2B5EF4-FFF2-40B4-BE49-F238E27FC236}">
                <a16:creationId xmlns:a16="http://schemas.microsoft.com/office/drawing/2014/main" id="{4C6BC26B-DBE7-4CAC-A4BC-BA609BD8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3300"/>
            <a:ext cx="227261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q₁</a:t>
            </a:r>
          </a:p>
        </p:txBody>
      </p:sp>
      <p:sp>
        <p:nvSpPr>
          <p:cNvPr id="49" name="object-107-s2-ux">
            <a:extLst xmlns:a="http://schemas.openxmlformats.org/drawingml/2006/main">
              <a:ext uri="{FF2B5EF4-FFF2-40B4-BE49-F238E27FC236}">
                <a16:creationId xmlns:a16="http://schemas.microsoft.com/office/drawing/2014/main" id="{C0D43777-5894-4D79-B79E-7A3F5346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38973"/>
            <a:ext cx="8305800" cy="95"/>
          </a:xfrm>
          <a:custGeom xmlns:a="http://schemas.openxmlformats.org/drawingml/2006/main">
            <a:pathLst>
              <a:path w="8305800" h="95">
                <a:moveTo>
                  <a:pt x="0" y="0"/>
                </a:moveTo>
                <a:lnTo>
                  <a:pt x="830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50" name="object-108-s2-ux">
            <a:extLst xmlns:a="http://schemas.openxmlformats.org/drawingml/2006/main">
              <a:ext uri="{FF2B5EF4-FFF2-40B4-BE49-F238E27FC236}">
                <a16:creationId xmlns:a16="http://schemas.microsoft.com/office/drawing/2014/main" id="{4481BEB0-986C-4D9A-AC38-3B39C885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6173"/>
            <a:ext cx="8305800" cy="95"/>
          </a:xfrm>
          <a:custGeom xmlns:a="http://schemas.openxmlformats.org/drawingml/2006/main">
            <a:pathLst>
              <a:path w="8305800" h="95">
                <a:moveTo>
                  <a:pt x="0" y="0"/>
                </a:moveTo>
                <a:lnTo>
                  <a:pt x="830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51" name="object-109-s2-ux">
            <a:extLst xmlns:a="http://schemas.openxmlformats.org/drawingml/2006/main">
              <a:ext uri="{FF2B5EF4-FFF2-40B4-BE49-F238E27FC236}">
                <a16:creationId xmlns:a16="http://schemas.microsoft.com/office/drawing/2014/main" id="{536768CB-F095-4DD0-A066-56D976B5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298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52" name="object-110-s2-ux">
            <a:extLst xmlns:a="http://schemas.openxmlformats.org/drawingml/2006/main">
              <a:ext uri="{FF2B5EF4-FFF2-40B4-BE49-F238E27FC236}">
                <a16:creationId xmlns:a16="http://schemas.microsoft.com/office/drawing/2014/main" id="{C14F83B3-228D-49EB-9C93-6441C8DA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4983778"/>
            <a:ext cx="20002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53" name="object-111-s2-ux">
            <a:extLst xmlns:a="http://schemas.openxmlformats.org/drawingml/2006/main">
              <a:ext uri="{FF2B5EF4-FFF2-40B4-BE49-F238E27FC236}">
                <a16:creationId xmlns:a16="http://schemas.microsoft.com/office/drawing/2014/main" id="{1514E5A8-C2C0-4877-80AE-CF6FE382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54" name="object-112-s2-ux">
            <a:extLst xmlns:a="http://schemas.openxmlformats.org/drawingml/2006/main">
              <a:ext uri="{FF2B5EF4-FFF2-40B4-BE49-F238E27FC236}">
                <a16:creationId xmlns:a16="http://schemas.microsoft.com/office/drawing/2014/main" id="{4CBCB4E1-6198-4056-B5C4-E186CA91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40" y="45161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Rz(θ₁)</a:t>
            </a:r>
          </a:p>
        </p:txBody>
      </p:sp>
      <p:sp>
        <p:nvSpPr>
          <p:cNvPr id="55" name="object-113-s2-ux">
            <a:extLst xmlns:a="http://schemas.openxmlformats.org/drawingml/2006/main">
              <a:ext uri="{FF2B5EF4-FFF2-40B4-BE49-F238E27FC236}">
                <a16:creationId xmlns:a16="http://schemas.microsoft.com/office/drawing/2014/main" id="{D744B22A-99B1-43DD-8C5A-81BF61B6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2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56" name="object-114-s2-ux">
            <a:extLst xmlns:a="http://schemas.openxmlformats.org/drawingml/2006/main">
              <a:ext uri="{FF2B5EF4-FFF2-40B4-BE49-F238E27FC236}">
                <a16:creationId xmlns:a16="http://schemas.microsoft.com/office/drawing/2014/main" id="{6E18152F-5236-47DE-AB5D-E29345A9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451" y="49837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57" name="object-115-s2-ux">
            <a:extLst xmlns:a="http://schemas.openxmlformats.org/drawingml/2006/main">
              <a:ext uri="{FF2B5EF4-FFF2-40B4-BE49-F238E27FC236}">
                <a16:creationId xmlns:a16="http://schemas.microsoft.com/office/drawing/2014/main" id="{E61E0E07-8D4B-4CD9-8319-5137E22C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58" name="object-116-s2-ux">
            <a:extLst xmlns:a="http://schemas.openxmlformats.org/drawingml/2006/main">
              <a:ext uri="{FF2B5EF4-FFF2-40B4-BE49-F238E27FC236}">
                <a16:creationId xmlns:a16="http://schemas.microsoft.com/office/drawing/2014/main" id="{E9F7714C-493A-4643-9D93-3AE7837E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715" y="45161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Rz(θ₂)</a:t>
            </a:r>
          </a:p>
        </p:txBody>
      </p:sp>
      <p:sp>
        <p:nvSpPr>
          <p:cNvPr id="59" name="object-117-s2-ux">
            <a:extLst xmlns:a="http://schemas.openxmlformats.org/drawingml/2006/main">
              <a:ext uri="{FF2B5EF4-FFF2-40B4-BE49-F238E27FC236}">
                <a16:creationId xmlns:a16="http://schemas.microsoft.com/office/drawing/2014/main" id="{C8B071C8-765B-419F-8CC3-EB6EB9DC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532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0" name="object-118-s2-ux">
            <a:extLst xmlns:a="http://schemas.openxmlformats.org/drawingml/2006/main">
              <a:ext uri="{FF2B5EF4-FFF2-40B4-BE49-F238E27FC236}">
                <a16:creationId xmlns:a16="http://schemas.microsoft.com/office/drawing/2014/main" id="{1A8BB357-BF10-453B-8DCF-6FE16A43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26" y="49837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61" name="object-119-s2-ux">
            <a:extLst xmlns:a="http://schemas.openxmlformats.org/drawingml/2006/main">
              <a:ext uri="{FF2B5EF4-FFF2-40B4-BE49-F238E27FC236}">
                <a16:creationId xmlns:a16="http://schemas.microsoft.com/office/drawing/2014/main" id="{23AD5598-721C-4AC4-AB34-92CE2D5E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2" name="object-120-s2-ux">
            <a:extLst xmlns:a="http://schemas.openxmlformats.org/drawingml/2006/main">
              <a:ext uri="{FF2B5EF4-FFF2-40B4-BE49-F238E27FC236}">
                <a16:creationId xmlns:a16="http://schemas.microsoft.com/office/drawing/2014/main" id="{96A76855-4F89-4EDB-9933-0BD3696D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990" y="4516100"/>
            <a:ext cx="568970" cy="261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Rz(θ₃)</a:t>
            </a:r>
          </a:p>
        </p:txBody>
      </p:sp>
      <p:sp>
        <p:nvSpPr>
          <p:cNvPr id="63" name="object-121-s2-ux">
            <a:extLst xmlns:a="http://schemas.openxmlformats.org/drawingml/2006/main">
              <a:ext uri="{FF2B5EF4-FFF2-40B4-BE49-F238E27FC236}">
                <a16:creationId xmlns:a16="http://schemas.microsoft.com/office/drawing/2014/main" id="{3DD54803-7E92-4AA3-8BED-C4AC71DC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532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4" name="object-122-s2-ux">
            <a:extLst xmlns:a="http://schemas.openxmlformats.org/drawingml/2006/main">
              <a:ext uri="{FF2B5EF4-FFF2-40B4-BE49-F238E27FC236}">
                <a16:creationId xmlns:a16="http://schemas.microsoft.com/office/drawing/2014/main" id="{5D6A11C1-BA32-4337-B3B9-D00C7007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01" y="49837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65" name="object-123-s2-ux">
            <a:extLst xmlns:a="http://schemas.openxmlformats.org/drawingml/2006/main">
              <a:ext uri="{FF2B5EF4-FFF2-40B4-BE49-F238E27FC236}">
                <a16:creationId xmlns:a16="http://schemas.microsoft.com/office/drawing/2014/main" id="{B5722DC1-A14B-44AC-9858-2A7FFA3B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6" name="object-124-s2-ux">
            <a:extLst xmlns:a="http://schemas.openxmlformats.org/drawingml/2006/main">
              <a:ext uri="{FF2B5EF4-FFF2-40B4-BE49-F238E27FC236}">
                <a16:creationId xmlns:a16="http://schemas.microsoft.com/office/drawing/2014/main" id="{98E9237D-B2FE-42DC-B901-4B1484B6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65" y="45161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Rz(θ₄)</a:t>
            </a:r>
          </a:p>
        </p:txBody>
      </p:sp>
      <p:sp>
        <p:nvSpPr>
          <p:cNvPr id="67" name="object-125-s2-ux">
            <a:extLst xmlns:a="http://schemas.openxmlformats.org/drawingml/2006/main">
              <a:ext uri="{FF2B5EF4-FFF2-40B4-BE49-F238E27FC236}">
                <a16:creationId xmlns:a16="http://schemas.microsoft.com/office/drawing/2014/main" id="{D7C55823-ABC7-47A5-9E83-D1C7A541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9532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8" name="object-126-s2-ux">
            <a:extLst xmlns:a="http://schemas.openxmlformats.org/drawingml/2006/main">
              <a:ext uri="{FF2B5EF4-FFF2-40B4-BE49-F238E27FC236}">
                <a16:creationId xmlns:a16="http://schemas.microsoft.com/office/drawing/2014/main" id="{67C26E7E-0B62-4AA0-9D28-52ED2AA3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276" y="49837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69" name="object-127-s2-ux">
            <a:extLst xmlns:a="http://schemas.openxmlformats.org/drawingml/2006/main">
              <a:ext uri="{FF2B5EF4-FFF2-40B4-BE49-F238E27FC236}">
                <a16:creationId xmlns:a16="http://schemas.microsoft.com/office/drawing/2014/main" id="{7C16FB51-660C-4DF8-A55A-AF03ECBF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0" name="object-128-s2-ux">
            <a:extLst xmlns:a="http://schemas.openxmlformats.org/drawingml/2006/main">
              <a:ext uri="{FF2B5EF4-FFF2-40B4-BE49-F238E27FC236}">
                <a16:creationId xmlns:a16="http://schemas.microsoft.com/office/drawing/2014/main" id="{D76B0A57-7153-4357-B715-F2998FD0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40" y="4516100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Rz(θ₅)</a:t>
            </a:r>
          </a:p>
        </p:txBody>
      </p:sp>
      <p:sp>
        <p:nvSpPr>
          <p:cNvPr id="71" name="object-129-s2-ux">
            <a:extLst xmlns:a="http://schemas.openxmlformats.org/drawingml/2006/main">
              <a:ext uri="{FF2B5EF4-FFF2-40B4-BE49-F238E27FC236}">
                <a16:creationId xmlns:a16="http://schemas.microsoft.com/office/drawing/2014/main" id="{FF99B5D0-EC5F-4CAE-9D58-06F497B0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532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2" name="object-130-s2-ux">
            <a:extLst xmlns:a="http://schemas.openxmlformats.org/drawingml/2006/main">
              <a:ext uri="{FF2B5EF4-FFF2-40B4-BE49-F238E27FC236}">
                <a16:creationId xmlns:a16="http://schemas.microsoft.com/office/drawing/2014/main" id="{98B8255A-31E9-481D-9FE2-C25A5752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51" y="49837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73" name="object-131-s2-ux">
            <a:extLst xmlns:a="http://schemas.openxmlformats.org/drawingml/2006/main">
              <a:ext uri="{FF2B5EF4-FFF2-40B4-BE49-F238E27FC236}">
                <a16:creationId xmlns:a16="http://schemas.microsoft.com/office/drawing/2014/main" id="{64506257-06AA-4688-A7A4-34E2B8D0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4" name="object-132-s2-ux">
            <a:extLst xmlns:a="http://schemas.openxmlformats.org/drawingml/2006/main">
              <a:ext uri="{FF2B5EF4-FFF2-40B4-BE49-F238E27FC236}">
                <a16:creationId xmlns:a16="http://schemas.microsoft.com/office/drawing/2014/main" id="{07A22540-6CC8-43BF-970A-47A46DF9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815" y="4516100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Rz(θ₆)</a:t>
            </a:r>
          </a:p>
        </p:txBody>
      </p:sp>
      <p:sp>
        <p:nvSpPr>
          <p:cNvPr id="75" name="object-133-s2-ux">
            <a:extLst xmlns:a="http://schemas.openxmlformats.org/drawingml/2006/main">
              <a:ext uri="{FF2B5EF4-FFF2-40B4-BE49-F238E27FC236}">
                <a16:creationId xmlns:a16="http://schemas.microsoft.com/office/drawing/2014/main" id="{E8A4D764-1CFA-4CC6-8AD1-F41CB3C7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604" y="4653260"/>
            <a:ext cx="73134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−1 CZ</a:t>
            </a:r>
          </a:p>
        </p:txBody>
      </p:sp>
      <p:sp>
        <p:nvSpPr>
          <p:cNvPr id="76" name="object-134-s2-ux">
            <a:extLst xmlns:a="http://schemas.openxmlformats.org/drawingml/2006/main">
              <a:ext uri="{FF2B5EF4-FFF2-40B4-BE49-F238E27FC236}">
                <a16:creationId xmlns:a16="http://schemas.microsoft.com/office/drawing/2014/main" id="{668D1ABC-05ED-4747-A82D-028A8B68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907" y="4948535"/>
            <a:ext cx="74473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−1 CX</a:t>
            </a:r>
          </a:p>
        </p:txBody>
      </p:sp>
      <p:sp>
        <p:nvSpPr>
          <p:cNvPr id="77" name="object-135-s0-ux">
            <a:extLst xmlns:a="http://schemas.openxmlformats.org/drawingml/2006/main">
              <a:ext uri="{FF2B5EF4-FFF2-40B4-BE49-F238E27FC236}">
                <a16:creationId xmlns:a16="http://schemas.microsoft.com/office/drawing/2014/main" id="{19A312CD-A6BF-4344-B2B4-5F8C62E4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8123337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 constrained symbolic S can cover a long subcircuit. Local rewrite sequences may also derive this illustrative example.</a:t>
            </a:r>
          </a:p>
        </p:txBody>
      </p:sp>
      <p:sp>
        <p:nvSpPr>
          <p:cNvPr id="78" name="object-136-s0-ux">
            <a:extLst xmlns:a="http://schemas.openxmlformats.org/drawingml/2006/main">
              <a:ext uri="{FF2B5EF4-FFF2-40B4-BE49-F238E27FC236}">
                <a16:creationId xmlns:a16="http://schemas.microsoft.com/office/drawing/2014/main" id="{99B0CCF7-66A7-4653-A37E-469C9030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62039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§§2–3, 5.5; illustrative CZ → CX instance</a:t>
            </a:r>
          </a:p>
        </p:txBody>
      </p:sp>
      <p:sp>
        <p:nvSpPr>
          <p:cNvPr id="79" name="object-137-s0-ux">
            <a:extLst xmlns:a="http://schemas.openxmlformats.org/drawingml/2006/main">
              <a:ext uri="{FF2B5EF4-FFF2-40B4-BE49-F238E27FC236}">
                <a16:creationId xmlns:a16="http://schemas.microsoft.com/office/drawing/2014/main" id="{BE8D35B9-AB1B-4DC5-98FF-AD0C40B1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</p:spTree>
    <p:extLst>
      <p:ext uri="{BB962C8B-B14F-4D97-AF65-F5344CB8AC3E}">
        <p14:creationId xmlns:p14="http://schemas.microsoft.com/office/powerpoint/2010/main" val="15643646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top-accent">
            <a:extLst xmlns:a="http://schemas.openxmlformats.org/drawingml/2006/main">
              <a:ext uri="{FF2B5EF4-FFF2-40B4-BE49-F238E27FC236}">
                <a16:creationId xmlns:a16="http://schemas.microsoft.com/office/drawing/2014/main" id="{2942A376-86C1-4B2E-8678-2BB68EB2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4782BD29-8F48-436C-BE6A-57D99465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7627918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The running example through the workflow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C99D5257-9741-4AAE-BB54-7139BB24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0564"/>
            <a:ext cx="4476750" cy="1219200"/>
          </a:xfrm>
          <a:prstGeom xmlns:a="http://schemas.openxmlformats.org/drawingml/2006/main" prst="roundRect">
            <a:avLst>
              <a:gd name="adj" fmla="val 468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A53DC407-C6E0-47C7-AA1D-3186C9BD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548199"/>
            <a:ext cx="24571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B31D8CFB-3C73-428E-B572-30E8A308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095" y="1452949"/>
            <a:ext cx="2361009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synthesis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B2451258-9033-49DD-A533-93042C19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20564"/>
            <a:ext cx="4476750" cy="1219200"/>
          </a:xfrm>
          <a:prstGeom xmlns:a="http://schemas.openxmlformats.org/drawingml/2006/main" prst="roundRect">
            <a:avLst>
              <a:gd name="adj" fmla="val 468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CF44665C-E78C-4B20-89A1-7CBD798A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548199"/>
            <a:ext cx="24571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0406773E-4FF5-431A-835E-FC322FA8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329" y="1452949"/>
            <a:ext cx="2388543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Symbolic synthesis</a:t>
            </a:r>
          </a:p>
        </p:txBody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81F8572D-9650-4209-B16B-8B69C66D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96989"/>
            <a:ext cx="4476750" cy="1219200"/>
          </a:xfrm>
          <a:prstGeom xmlns:a="http://schemas.openxmlformats.org/drawingml/2006/main" prst="roundRect">
            <a:avLst>
              <a:gd name="adj" fmla="val 468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D6D27527-7084-4B08-8556-531D54A0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24624"/>
            <a:ext cx="24571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5E5D31E7-BFD2-4277-B0A3-089CF9FD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197" y="3329374"/>
            <a:ext cx="1878806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Rule anchoring</a:t>
            </a:r>
          </a:p>
        </p:txBody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5B544AD2-0A5E-4795-B1E1-B9780FDA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96989"/>
            <a:ext cx="4476750" cy="1219200"/>
          </a:xfrm>
          <a:prstGeom xmlns:a="http://schemas.openxmlformats.org/drawingml/2006/main" prst="roundRect">
            <a:avLst>
              <a:gd name="adj" fmla="val 468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B7CD9385-29A9-4CBA-A228-F0563AFC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24624"/>
            <a:ext cx="24571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B81FD498-C32F-4925-8B63-8F39ECCD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775" y="3329374"/>
            <a:ext cx="238765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Circuit optimization</a:t>
            </a:r>
          </a:p>
        </p:txBody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4E354966-3991-47A5-8FBE-2D60D3C4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020639"/>
            <a:ext cx="1226820" cy="95"/>
          </a:xfrm>
          <a:custGeom xmlns:a="http://schemas.openxmlformats.org/drawingml/2006/main">
            <a:pathLst>
              <a:path w="1226820" h="95">
                <a:moveTo>
                  <a:pt x="0" y="0"/>
                </a:moveTo>
                <a:lnTo>
                  <a:pt x="12268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5E7275"/>
            </a:solidFill>
            <a:prstDash val="solid"/>
          </a:ln>
        </p:spPr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0464161A-A7F8-4262-B1C0-F5241F39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53633"/>
            <a:ext cx="1226820" cy="95"/>
          </a:xfrm>
          <a:custGeom xmlns:a="http://schemas.openxmlformats.org/drawingml/2006/main">
            <a:pathLst>
              <a:path w="1226820" h="95">
                <a:moveTo>
                  <a:pt x="0" y="0"/>
                </a:moveTo>
                <a:lnTo>
                  <a:pt x="12268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5E7275"/>
            </a:solidFill>
            <a:prstDash val="solid"/>
          </a:ln>
        </p:spPr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681AA756-BD5A-4F14-98B0-85684AA1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433" y="2020639"/>
            <a:ext cx="95" cy="332994"/>
          </a:xfrm>
          <a:custGeom xmlns:a="http://schemas.openxmlformats.org/drawingml/2006/main">
            <a:pathLst>
              <a:path w="95" h="332994">
                <a:moveTo>
                  <a:pt x="0" y="0"/>
                </a:moveTo>
                <a:lnTo>
                  <a:pt x="0" y="3329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908">
            <a:solidFill>
              <a:srgbClr val="D66A3E"/>
            </a:solidFill>
            <a:prstDash val="solid"/>
          </a:ln>
        </p:spPr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5748B2D6-5BE1-46BF-A62C-71F19376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000" y="1981206"/>
            <a:ext cx="78867" cy="7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763">
            <a:noFill/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2FDE1517-30AD-4372-BD7B-6BBEED09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421" y="2261622"/>
            <a:ext cx="184023" cy="18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1908">
            <a:solidFill>
              <a:srgbClr val="D66A3E"/>
            </a:solidFill>
            <a:prstDash val="solid"/>
          </a:ln>
        </p:spPr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096C5B44-29EC-4050-8616-E39CE138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092" y="2292292"/>
            <a:ext cx="122682" cy="122682"/>
          </a:xfrm>
          <a:custGeom xmlns:a="http://schemas.openxmlformats.org/drawingml/2006/main">
            <a:pathLst>
              <a:path w="122682" h="122682">
                <a:moveTo>
                  <a:pt x="0" y="61341"/>
                </a:moveTo>
                <a:lnTo>
                  <a:pt x="122682" y="61341"/>
                </a:lnTo>
              </a:path>
              <a:path w="122682" h="122682">
                <a:moveTo>
                  <a:pt x="61341" y="0"/>
                </a:moveTo>
                <a:lnTo>
                  <a:pt x="61341" y="1226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908">
            <a:solidFill>
              <a:srgbClr val="D66A3E"/>
            </a:solidFill>
            <a:prstDash val="solid"/>
          </a:ln>
        </p:spPr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A019A1A7-6E9F-4EA2-8EBD-5D3A9415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687" y="2020639"/>
            <a:ext cx="95" cy="332994"/>
          </a:xfrm>
          <a:custGeom xmlns:a="http://schemas.openxmlformats.org/drawingml/2006/main">
            <a:pathLst>
              <a:path w="95" h="332994">
                <a:moveTo>
                  <a:pt x="0" y="0"/>
                </a:moveTo>
                <a:lnTo>
                  <a:pt x="0" y="3329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908">
            <a:solidFill>
              <a:srgbClr val="D66A3E"/>
            </a:solidFill>
            <a:prstDash val="solid"/>
          </a:ln>
        </p:spPr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D0FABC75-1B74-43A3-8CE6-915E5CA7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254" y="1981206"/>
            <a:ext cx="78867" cy="7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763">
            <a:noFill/>
            <a:prstDash val="solid"/>
          </a:ln>
        </p:spPr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1A08DF38-D226-465D-B016-2673B284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675" y="2261622"/>
            <a:ext cx="184023" cy="18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1908">
            <a:solidFill>
              <a:srgbClr val="D66A3E"/>
            </a:solidFill>
            <a:prstDash val="solid"/>
          </a:ln>
        </p:spPr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F45D7FDA-045E-4282-B290-02143800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46" y="2292292"/>
            <a:ext cx="122682" cy="122682"/>
          </a:xfrm>
          <a:custGeom xmlns:a="http://schemas.openxmlformats.org/drawingml/2006/main">
            <a:pathLst>
              <a:path w="122682" h="122682">
                <a:moveTo>
                  <a:pt x="0" y="61341"/>
                </a:moveTo>
                <a:lnTo>
                  <a:pt x="122682" y="61341"/>
                </a:lnTo>
              </a:path>
              <a:path w="122682" h="122682">
                <a:moveTo>
                  <a:pt x="61341" y="0"/>
                </a:moveTo>
                <a:lnTo>
                  <a:pt x="61341" y="1226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908">
            <a:solidFill>
              <a:srgbClr val="D66A3E"/>
            </a:solidFill>
            <a:prstDash val="solid"/>
          </a:ln>
        </p:spPr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1FD48335-97BF-4F5B-8647-42C5A055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4126" y="2187136"/>
            <a:ext cx="332994" cy="95"/>
          </a:xfrm>
          <a:custGeom xmlns:a="http://schemas.openxmlformats.org/drawingml/2006/main">
            <a:pathLst>
              <a:path w="332994" h="95">
                <a:moveTo>
                  <a:pt x="0" y="0"/>
                </a:moveTo>
                <a:lnTo>
                  <a:pt x="332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087E86"/>
            </a:solidFill>
            <a:prstDash val="solid"/>
          </a:ln>
        </p:spPr>
      </p:sp>
      <p:sp>
        <p:nvSpPr>
          <p:cNvPr id="26" name="object-23-s0-ux-arrow">
            <a:extLst xmlns:a="http://schemas.openxmlformats.org/drawingml/2006/main">
              <a:ext uri="{FF2B5EF4-FFF2-40B4-BE49-F238E27FC236}">
                <a16:creationId xmlns:a16="http://schemas.microsoft.com/office/drawing/2014/main" id="{AD999452-C86F-44A7-9809-0C328DA1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295" y="2129986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7" name="object-24-s0-ux">
            <a:extLst xmlns:a="http://schemas.openxmlformats.org/drawingml/2006/main">
              <a:ext uri="{FF2B5EF4-FFF2-40B4-BE49-F238E27FC236}">
                <a16:creationId xmlns:a16="http://schemas.microsoft.com/office/drawing/2014/main" id="{5C8D42D1-80F6-400A-81F9-E7AD5D35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802" y="2020639"/>
            <a:ext cx="771144" cy="95"/>
          </a:xfrm>
          <a:custGeom xmlns:a="http://schemas.openxmlformats.org/drawingml/2006/main">
            <a:pathLst>
              <a:path w="771144" h="95">
                <a:moveTo>
                  <a:pt x="0" y="0"/>
                </a:moveTo>
                <a:lnTo>
                  <a:pt x="7711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5E7275"/>
            </a:solidFill>
            <a:prstDash val="solid"/>
          </a:ln>
        </p:spPr>
      </p:sp>
      <p:sp>
        <p:nvSpPr>
          <p:cNvPr id="28" name="object-25-s0-ux">
            <a:extLst xmlns:a="http://schemas.openxmlformats.org/drawingml/2006/main">
              <a:ext uri="{FF2B5EF4-FFF2-40B4-BE49-F238E27FC236}">
                <a16:creationId xmlns:a16="http://schemas.microsoft.com/office/drawing/2014/main" id="{20C727A5-2EBC-4342-B1E7-12C9AA52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802" y="2353633"/>
            <a:ext cx="771144" cy="95"/>
          </a:xfrm>
          <a:custGeom xmlns:a="http://schemas.openxmlformats.org/drawingml/2006/main">
            <a:pathLst>
              <a:path w="771144" h="95">
                <a:moveTo>
                  <a:pt x="0" y="0"/>
                </a:moveTo>
                <a:lnTo>
                  <a:pt x="7711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5E7275"/>
            </a:solidFill>
            <a:prstDash val="solid"/>
          </a:ln>
        </p:spPr>
      </p:sp>
      <p:sp>
        <p:nvSpPr>
          <p:cNvPr id="29" name="object-26-s0-ux">
            <a:extLst xmlns:a="http://schemas.openxmlformats.org/drawingml/2006/main">
              <a:ext uri="{FF2B5EF4-FFF2-40B4-BE49-F238E27FC236}">
                <a16:creationId xmlns:a16="http://schemas.microsoft.com/office/drawing/2014/main" id="{EF167874-FDB6-42DC-BB1A-3D878742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20639"/>
            <a:ext cx="1253490" cy="95"/>
          </a:xfrm>
          <a:custGeom xmlns:a="http://schemas.openxmlformats.org/drawingml/2006/main">
            <a:pathLst>
              <a:path w="1253490" h="95">
                <a:moveTo>
                  <a:pt x="0" y="0"/>
                </a:moveTo>
                <a:lnTo>
                  <a:pt x="12534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84">
            <a:solidFill>
              <a:srgbClr val="5E7275"/>
            </a:solidFill>
            <a:prstDash val="solid"/>
          </a:ln>
        </p:spPr>
      </p:sp>
      <p:sp>
        <p:nvSpPr>
          <p:cNvPr id="30" name="object-27-s0-ux">
            <a:extLst xmlns:a="http://schemas.openxmlformats.org/drawingml/2006/main">
              <a:ext uri="{FF2B5EF4-FFF2-40B4-BE49-F238E27FC236}">
                <a16:creationId xmlns:a16="http://schemas.microsoft.com/office/drawing/2014/main" id="{9EA610B4-B4F3-460B-AA39-C2B80736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60872"/>
            <a:ext cx="1253490" cy="95"/>
          </a:xfrm>
          <a:custGeom xmlns:a="http://schemas.openxmlformats.org/drawingml/2006/main">
            <a:pathLst>
              <a:path w="1253490" h="95">
                <a:moveTo>
                  <a:pt x="0" y="0"/>
                </a:moveTo>
                <a:lnTo>
                  <a:pt x="12534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84">
            <a:solidFill>
              <a:srgbClr val="5E7275"/>
            </a:solidFill>
            <a:prstDash val="solid"/>
          </a:ln>
        </p:spPr>
      </p:sp>
      <p:sp>
        <p:nvSpPr>
          <p:cNvPr id="31" name="object-28-s0-ux">
            <a:extLst xmlns:a="http://schemas.openxmlformats.org/drawingml/2006/main">
              <a:ext uri="{FF2B5EF4-FFF2-40B4-BE49-F238E27FC236}">
                <a16:creationId xmlns:a16="http://schemas.microsoft.com/office/drawing/2014/main" id="{0581329D-EECA-4A0A-852E-3DB514CB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969" y="2020639"/>
            <a:ext cx="95" cy="340233"/>
          </a:xfrm>
          <a:custGeom xmlns:a="http://schemas.openxmlformats.org/drawingml/2006/main">
            <a:pathLst>
              <a:path w="95" h="340233">
                <a:moveTo>
                  <a:pt x="0" y="0"/>
                </a:moveTo>
                <a:lnTo>
                  <a:pt x="0" y="3402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384">
            <a:solidFill>
              <a:srgbClr val="D66A3E"/>
            </a:solidFill>
            <a:prstDash val="solid"/>
          </a:ln>
        </p:spPr>
      </p:sp>
      <p:sp>
        <p:nvSpPr>
          <p:cNvPr id="32" name="object-29-s0-ux">
            <a:extLst xmlns:a="http://schemas.openxmlformats.org/drawingml/2006/main">
              <a:ext uri="{FF2B5EF4-FFF2-40B4-BE49-F238E27FC236}">
                <a16:creationId xmlns:a16="http://schemas.microsoft.com/office/drawing/2014/main" id="{A43F049D-49A5-4B47-BFF4-4D21E56E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678" y="1980349"/>
            <a:ext cx="80582" cy="805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954">
            <a:noFill/>
            <a:prstDash val="solid"/>
          </a:ln>
        </p:spPr>
      </p:sp>
      <p:sp>
        <p:nvSpPr>
          <p:cNvPr id="33" name="object-30-s0-ux">
            <a:extLst xmlns:a="http://schemas.openxmlformats.org/drawingml/2006/main">
              <a:ext uri="{FF2B5EF4-FFF2-40B4-BE49-F238E27FC236}">
                <a16:creationId xmlns:a16="http://schemas.microsoft.com/office/drawing/2014/main" id="{7230ED86-A841-4B7E-BC25-9F4226B9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678" y="2320582"/>
            <a:ext cx="80582" cy="805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954">
            <a:noFill/>
            <a:prstDash val="solid"/>
          </a:ln>
        </p:spPr>
      </p:sp>
      <p:sp>
        <p:nvSpPr>
          <p:cNvPr id="34" name="object-31-s0-ux">
            <a:extLst xmlns:a="http://schemas.openxmlformats.org/drawingml/2006/main">
              <a:ext uri="{FF2B5EF4-FFF2-40B4-BE49-F238E27FC236}">
                <a16:creationId xmlns:a16="http://schemas.microsoft.com/office/drawing/2014/main" id="{9B6E4F0C-3121-4DDC-BD05-841A1570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295" y="1913197"/>
            <a:ext cx="393954" cy="555117"/>
          </a:xfrm>
          <a:prstGeom xmlns:a="http://schemas.openxmlformats.org/drawingml/2006/main" prst="roundRect">
            <a:avLst>
              <a:gd name="adj" fmla="val 7253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7907">
            <a:solidFill>
              <a:srgbClr val="087E86"/>
            </a:solidFill>
            <a:prstDash val="solid"/>
          </a:ln>
        </p:spPr>
      </p:sp>
      <p:sp>
        <p:nvSpPr>
          <p:cNvPr id="35" name="object-32-s0-ux">
            <a:extLst xmlns:a="http://schemas.openxmlformats.org/drawingml/2006/main">
              <a:ext uri="{FF2B5EF4-FFF2-40B4-BE49-F238E27FC236}">
                <a16:creationId xmlns:a16="http://schemas.microsoft.com/office/drawing/2014/main" id="{7D27BEFA-B5E2-4919-90F4-A4B0745C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560" y="2048929"/>
            <a:ext cx="225623" cy="292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6" name="object-33-s0-ux">
            <a:extLst xmlns:a="http://schemas.openxmlformats.org/drawingml/2006/main">
              <a:ext uri="{FF2B5EF4-FFF2-40B4-BE49-F238E27FC236}">
                <a16:creationId xmlns:a16="http://schemas.microsoft.com/office/drawing/2014/main" id="{AD2E370B-3560-47DB-B64D-E1D519E9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1812" y="1995932"/>
            <a:ext cx="245490" cy="36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86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86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37" name="object-34-s0-ux">
            <a:extLst xmlns:a="http://schemas.openxmlformats.org/drawingml/2006/main">
              <a:ext uri="{FF2B5EF4-FFF2-40B4-BE49-F238E27FC236}">
                <a16:creationId xmlns:a16="http://schemas.microsoft.com/office/drawing/2014/main" id="{DFAFC661-6915-40C0-915A-C5D6B80A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389" y="2020639"/>
            <a:ext cx="1253490" cy="95"/>
          </a:xfrm>
          <a:custGeom xmlns:a="http://schemas.openxmlformats.org/drawingml/2006/main">
            <a:pathLst>
              <a:path w="1253490" h="95">
                <a:moveTo>
                  <a:pt x="0" y="0"/>
                </a:moveTo>
                <a:lnTo>
                  <a:pt x="12534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84">
            <a:solidFill>
              <a:srgbClr val="5E7275"/>
            </a:solidFill>
            <a:prstDash val="solid"/>
          </a:ln>
        </p:spPr>
      </p:sp>
      <p:sp>
        <p:nvSpPr>
          <p:cNvPr id="38" name="object-35-s0-ux">
            <a:extLst xmlns:a="http://schemas.openxmlformats.org/drawingml/2006/main">
              <a:ext uri="{FF2B5EF4-FFF2-40B4-BE49-F238E27FC236}">
                <a16:creationId xmlns:a16="http://schemas.microsoft.com/office/drawing/2014/main" id="{F7262318-907A-44E5-8F2B-090BDDC6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389" y="2360872"/>
            <a:ext cx="1253490" cy="95"/>
          </a:xfrm>
          <a:custGeom xmlns:a="http://schemas.openxmlformats.org/drawingml/2006/main">
            <a:pathLst>
              <a:path w="1253490" h="95">
                <a:moveTo>
                  <a:pt x="0" y="0"/>
                </a:moveTo>
                <a:lnTo>
                  <a:pt x="12534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84">
            <a:solidFill>
              <a:srgbClr val="5E7275"/>
            </a:solidFill>
            <a:prstDash val="solid"/>
          </a:ln>
        </p:spPr>
      </p:sp>
      <p:sp>
        <p:nvSpPr>
          <p:cNvPr id="39" name="object-36-s0-ux">
            <a:extLst xmlns:a="http://schemas.openxmlformats.org/drawingml/2006/main">
              <a:ext uri="{FF2B5EF4-FFF2-40B4-BE49-F238E27FC236}">
                <a16:creationId xmlns:a16="http://schemas.microsoft.com/office/drawing/2014/main" id="{0C0C7B35-2F5A-4C43-8642-B3E05EC2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505" y="1913197"/>
            <a:ext cx="393954" cy="555117"/>
          </a:xfrm>
          <a:prstGeom xmlns:a="http://schemas.openxmlformats.org/drawingml/2006/main" prst="roundRect">
            <a:avLst>
              <a:gd name="adj" fmla="val 7253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7907">
            <a:solidFill>
              <a:srgbClr val="087E86"/>
            </a:solidFill>
            <a:prstDash val="solid"/>
          </a:ln>
        </p:spPr>
      </p:sp>
      <p:sp>
        <p:nvSpPr>
          <p:cNvPr id="40" name="object-37-s0-ux">
            <a:extLst xmlns:a="http://schemas.openxmlformats.org/drawingml/2006/main">
              <a:ext uri="{FF2B5EF4-FFF2-40B4-BE49-F238E27FC236}">
                <a16:creationId xmlns:a16="http://schemas.microsoft.com/office/drawing/2014/main" id="{C8079C3A-2A42-47A1-8BB0-DEE6E24B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771" y="2048929"/>
            <a:ext cx="225624" cy="292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41" name="object-38-s0-ux">
            <a:extLst xmlns:a="http://schemas.openxmlformats.org/drawingml/2006/main">
              <a:ext uri="{FF2B5EF4-FFF2-40B4-BE49-F238E27FC236}">
                <a16:creationId xmlns:a16="http://schemas.microsoft.com/office/drawing/2014/main" id="{12F2F451-D4A6-41B4-BAB1-E83F15A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786" y="2020639"/>
            <a:ext cx="95" cy="340233"/>
          </a:xfrm>
          <a:custGeom xmlns:a="http://schemas.openxmlformats.org/drawingml/2006/main">
            <a:pathLst>
              <a:path w="95" h="340233">
                <a:moveTo>
                  <a:pt x="0" y="0"/>
                </a:moveTo>
                <a:lnTo>
                  <a:pt x="0" y="3402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384">
            <a:solidFill>
              <a:srgbClr val="D66A3E"/>
            </a:solidFill>
            <a:prstDash val="solid"/>
          </a:ln>
        </p:spPr>
      </p:sp>
      <p:sp>
        <p:nvSpPr>
          <p:cNvPr id="42" name="object-39-s0-ux">
            <a:extLst xmlns:a="http://schemas.openxmlformats.org/drawingml/2006/main">
              <a:ext uri="{FF2B5EF4-FFF2-40B4-BE49-F238E27FC236}">
                <a16:creationId xmlns:a16="http://schemas.microsoft.com/office/drawing/2014/main" id="{6CA386B4-29FA-44F6-B4F0-592A2207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496" y="1980349"/>
            <a:ext cx="80581" cy="805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954">
            <a:noFill/>
            <a:prstDash val="solid"/>
          </a:ln>
        </p:spPr>
      </p:sp>
      <p:sp>
        <p:nvSpPr>
          <p:cNvPr id="43" name="object-40-s0-ux">
            <a:extLst xmlns:a="http://schemas.openxmlformats.org/drawingml/2006/main">
              <a:ext uri="{FF2B5EF4-FFF2-40B4-BE49-F238E27FC236}">
                <a16:creationId xmlns:a16="http://schemas.microsoft.com/office/drawing/2014/main" id="{45B0B7ED-612C-46ED-9444-5E26A40E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773" y="2266861"/>
            <a:ext cx="188023" cy="188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384">
            <a:solidFill>
              <a:srgbClr val="D66A3E"/>
            </a:solidFill>
            <a:prstDash val="solid"/>
          </a:ln>
        </p:spPr>
      </p:sp>
      <p:sp>
        <p:nvSpPr>
          <p:cNvPr id="44" name="object-41-s0-ux">
            <a:extLst xmlns:a="http://schemas.openxmlformats.org/drawingml/2006/main">
              <a:ext uri="{FF2B5EF4-FFF2-40B4-BE49-F238E27FC236}">
                <a16:creationId xmlns:a16="http://schemas.microsoft.com/office/drawing/2014/main" id="{6444C01B-29BB-44D2-8284-5999B3A8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2111" y="2298198"/>
            <a:ext cx="125349" cy="125349"/>
          </a:xfrm>
          <a:custGeom xmlns:a="http://schemas.openxmlformats.org/drawingml/2006/main">
            <a:pathLst>
              <a:path w="125349" h="125349">
                <a:moveTo>
                  <a:pt x="0" y="62675"/>
                </a:moveTo>
                <a:lnTo>
                  <a:pt x="125349" y="62675"/>
                </a:lnTo>
              </a:path>
              <a:path w="125349" h="125349">
                <a:moveTo>
                  <a:pt x="62675" y="0"/>
                </a:moveTo>
                <a:lnTo>
                  <a:pt x="62675" y="1253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384">
            <a:solidFill>
              <a:srgbClr val="D66A3E"/>
            </a:solidFill>
            <a:prstDash val="solid"/>
          </a:ln>
        </p:spPr>
      </p:sp>
      <p:sp>
        <p:nvSpPr>
          <p:cNvPr id="45" name="object-42-s0-ux">
            <a:extLst xmlns:a="http://schemas.openxmlformats.org/drawingml/2006/main">
              <a:ext uri="{FF2B5EF4-FFF2-40B4-BE49-F238E27FC236}">
                <a16:creationId xmlns:a16="http://schemas.microsoft.com/office/drawing/2014/main" id="{437BE3FB-4C04-4B07-A45C-0F581B5D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97064"/>
            <a:ext cx="1753934" cy="95"/>
          </a:xfrm>
          <a:custGeom xmlns:a="http://schemas.openxmlformats.org/drawingml/2006/main">
            <a:pathLst>
              <a:path w="1753934" h="95">
                <a:moveTo>
                  <a:pt x="0" y="0"/>
                </a:moveTo>
                <a:lnTo>
                  <a:pt x="17539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146">
            <a:solidFill>
              <a:srgbClr val="5E7275"/>
            </a:solidFill>
            <a:prstDash val="solid"/>
          </a:ln>
        </p:spPr>
      </p:sp>
      <p:sp>
        <p:nvSpPr>
          <p:cNvPr id="46" name="object-43-s0-ux">
            <a:extLst xmlns:a="http://schemas.openxmlformats.org/drawingml/2006/main">
              <a:ext uri="{FF2B5EF4-FFF2-40B4-BE49-F238E27FC236}">
                <a16:creationId xmlns:a16="http://schemas.microsoft.com/office/drawing/2014/main" id="{A58ADB6C-A6EF-4059-9A91-00793145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33678"/>
            <a:ext cx="1753934" cy="95"/>
          </a:xfrm>
          <a:custGeom xmlns:a="http://schemas.openxmlformats.org/drawingml/2006/main">
            <a:pathLst>
              <a:path w="1753934" h="95">
                <a:moveTo>
                  <a:pt x="0" y="0"/>
                </a:moveTo>
                <a:lnTo>
                  <a:pt x="17539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146">
            <a:solidFill>
              <a:srgbClr val="5E7275"/>
            </a:solidFill>
            <a:prstDash val="solid"/>
          </a:ln>
        </p:spPr>
      </p:sp>
      <p:sp>
        <p:nvSpPr>
          <p:cNvPr id="47" name="object-44-s0-ux">
            <a:extLst xmlns:a="http://schemas.openxmlformats.org/drawingml/2006/main">
              <a:ext uri="{FF2B5EF4-FFF2-40B4-BE49-F238E27FC236}">
                <a16:creationId xmlns:a16="http://schemas.microsoft.com/office/drawing/2014/main" id="{81315442-5D6B-4A2E-8950-06D0646A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813" y="3897064"/>
            <a:ext cx="95" cy="336614"/>
          </a:xfrm>
          <a:custGeom xmlns:a="http://schemas.openxmlformats.org/drawingml/2006/main">
            <a:pathLst>
              <a:path w="95" h="336614">
                <a:moveTo>
                  <a:pt x="0" y="0"/>
                </a:moveTo>
                <a:lnTo>
                  <a:pt x="0" y="3366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48" name="object-45-s0-ux">
            <a:extLst xmlns:a="http://schemas.openxmlformats.org/drawingml/2006/main">
              <a:ext uri="{FF2B5EF4-FFF2-40B4-BE49-F238E27FC236}">
                <a16:creationId xmlns:a16="http://schemas.microsoft.com/office/drawing/2014/main" id="{4ACE1F1F-4139-496F-8588-4C54DC58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951" y="3857202"/>
            <a:ext cx="79724" cy="79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858">
            <a:noFill/>
            <a:prstDash val="solid"/>
          </a:ln>
        </p:spPr>
      </p:sp>
      <p:sp>
        <p:nvSpPr>
          <p:cNvPr id="49" name="object-46-s0-ux">
            <a:extLst xmlns:a="http://schemas.openxmlformats.org/drawingml/2006/main">
              <a:ext uri="{FF2B5EF4-FFF2-40B4-BE49-F238E27FC236}">
                <a16:creationId xmlns:a16="http://schemas.microsoft.com/office/drawing/2014/main" id="{ECDFBF07-2E6E-4E1E-9214-6D9E3CCB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951" y="4193816"/>
            <a:ext cx="79724" cy="79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858">
            <a:noFill/>
            <a:prstDash val="solid"/>
          </a:ln>
        </p:spPr>
      </p:sp>
      <p:sp>
        <p:nvSpPr>
          <p:cNvPr id="50" name="object-47-s0-ux">
            <a:extLst xmlns:a="http://schemas.openxmlformats.org/drawingml/2006/main">
              <a:ext uri="{FF2B5EF4-FFF2-40B4-BE49-F238E27FC236}">
                <a16:creationId xmlns:a16="http://schemas.microsoft.com/office/drawing/2014/main" id="{40D2F5BB-4D73-40F2-8D01-ED5609DE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710" y="3790765"/>
            <a:ext cx="389763" cy="549212"/>
          </a:xfrm>
          <a:prstGeom xmlns:a="http://schemas.openxmlformats.org/drawingml/2006/main" prst="roundRect">
            <a:avLst>
              <a:gd name="adj" fmla="val 733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7717">
            <a:solidFill>
              <a:srgbClr val="087E86"/>
            </a:solidFill>
            <a:prstDash val="solid"/>
          </a:ln>
        </p:spPr>
      </p:sp>
      <p:sp>
        <p:nvSpPr>
          <p:cNvPr id="51" name="object-48-s0-ux">
            <a:extLst xmlns:a="http://schemas.openxmlformats.org/drawingml/2006/main">
              <a:ext uri="{FF2B5EF4-FFF2-40B4-BE49-F238E27FC236}">
                <a16:creationId xmlns:a16="http://schemas.microsoft.com/office/drawing/2014/main" id="{3666F063-13F0-4A63-A884-7F4D935D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699" y="3922925"/>
            <a:ext cx="223986" cy="291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44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44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52" name="object-49-s0-ux">
            <a:extLst xmlns:a="http://schemas.openxmlformats.org/drawingml/2006/main">
              <a:ext uri="{FF2B5EF4-FFF2-40B4-BE49-F238E27FC236}">
                <a16:creationId xmlns:a16="http://schemas.microsoft.com/office/drawing/2014/main" id="{087A5A8B-2C30-4A76-B1C2-35166F8F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370" y="3897064"/>
            <a:ext cx="95" cy="336614"/>
          </a:xfrm>
          <a:custGeom xmlns:a="http://schemas.openxmlformats.org/drawingml/2006/main">
            <a:pathLst>
              <a:path w="95" h="336614">
                <a:moveTo>
                  <a:pt x="0" y="0"/>
                </a:moveTo>
                <a:lnTo>
                  <a:pt x="0" y="3366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53" name="object-50-s0-ux">
            <a:extLst xmlns:a="http://schemas.openxmlformats.org/drawingml/2006/main">
              <a:ext uri="{FF2B5EF4-FFF2-40B4-BE49-F238E27FC236}">
                <a16:creationId xmlns:a16="http://schemas.microsoft.com/office/drawing/2014/main" id="{3F1C217C-A56F-4C99-A336-10FA3855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08" y="3857202"/>
            <a:ext cx="79724" cy="79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858">
            <a:noFill/>
            <a:prstDash val="solid"/>
          </a:ln>
        </p:spPr>
      </p:sp>
      <p:sp>
        <p:nvSpPr>
          <p:cNvPr id="54" name="object-51-s0-ux">
            <a:extLst xmlns:a="http://schemas.openxmlformats.org/drawingml/2006/main">
              <a:ext uri="{FF2B5EF4-FFF2-40B4-BE49-F238E27FC236}">
                <a16:creationId xmlns:a16="http://schemas.microsoft.com/office/drawing/2014/main" id="{E92F4C43-9336-402F-A253-EADB4C62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359" y="4140666"/>
            <a:ext cx="186024" cy="186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55" name="object-52-s0-ux">
            <a:extLst xmlns:a="http://schemas.openxmlformats.org/drawingml/2006/main">
              <a:ext uri="{FF2B5EF4-FFF2-40B4-BE49-F238E27FC236}">
                <a16:creationId xmlns:a16="http://schemas.microsoft.com/office/drawing/2014/main" id="{E6E08E81-AEB3-449A-A92F-F5A7C4D4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363" y="4171670"/>
            <a:ext cx="124016" cy="124016"/>
          </a:xfrm>
          <a:custGeom xmlns:a="http://schemas.openxmlformats.org/drawingml/2006/main">
            <a:pathLst>
              <a:path w="124016" h="124016">
                <a:moveTo>
                  <a:pt x="0" y="62008"/>
                </a:moveTo>
                <a:lnTo>
                  <a:pt x="124016" y="62008"/>
                </a:lnTo>
              </a:path>
              <a:path w="124016" h="124016">
                <a:moveTo>
                  <a:pt x="62008" y="0"/>
                </a:moveTo>
                <a:lnTo>
                  <a:pt x="62008" y="124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56" name="object-53-s0-ux">
            <a:extLst xmlns:a="http://schemas.openxmlformats.org/drawingml/2006/main">
              <a:ext uri="{FF2B5EF4-FFF2-40B4-BE49-F238E27FC236}">
                <a16:creationId xmlns:a16="http://schemas.microsoft.com/office/drawing/2014/main" id="{251766C5-175B-45DC-A2A9-BAAAAB0F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5858" y="4065371"/>
            <a:ext cx="336614" cy="95"/>
          </a:xfrm>
          <a:custGeom xmlns:a="http://schemas.openxmlformats.org/drawingml/2006/main">
            <a:pathLst>
              <a:path w="336614" h="95">
                <a:moveTo>
                  <a:pt x="0" y="0"/>
                </a:moveTo>
                <a:lnTo>
                  <a:pt x="3366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146">
            <a:solidFill>
              <a:srgbClr val="087E86"/>
            </a:solidFill>
            <a:prstDash val="solid"/>
          </a:ln>
        </p:spPr>
      </p:sp>
      <p:sp>
        <p:nvSpPr>
          <p:cNvPr id="57" name="object-53-s0-ux-arrow">
            <a:extLst xmlns:a="http://schemas.openxmlformats.org/drawingml/2006/main">
              <a:ext uri="{FF2B5EF4-FFF2-40B4-BE49-F238E27FC236}">
                <a16:creationId xmlns:a16="http://schemas.microsoft.com/office/drawing/2014/main" id="{84B287E4-C9C6-4BC4-943E-DCECA8D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646" y="4008221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58" name="object-54-s0-ux">
            <a:extLst xmlns:a="http://schemas.openxmlformats.org/drawingml/2006/main">
              <a:ext uri="{FF2B5EF4-FFF2-40B4-BE49-F238E27FC236}">
                <a16:creationId xmlns:a16="http://schemas.microsoft.com/office/drawing/2014/main" id="{F1E51481-6263-429E-87CC-63560CBC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487" y="3897064"/>
            <a:ext cx="1753934" cy="95"/>
          </a:xfrm>
          <a:custGeom xmlns:a="http://schemas.openxmlformats.org/drawingml/2006/main">
            <a:pathLst>
              <a:path w="1753934" h="95">
                <a:moveTo>
                  <a:pt x="0" y="0"/>
                </a:moveTo>
                <a:lnTo>
                  <a:pt x="17539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146">
            <a:solidFill>
              <a:srgbClr val="5E7275"/>
            </a:solidFill>
            <a:prstDash val="solid"/>
          </a:ln>
        </p:spPr>
      </p:sp>
      <p:sp>
        <p:nvSpPr>
          <p:cNvPr id="59" name="object-55-s0-ux">
            <a:extLst xmlns:a="http://schemas.openxmlformats.org/drawingml/2006/main">
              <a:ext uri="{FF2B5EF4-FFF2-40B4-BE49-F238E27FC236}">
                <a16:creationId xmlns:a16="http://schemas.microsoft.com/office/drawing/2014/main" id="{9CEAB255-D4D1-4A7B-81D8-FB4BC9B0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487" y="4233678"/>
            <a:ext cx="1753934" cy="95"/>
          </a:xfrm>
          <a:custGeom xmlns:a="http://schemas.openxmlformats.org/drawingml/2006/main">
            <a:pathLst>
              <a:path w="1753934" h="95">
                <a:moveTo>
                  <a:pt x="0" y="0"/>
                </a:moveTo>
                <a:lnTo>
                  <a:pt x="17539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146">
            <a:solidFill>
              <a:srgbClr val="5E7275"/>
            </a:solidFill>
            <a:prstDash val="solid"/>
          </a:ln>
        </p:spPr>
      </p:sp>
      <p:sp>
        <p:nvSpPr>
          <p:cNvPr id="60" name="object-56-s0-ux">
            <a:extLst xmlns:a="http://schemas.openxmlformats.org/drawingml/2006/main">
              <a:ext uri="{FF2B5EF4-FFF2-40B4-BE49-F238E27FC236}">
                <a16:creationId xmlns:a16="http://schemas.microsoft.com/office/drawing/2014/main" id="{04DC3058-A58C-4250-A3B6-2B12E622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4793" y="3790765"/>
            <a:ext cx="389763" cy="549212"/>
          </a:xfrm>
          <a:prstGeom xmlns:a="http://schemas.openxmlformats.org/drawingml/2006/main" prst="roundRect">
            <a:avLst>
              <a:gd name="adj" fmla="val 733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7717">
            <a:solidFill>
              <a:srgbClr val="087E86"/>
            </a:solidFill>
            <a:prstDash val="solid"/>
          </a:ln>
        </p:spPr>
      </p:sp>
      <p:sp>
        <p:nvSpPr>
          <p:cNvPr id="61" name="object-57-s0-ux">
            <a:extLst xmlns:a="http://schemas.openxmlformats.org/drawingml/2006/main">
              <a:ext uri="{FF2B5EF4-FFF2-40B4-BE49-F238E27FC236}">
                <a16:creationId xmlns:a16="http://schemas.microsoft.com/office/drawing/2014/main" id="{4ECACEDE-A4CE-4E37-AB66-5309DF7B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782" y="3922925"/>
            <a:ext cx="223986" cy="291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44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44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62" name="object-58-s0-ux">
            <a:extLst xmlns:a="http://schemas.openxmlformats.org/drawingml/2006/main">
              <a:ext uri="{FF2B5EF4-FFF2-40B4-BE49-F238E27FC236}">
                <a16:creationId xmlns:a16="http://schemas.microsoft.com/office/drawing/2014/main" id="{0656F8AC-18FD-415F-99E3-1FBE109E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3453" y="3897064"/>
            <a:ext cx="95" cy="336614"/>
          </a:xfrm>
          <a:custGeom xmlns:a="http://schemas.openxmlformats.org/drawingml/2006/main">
            <a:pathLst>
              <a:path w="95" h="336614">
                <a:moveTo>
                  <a:pt x="0" y="0"/>
                </a:moveTo>
                <a:lnTo>
                  <a:pt x="0" y="3366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63" name="object-59-s0-ux">
            <a:extLst xmlns:a="http://schemas.openxmlformats.org/drawingml/2006/main">
              <a:ext uri="{FF2B5EF4-FFF2-40B4-BE49-F238E27FC236}">
                <a16:creationId xmlns:a16="http://schemas.microsoft.com/office/drawing/2014/main" id="{B9EDC3D6-8F70-4E79-8878-39F1B075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592" y="3857202"/>
            <a:ext cx="79724" cy="79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858">
            <a:noFill/>
            <a:prstDash val="solid"/>
          </a:ln>
        </p:spPr>
      </p:sp>
      <p:sp>
        <p:nvSpPr>
          <p:cNvPr id="64" name="object-60-s0-ux">
            <a:extLst xmlns:a="http://schemas.openxmlformats.org/drawingml/2006/main">
              <a:ext uri="{FF2B5EF4-FFF2-40B4-BE49-F238E27FC236}">
                <a16:creationId xmlns:a16="http://schemas.microsoft.com/office/drawing/2014/main" id="{E6E06280-D573-493B-AD4D-F1D55123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442" y="4140666"/>
            <a:ext cx="186022" cy="186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65" name="object-61-s0-ux">
            <a:extLst xmlns:a="http://schemas.openxmlformats.org/drawingml/2006/main">
              <a:ext uri="{FF2B5EF4-FFF2-40B4-BE49-F238E27FC236}">
                <a16:creationId xmlns:a16="http://schemas.microsoft.com/office/drawing/2014/main" id="{DD159322-8985-42F3-9875-6EC935FE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446" y="4171670"/>
            <a:ext cx="124016" cy="124016"/>
          </a:xfrm>
          <a:custGeom xmlns:a="http://schemas.openxmlformats.org/drawingml/2006/main">
            <a:pathLst>
              <a:path w="124016" h="124016">
                <a:moveTo>
                  <a:pt x="0" y="62008"/>
                </a:moveTo>
                <a:lnTo>
                  <a:pt x="124016" y="62008"/>
                </a:lnTo>
              </a:path>
              <a:path w="124016" h="124016">
                <a:moveTo>
                  <a:pt x="62008" y="0"/>
                </a:moveTo>
                <a:lnTo>
                  <a:pt x="62008" y="124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66" name="object-62-s0-ux">
            <a:extLst xmlns:a="http://schemas.openxmlformats.org/drawingml/2006/main">
              <a:ext uri="{FF2B5EF4-FFF2-40B4-BE49-F238E27FC236}">
                <a16:creationId xmlns:a16="http://schemas.microsoft.com/office/drawing/2014/main" id="{25E8348F-F20E-4358-8472-9F8D55A1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32" y="3897064"/>
            <a:ext cx="95" cy="336614"/>
          </a:xfrm>
          <a:custGeom xmlns:a="http://schemas.openxmlformats.org/drawingml/2006/main">
            <a:pathLst>
              <a:path w="95" h="336614">
                <a:moveTo>
                  <a:pt x="0" y="0"/>
                </a:moveTo>
                <a:lnTo>
                  <a:pt x="0" y="3366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67" name="object-63-s0-ux">
            <a:extLst xmlns:a="http://schemas.openxmlformats.org/drawingml/2006/main">
              <a:ext uri="{FF2B5EF4-FFF2-40B4-BE49-F238E27FC236}">
                <a16:creationId xmlns:a16="http://schemas.microsoft.com/office/drawing/2014/main" id="{3231C30D-3CF8-4925-80B7-A13D3488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369" y="3857202"/>
            <a:ext cx="79724" cy="79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858">
            <a:noFill/>
            <a:prstDash val="solid"/>
          </a:ln>
        </p:spPr>
      </p:sp>
      <p:sp>
        <p:nvSpPr>
          <p:cNvPr id="68" name="object-64-s0-ux">
            <a:extLst xmlns:a="http://schemas.openxmlformats.org/drawingml/2006/main">
              <a:ext uri="{FF2B5EF4-FFF2-40B4-BE49-F238E27FC236}">
                <a16:creationId xmlns:a16="http://schemas.microsoft.com/office/drawing/2014/main" id="{F28F2883-7EDB-4AE5-A6D2-1CBE6EEE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220" y="4140666"/>
            <a:ext cx="186024" cy="186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69" name="object-65-s0-ux">
            <a:extLst xmlns:a="http://schemas.openxmlformats.org/drawingml/2006/main">
              <a:ext uri="{FF2B5EF4-FFF2-40B4-BE49-F238E27FC236}">
                <a16:creationId xmlns:a16="http://schemas.microsoft.com/office/drawing/2014/main" id="{C385743A-29F4-4245-8626-1B321846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224" y="4171670"/>
            <a:ext cx="124016" cy="124016"/>
          </a:xfrm>
          <a:custGeom xmlns:a="http://schemas.openxmlformats.org/drawingml/2006/main">
            <a:pathLst>
              <a:path w="124016" h="124016">
                <a:moveTo>
                  <a:pt x="0" y="62008"/>
                </a:moveTo>
                <a:lnTo>
                  <a:pt x="124016" y="62008"/>
                </a:lnTo>
              </a:path>
              <a:path w="124016" h="124016">
                <a:moveTo>
                  <a:pt x="62008" y="0"/>
                </a:moveTo>
                <a:lnTo>
                  <a:pt x="62008" y="124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70" name="object-66-s0-ux">
            <a:extLst xmlns:a="http://schemas.openxmlformats.org/drawingml/2006/main">
              <a:ext uri="{FF2B5EF4-FFF2-40B4-BE49-F238E27FC236}">
                <a16:creationId xmlns:a16="http://schemas.microsoft.com/office/drawing/2014/main" id="{FFE34DC8-2297-4632-B1F9-D6515FB8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897064"/>
            <a:ext cx="1923669" cy="95"/>
          </a:xfrm>
          <a:custGeom xmlns:a="http://schemas.openxmlformats.org/drawingml/2006/main">
            <a:pathLst>
              <a:path w="1923669" h="95">
                <a:moveTo>
                  <a:pt x="0" y="0"/>
                </a:moveTo>
                <a:lnTo>
                  <a:pt x="1923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5E7275"/>
            </a:solidFill>
            <a:prstDash val="solid"/>
          </a:ln>
        </p:spPr>
      </p:sp>
      <p:sp>
        <p:nvSpPr>
          <p:cNvPr id="71" name="object-67-s0-ux">
            <a:extLst xmlns:a="http://schemas.openxmlformats.org/drawingml/2006/main">
              <a:ext uri="{FF2B5EF4-FFF2-40B4-BE49-F238E27FC236}">
                <a16:creationId xmlns:a16="http://schemas.microsoft.com/office/drawing/2014/main" id="{05C2424F-302C-4B2A-9BB7-3C89F72F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266253"/>
            <a:ext cx="1923669" cy="95"/>
          </a:xfrm>
          <a:custGeom xmlns:a="http://schemas.openxmlformats.org/drawingml/2006/main">
            <a:pathLst>
              <a:path w="1923669" h="95">
                <a:moveTo>
                  <a:pt x="0" y="0"/>
                </a:moveTo>
                <a:lnTo>
                  <a:pt x="1923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5E7275"/>
            </a:solidFill>
            <a:prstDash val="solid"/>
          </a:ln>
        </p:spPr>
      </p:sp>
      <p:sp>
        <p:nvSpPr>
          <p:cNvPr id="72" name="object-68-s0-ux">
            <a:extLst xmlns:a="http://schemas.openxmlformats.org/drawingml/2006/main">
              <a:ext uri="{FF2B5EF4-FFF2-40B4-BE49-F238E27FC236}">
                <a16:creationId xmlns:a16="http://schemas.microsoft.com/office/drawing/2014/main" id="{C5B8AE42-C70A-4BE2-954F-6FC60F60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060" y="3897064"/>
            <a:ext cx="95" cy="369189"/>
          </a:xfrm>
          <a:custGeom xmlns:a="http://schemas.openxmlformats.org/drawingml/2006/main">
            <a:pathLst>
              <a:path w="95" h="369189">
                <a:moveTo>
                  <a:pt x="0" y="0"/>
                </a:moveTo>
                <a:lnTo>
                  <a:pt x="0" y="3691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4289">
            <a:solidFill>
              <a:srgbClr val="D66A3E"/>
            </a:solidFill>
            <a:prstDash val="solid"/>
          </a:ln>
        </p:spPr>
      </p:sp>
      <p:sp>
        <p:nvSpPr>
          <p:cNvPr id="73" name="object-69-s0-ux">
            <a:extLst xmlns:a="http://schemas.openxmlformats.org/drawingml/2006/main">
              <a:ext uri="{FF2B5EF4-FFF2-40B4-BE49-F238E27FC236}">
                <a16:creationId xmlns:a16="http://schemas.microsoft.com/office/drawing/2014/main" id="{F47F60A5-8256-43E6-896D-A0526CB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341" y="3853345"/>
            <a:ext cx="87440" cy="874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715">
            <a:noFill/>
            <a:prstDash val="solid"/>
          </a:ln>
        </p:spPr>
      </p:sp>
      <p:sp>
        <p:nvSpPr>
          <p:cNvPr id="74" name="object-70-s0-ux">
            <a:extLst xmlns:a="http://schemas.openxmlformats.org/drawingml/2006/main">
              <a:ext uri="{FF2B5EF4-FFF2-40B4-BE49-F238E27FC236}">
                <a16:creationId xmlns:a16="http://schemas.microsoft.com/office/drawing/2014/main" id="{623B5E1F-B919-40AB-AF8E-34112D07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341" y="4222534"/>
            <a:ext cx="87440" cy="874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715">
            <a:noFill/>
            <a:prstDash val="solid"/>
          </a:ln>
        </p:spPr>
      </p:sp>
      <p:sp>
        <p:nvSpPr>
          <p:cNvPr id="75" name="object-71-s0-ux">
            <a:extLst xmlns:a="http://schemas.openxmlformats.org/drawingml/2006/main">
              <a:ext uri="{FF2B5EF4-FFF2-40B4-BE49-F238E27FC236}">
                <a16:creationId xmlns:a16="http://schemas.microsoft.com/office/drawing/2014/main" id="{99192A6E-B80D-4925-90E9-4E5A15D2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818" y="3780479"/>
            <a:ext cx="427482" cy="602361"/>
          </a:xfrm>
          <a:prstGeom xmlns:a="http://schemas.openxmlformats.org/drawingml/2006/main" prst="roundRect">
            <a:avLst>
              <a:gd name="adj" fmla="val 6684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431">
            <a:solidFill>
              <a:srgbClr val="087E86"/>
            </a:solidFill>
            <a:prstDash val="solid"/>
          </a:ln>
        </p:spPr>
      </p:sp>
      <p:sp>
        <p:nvSpPr>
          <p:cNvPr id="76" name="object-72-s0-ux">
            <a:extLst xmlns:a="http://schemas.openxmlformats.org/drawingml/2006/main">
              <a:ext uri="{FF2B5EF4-FFF2-40B4-BE49-F238E27FC236}">
                <a16:creationId xmlns:a16="http://schemas.microsoft.com/office/drawing/2014/main" id="{120E87C1-84CC-45E4-98FA-9DB9CEA3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522" y="3925735"/>
            <a:ext cx="238274" cy="315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2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12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77" name="object-73-s0-ux">
            <a:extLst xmlns:a="http://schemas.openxmlformats.org/drawingml/2006/main">
              <a:ext uri="{FF2B5EF4-FFF2-40B4-BE49-F238E27FC236}">
                <a16:creationId xmlns:a16="http://schemas.microsoft.com/office/drawing/2014/main" id="{7D3BF4FF-6B28-4E32-9940-6CB2AC53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058" y="3897064"/>
            <a:ext cx="95" cy="369189"/>
          </a:xfrm>
          <a:custGeom xmlns:a="http://schemas.openxmlformats.org/drawingml/2006/main">
            <a:pathLst>
              <a:path w="95" h="369189">
                <a:moveTo>
                  <a:pt x="0" y="0"/>
                </a:moveTo>
                <a:lnTo>
                  <a:pt x="0" y="3691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4289">
            <a:solidFill>
              <a:srgbClr val="D66A3E"/>
            </a:solidFill>
            <a:prstDash val="solid"/>
          </a:ln>
        </p:spPr>
      </p:sp>
      <p:sp>
        <p:nvSpPr>
          <p:cNvPr id="78" name="object-74-s0-ux">
            <a:extLst xmlns:a="http://schemas.openxmlformats.org/drawingml/2006/main">
              <a:ext uri="{FF2B5EF4-FFF2-40B4-BE49-F238E27FC236}">
                <a16:creationId xmlns:a16="http://schemas.microsoft.com/office/drawing/2014/main" id="{D534D9FC-B031-4E39-B852-74994ED8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339" y="3853345"/>
            <a:ext cx="87440" cy="874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715">
            <a:noFill/>
            <a:prstDash val="solid"/>
          </a:ln>
        </p:spPr>
      </p:sp>
      <p:sp>
        <p:nvSpPr>
          <p:cNvPr id="79" name="object-75-s0-ux">
            <a:extLst xmlns:a="http://schemas.openxmlformats.org/drawingml/2006/main">
              <a:ext uri="{FF2B5EF4-FFF2-40B4-BE49-F238E27FC236}">
                <a16:creationId xmlns:a16="http://schemas.microsoft.com/office/drawing/2014/main" id="{C2755BBB-54F4-410B-9993-7F1ACD66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046" y="4164241"/>
            <a:ext cx="204026" cy="204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4289">
            <a:solidFill>
              <a:srgbClr val="D66A3E"/>
            </a:solidFill>
            <a:prstDash val="solid"/>
          </a:ln>
        </p:spPr>
      </p:sp>
      <p:sp>
        <p:nvSpPr>
          <p:cNvPr id="80" name="object-76-s0-ux">
            <a:extLst xmlns:a="http://schemas.openxmlformats.org/drawingml/2006/main">
              <a:ext uri="{FF2B5EF4-FFF2-40B4-BE49-F238E27FC236}">
                <a16:creationId xmlns:a16="http://schemas.microsoft.com/office/drawing/2014/main" id="{64346777-F5AC-4B64-9EEC-5D713479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98245"/>
            <a:ext cx="136017" cy="136017"/>
          </a:xfrm>
          <a:custGeom xmlns:a="http://schemas.openxmlformats.org/drawingml/2006/main">
            <a:pathLst>
              <a:path w="136017" h="136017">
                <a:moveTo>
                  <a:pt x="0" y="68008"/>
                </a:moveTo>
                <a:lnTo>
                  <a:pt x="136017" y="68008"/>
                </a:lnTo>
              </a:path>
              <a:path w="136017" h="136017">
                <a:moveTo>
                  <a:pt x="68008" y="0"/>
                </a:moveTo>
                <a:lnTo>
                  <a:pt x="68008" y="1360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4289">
            <a:solidFill>
              <a:srgbClr val="D66A3E"/>
            </a:solidFill>
            <a:prstDash val="solid"/>
          </a:ln>
        </p:spPr>
      </p:sp>
      <p:sp>
        <p:nvSpPr>
          <p:cNvPr id="81" name="object-77-s0-ux">
            <a:extLst xmlns:a="http://schemas.openxmlformats.org/drawingml/2006/main">
              <a:ext uri="{FF2B5EF4-FFF2-40B4-BE49-F238E27FC236}">
                <a16:creationId xmlns:a16="http://schemas.microsoft.com/office/drawing/2014/main" id="{B10CBDF0-7781-407C-ACAA-30E433AB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980" y="4081659"/>
            <a:ext cx="369189" cy="95"/>
          </a:xfrm>
          <a:custGeom xmlns:a="http://schemas.openxmlformats.org/drawingml/2006/main">
            <a:pathLst>
              <a:path w="369189" h="95">
                <a:moveTo>
                  <a:pt x="0" y="0"/>
                </a:moveTo>
                <a:lnTo>
                  <a:pt x="3691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087E86"/>
            </a:solidFill>
            <a:prstDash val="solid"/>
          </a:ln>
        </p:spPr>
      </p:sp>
      <p:sp>
        <p:nvSpPr>
          <p:cNvPr id="82" name="object-77-s0-ux-arrow">
            <a:extLst xmlns:a="http://schemas.openxmlformats.org/drawingml/2006/main">
              <a:ext uri="{FF2B5EF4-FFF2-40B4-BE49-F238E27FC236}">
                <a16:creationId xmlns:a16="http://schemas.microsoft.com/office/drawing/2014/main" id="{18E54B4A-935A-4C11-8025-378C67A0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344" y="4024509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83" name="object-78-s0-ux">
            <a:extLst xmlns:a="http://schemas.openxmlformats.org/drawingml/2006/main">
              <a:ext uri="{FF2B5EF4-FFF2-40B4-BE49-F238E27FC236}">
                <a16:creationId xmlns:a16="http://schemas.microsoft.com/office/drawing/2014/main" id="{9BB24AC5-4954-464C-B567-ACDE3363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186" y="3897064"/>
            <a:ext cx="796671" cy="95"/>
          </a:xfrm>
          <a:custGeom xmlns:a="http://schemas.openxmlformats.org/drawingml/2006/main">
            <a:pathLst>
              <a:path w="796671" h="95">
                <a:moveTo>
                  <a:pt x="0" y="0"/>
                </a:moveTo>
                <a:lnTo>
                  <a:pt x="7966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5E7275"/>
            </a:solidFill>
            <a:prstDash val="solid"/>
          </a:ln>
        </p:spPr>
      </p:sp>
      <p:sp>
        <p:nvSpPr>
          <p:cNvPr id="84" name="object-79-s0-ux">
            <a:extLst xmlns:a="http://schemas.openxmlformats.org/drawingml/2006/main">
              <a:ext uri="{FF2B5EF4-FFF2-40B4-BE49-F238E27FC236}">
                <a16:creationId xmlns:a16="http://schemas.microsoft.com/office/drawing/2014/main" id="{AF5E3B4D-4FD9-4B0D-B3FA-3EC0B46C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186" y="4266253"/>
            <a:ext cx="796671" cy="95"/>
          </a:xfrm>
          <a:custGeom xmlns:a="http://schemas.openxmlformats.org/drawingml/2006/main">
            <a:pathLst>
              <a:path w="796671" h="95">
                <a:moveTo>
                  <a:pt x="0" y="0"/>
                </a:moveTo>
                <a:lnTo>
                  <a:pt x="7966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5E7275"/>
            </a:solidFill>
            <a:prstDash val="solid"/>
          </a:ln>
        </p:spPr>
      </p:sp>
      <p:sp>
        <p:nvSpPr>
          <p:cNvPr id="85" name="object-80-s0-ux">
            <a:extLst xmlns:a="http://schemas.openxmlformats.org/drawingml/2006/main">
              <a:ext uri="{FF2B5EF4-FFF2-40B4-BE49-F238E27FC236}">
                <a16:creationId xmlns:a16="http://schemas.microsoft.com/office/drawing/2014/main" id="{E06B7561-A1DE-4F70-9741-611CF230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780" y="3780479"/>
            <a:ext cx="427482" cy="602361"/>
          </a:xfrm>
          <a:prstGeom xmlns:a="http://schemas.openxmlformats.org/drawingml/2006/main" prst="roundRect">
            <a:avLst>
              <a:gd name="adj" fmla="val 6684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431">
            <a:solidFill>
              <a:srgbClr val="087E86"/>
            </a:solidFill>
            <a:prstDash val="solid"/>
          </a:ln>
        </p:spPr>
      </p:sp>
      <p:sp>
        <p:nvSpPr>
          <p:cNvPr id="86" name="object-81-s0-ux">
            <a:extLst xmlns:a="http://schemas.openxmlformats.org/drawingml/2006/main">
              <a:ext uri="{FF2B5EF4-FFF2-40B4-BE49-F238E27FC236}">
                <a16:creationId xmlns:a16="http://schemas.microsoft.com/office/drawing/2014/main" id="{DA105F9C-9519-4252-9D39-40E739E1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485" y="3925735"/>
            <a:ext cx="238274" cy="315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2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12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87" name="object-82-s0-ux">
            <a:extLst xmlns:a="http://schemas.openxmlformats.org/drawingml/2006/main">
              <a:ext uri="{FF2B5EF4-FFF2-40B4-BE49-F238E27FC236}">
                <a16:creationId xmlns:a16="http://schemas.microsoft.com/office/drawing/2014/main" id="{E9E9661B-E0C8-4C21-B4C3-5A369787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30164"/>
            <a:ext cx="990600" cy="95"/>
          </a:xfrm>
          <a:custGeom xmlns:a="http://schemas.openxmlformats.org/drawingml/2006/main">
            <a:pathLst>
              <a:path w="990600" h="9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88" name="object-82-s0-ux-arrow">
            <a:extLst xmlns:a="http://schemas.openxmlformats.org/drawingml/2006/main">
              <a:ext uri="{FF2B5EF4-FFF2-40B4-BE49-F238E27FC236}">
                <a16:creationId xmlns:a16="http://schemas.microsoft.com/office/drawing/2014/main" id="{D053F9C1-93DA-48CC-B1CC-D14A06B5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973014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89" name="object-83-s0-ux">
            <a:extLst xmlns:a="http://schemas.openxmlformats.org/drawingml/2006/main">
              <a:ext uri="{FF2B5EF4-FFF2-40B4-BE49-F238E27FC236}">
                <a16:creationId xmlns:a16="http://schemas.microsoft.com/office/drawing/2014/main" id="{9ACB1764-07AD-4F77-BEF8-FAD3C64D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027" y="1672024"/>
            <a:ext cx="1118146" cy="194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representatives</a:t>
            </a:r>
          </a:p>
        </p:txBody>
      </p:sp>
      <p:sp>
        <p:nvSpPr>
          <p:cNvPr id="90" name="object-84-s0-ux">
            <a:extLst xmlns:a="http://schemas.openxmlformats.org/drawingml/2006/main">
              <a:ext uri="{FF2B5EF4-FFF2-40B4-BE49-F238E27FC236}">
                <a16:creationId xmlns:a16="http://schemas.microsoft.com/office/drawing/2014/main" id="{9B0134D4-2ED2-44AD-B67F-C8AD448B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35014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91" name="object-84-s0-ux-arrow">
            <a:extLst xmlns:a="http://schemas.openxmlformats.org/drawingml/2006/main">
              <a:ext uri="{FF2B5EF4-FFF2-40B4-BE49-F238E27FC236}">
                <a16:creationId xmlns:a16="http://schemas.microsoft.com/office/drawing/2014/main" id="{ABFDD2E4-3A6D-443D-BDF1-95A96C8F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8389"/>
            <a:ext cx="114300" cy="123825"/>
          </a:xfrm>
          <a:custGeom xmlns:a="http://schemas.openxmlformats.org/drawingml/2006/main">
            <a:pathLst>
              <a:path w="114300" h="123825">
                <a:moveTo>
                  <a:pt x="57150" y="123825"/>
                </a:move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92" name="object-85-s0-ux">
            <a:extLst xmlns:a="http://schemas.openxmlformats.org/drawingml/2006/main">
              <a:ext uri="{FF2B5EF4-FFF2-40B4-BE49-F238E27FC236}">
                <a16:creationId xmlns:a16="http://schemas.microsoft.com/office/drawing/2014/main" id="{0F5C84E8-05F2-4D8A-AC44-01D9B8BD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32169"/>
            <a:ext cx="106233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S CZ = CX S</a:t>
            </a:r>
          </a:p>
        </p:txBody>
      </p:sp>
      <p:sp>
        <p:nvSpPr>
          <p:cNvPr id="93" name="object-86-s0-ux">
            <a:extLst xmlns:a="http://schemas.openxmlformats.org/drawingml/2006/main">
              <a:ext uri="{FF2B5EF4-FFF2-40B4-BE49-F238E27FC236}">
                <a16:creationId xmlns:a16="http://schemas.microsoft.com/office/drawing/2014/main" id="{CCDF3C46-9CFF-443E-828B-D10E32A9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06589"/>
            <a:ext cx="990600" cy="95"/>
          </a:xfrm>
          <a:custGeom xmlns:a="http://schemas.openxmlformats.org/drawingml/2006/main">
            <a:pathLst>
              <a:path w="990600" h="95">
                <a:moveTo>
                  <a:pt x="9906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94" name="object-86-s0-ux-arrow">
            <a:extLst xmlns:a="http://schemas.openxmlformats.org/drawingml/2006/main">
              <a:ext uri="{FF2B5EF4-FFF2-40B4-BE49-F238E27FC236}">
                <a16:creationId xmlns:a16="http://schemas.microsoft.com/office/drawing/2014/main" id="{4E28EB33-3884-42AF-946F-8231A29D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49439"/>
            <a:ext cx="123825" cy="114300"/>
          </a:xfrm>
          <a:custGeom xmlns:a="http://schemas.openxmlformats.org/drawingml/2006/main">
            <a:pathLst>
              <a:path w="123825" h="114300">
                <a:moveTo>
                  <a:pt x="0" y="57150"/>
                </a:moveTo>
                <a:lnTo>
                  <a:pt x="123825" y="114300"/>
                </a:lnTo>
                <a:lnTo>
                  <a:pt x="123825" y="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95" name="object-87-s0-ux">
            <a:extLst xmlns:a="http://schemas.openxmlformats.org/drawingml/2006/main">
              <a:ext uri="{FF2B5EF4-FFF2-40B4-BE49-F238E27FC236}">
                <a16:creationId xmlns:a16="http://schemas.microsoft.com/office/drawing/2014/main" id="{C5916602-3476-4CA2-85C0-7E12BED9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019" y="3548449"/>
            <a:ext cx="1008162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anchored rule</a:t>
            </a:r>
          </a:p>
        </p:txBody>
      </p:sp>
      <p:sp>
        <p:nvSpPr>
          <p:cNvPr id="96" name="object-88-s0-ux">
            <a:extLst xmlns:a="http://schemas.openxmlformats.org/drawingml/2006/main">
              <a:ext uri="{FF2B5EF4-FFF2-40B4-BE49-F238E27FC236}">
                <a16:creationId xmlns:a16="http://schemas.microsoft.com/office/drawing/2014/main" id="{8F1C4831-43A9-4DD4-969E-56058C06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35014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97" name="object-88-s0-ux-arrow">
            <a:extLst xmlns:a="http://schemas.openxmlformats.org/drawingml/2006/main">
              <a:ext uri="{FF2B5EF4-FFF2-40B4-BE49-F238E27FC236}">
                <a16:creationId xmlns:a16="http://schemas.microsoft.com/office/drawing/2014/main" id="{CCF195DA-78CD-4F60-B056-4F9B0149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8389"/>
            <a:ext cx="114300" cy="123825"/>
          </a:xfrm>
          <a:custGeom xmlns:a="http://schemas.openxmlformats.org/drawingml/2006/main">
            <a:pathLst>
              <a:path w="114300" h="123825">
                <a:moveTo>
                  <a:pt x="57150" y="123825"/>
                </a:move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98" name="object-89-s0-ux">
            <a:extLst xmlns:a="http://schemas.openxmlformats.org/drawingml/2006/main">
              <a:ext uri="{FF2B5EF4-FFF2-40B4-BE49-F238E27FC236}">
                <a16:creationId xmlns:a16="http://schemas.microsoft.com/office/drawing/2014/main" id="{596DA302-7CCA-4B52-998F-88982EB4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2172"/>
            <a:ext cx="1093291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concrete rules</a:t>
            </a:r>
          </a:p>
        </p:txBody>
      </p:sp>
      <p:sp>
        <p:nvSpPr>
          <p:cNvPr id="99" name="object-90-s0-ux">
            <a:extLst xmlns:a="http://schemas.openxmlformats.org/drawingml/2006/main">
              <a:ext uri="{FF2B5EF4-FFF2-40B4-BE49-F238E27FC236}">
                <a16:creationId xmlns:a16="http://schemas.microsoft.com/office/drawing/2014/main" id="{FA46B76F-E290-429C-9BAD-80FA5400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2877"/>
            <a:ext cx="78864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L = CZ</a:t>
            </a:r>
          </a:p>
        </p:txBody>
      </p:sp>
      <p:sp>
        <p:nvSpPr>
          <p:cNvPr id="100" name="object-91-s0-ux">
            <a:extLst xmlns:a="http://schemas.openxmlformats.org/drawingml/2006/main">
              <a:ext uri="{FF2B5EF4-FFF2-40B4-BE49-F238E27FC236}">
                <a16:creationId xmlns:a16="http://schemas.microsoft.com/office/drawing/2014/main" id="{8B73F740-4405-4A99-B5D8-D76DC045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2877"/>
            <a:ext cx="85040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R = CX</a:t>
            </a:r>
          </a:p>
        </p:txBody>
      </p:sp>
      <p:sp>
        <p:nvSpPr>
          <p:cNvPr id="101" name="object-92-s0-ux">
            <a:extLst xmlns:a="http://schemas.openxmlformats.org/drawingml/2006/main">
              <a:ext uri="{FF2B5EF4-FFF2-40B4-BE49-F238E27FC236}">
                <a16:creationId xmlns:a16="http://schemas.microsoft.com/office/drawing/2014/main" id="{5E9146E5-8750-4DA5-BA54-D127F692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13407"/>
            <a:ext cx="426154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Different gates; equal eigenvalue multisets.</a:t>
            </a:r>
          </a:p>
        </p:txBody>
      </p:sp>
      <p:sp>
        <p:nvSpPr>
          <p:cNvPr id="102" name="object-93-s0-ux">
            <a:extLst xmlns:a="http://schemas.openxmlformats.org/drawingml/2006/main">
              <a:ext uri="{FF2B5EF4-FFF2-40B4-BE49-F238E27FC236}">
                <a16:creationId xmlns:a16="http://schemas.microsoft.com/office/drawing/2014/main" id="{E79C79A6-91EC-4FDC-AEA7-0F24D0D6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93354"/>
            <a:ext cx="3900041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Match S → move CZ as CX → cancel</a:t>
            </a:r>
          </a:p>
        </p:txBody>
      </p:sp>
      <p:sp>
        <p:nvSpPr>
          <p:cNvPr id="103" name="object-94-s0-ux">
            <a:extLst xmlns:a="http://schemas.openxmlformats.org/drawingml/2006/main">
              <a:ext uri="{FF2B5EF4-FFF2-40B4-BE49-F238E27FC236}">
                <a16:creationId xmlns:a16="http://schemas.microsoft.com/office/drawing/2014/main" id="{2FFEAEEA-723C-433E-A0D2-A9FD27C0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13407"/>
            <a:ext cx="2950071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Remove one CZ and one CX.</a:t>
            </a:r>
          </a:p>
        </p:txBody>
      </p:sp>
      <p:sp>
        <p:nvSpPr>
          <p:cNvPr id="104" name="object-95-s0-ux">
            <a:extLst xmlns:a="http://schemas.openxmlformats.org/drawingml/2006/main">
              <a:ext uri="{FF2B5EF4-FFF2-40B4-BE49-F238E27FC236}">
                <a16:creationId xmlns:a16="http://schemas.microsoft.com/office/drawing/2014/main" id="{7413A662-163E-4502-987E-8D0B346B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4954637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Illustrative gate set: {CZ, CX, H, Rz, X, SX}. Circuit time runs left to right.</a:t>
            </a:r>
          </a:p>
        </p:txBody>
      </p:sp>
      <p:sp>
        <p:nvSpPr>
          <p:cNvPr id="105" name="object-96-s0-ux">
            <a:extLst xmlns:a="http://schemas.openxmlformats.org/drawingml/2006/main">
              <a:ext uri="{FF2B5EF4-FFF2-40B4-BE49-F238E27FC236}">
                <a16:creationId xmlns:a16="http://schemas.microsoft.com/office/drawing/2014/main" id="{A82DCB0A-6709-4732-AD60-3D8E4D54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74000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QSymb synthesis / anchoring methods; CZ → CX illustration derived for this talk</a:t>
            </a:r>
          </a:p>
        </p:txBody>
      </p:sp>
      <p:sp>
        <p:nvSpPr>
          <p:cNvPr id="106" name="object-97-s0-ux">
            <a:extLst xmlns:a="http://schemas.openxmlformats.org/drawingml/2006/main">
              <a:ext uri="{FF2B5EF4-FFF2-40B4-BE49-F238E27FC236}">
                <a16:creationId xmlns:a16="http://schemas.microsoft.com/office/drawing/2014/main" id="{249A732F-1855-41FB-B345-F81D25C6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</p:spTree>
    <p:extLst>
      <p:ext uri="{BB962C8B-B14F-4D97-AF65-F5344CB8AC3E}">
        <p14:creationId xmlns:p14="http://schemas.microsoft.com/office/powerpoint/2010/main" val="1005628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C2E5904-67D5-4D4C-A276-2AA922ED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7177C7F1-6022-42A2-B50C-084225DA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9649152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synthesis learns rules and filters redundancy</a:t>
            </a:r>
          </a:p>
        </p:txBody>
      </p:sp>
      <p:sp>
        <p:nvSpPr>
          <p:cNvPr id="3" name="object-32-s1-ux">
            <a:extLst xmlns:a="http://schemas.openxmlformats.org/drawingml/2006/main">
              <a:ext uri="{FF2B5EF4-FFF2-40B4-BE49-F238E27FC236}">
                <a16:creationId xmlns:a16="http://schemas.microsoft.com/office/drawing/2014/main" id="{FF732DEA-C448-421D-AFB4-A7C1E55F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4" name="object-33-s1-ux">
            <a:extLst xmlns:a="http://schemas.openxmlformats.org/drawingml/2006/main">
              <a:ext uri="{FF2B5EF4-FFF2-40B4-BE49-F238E27FC236}">
                <a16:creationId xmlns:a16="http://schemas.microsoft.com/office/drawing/2014/main" id="{10B3EA0B-EEA2-4275-86A8-4B579A4C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15" y="1244352"/>
            <a:ext cx="1585020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Identity class</a:t>
            </a:r>
          </a:p>
        </p:txBody>
      </p:sp>
      <p:sp>
        <p:nvSpPr>
          <p:cNvPr id="5" name="object-34-s1-ux">
            <a:extLst xmlns:a="http://schemas.openxmlformats.org/drawingml/2006/main">
              <a:ext uri="{FF2B5EF4-FFF2-40B4-BE49-F238E27FC236}">
                <a16:creationId xmlns:a16="http://schemas.microsoft.com/office/drawing/2014/main" id="{68541708-E013-4055-8A96-5A32CEA6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6" name="object-35-s1-ux">
            <a:extLst xmlns:a="http://schemas.openxmlformats.org/drawingml/2006/main">
              <a:ext uri="{FF2B5EF4-FFF2-40B4-BE49-F238E27FC236}">
                <a16:creationId xmlns:a16="http://schemas.microsoft.com/office/drawing/2014/main" id="{E14B0AE3-3FB6-4423-9FAF-FFD7EE23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207" y="1244352"/>
            <a:ext cx="105578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CZ class</a:t>
            </a:r>
          </a:p>
        </p:txBody>
      </p:sp>
      <p:sp>
        <p:nvSpPr>
          <p:cNvPr id="7" name="object-36-s1-ux">
            <a:extLst xmlns:a="http://schemas.openxmlformats.org/drawingml/2006/main">
              <a:ext uri="{FF2B5EF4-FFF2-40B4-BE49-F238E27FC236}">
                <a16:creationId xmlns:a16="http://schemas.microsoft.com/office/drawing/2014/main" id="{24CA058F-3910-4607-91F1-88225EFC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8" name="object-37-s1-ux">
            <a:extLst xmlns:a="http://schemas.openxmlformats.org/drawingml/2006/main">
              <a:ext uri="{FF2B5EF4-FFF2-40B4-BE49-F238E27FC236}">
                <a16:creationId xmlns:a16="http://schemas.microsoft.com/office/drawing/2014/main" id="{CA346172-5A66-4F19-994F-15D8D0A6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884" y="1244352"/>
            <a:ext cx="10691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CX class</a:t>
            </a:r>
          </a:p>
        </p:txBody>
      </p:sp>
      <p:sp>
        <p:nvSpPr>
          <p:cNvPr id="9" name="object-38-s1-ux">
            <a:extLst xmlns:a="http://schemas.openxmlformats.org/drawingml/2006/main">
              <a:ext uri="{FF2B5EF4-FFF2-40B4-BE49-F238E27FC236}">
                <a16:creationId xmlns:a16="http://schemas.microsoft.com/office/drawing/2014/main" id="{07E1CBD5-50D4-4484-9D0C-DF40A8C0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763464"/>
            <a:ext cx="838200" cy="95"/>
          </a:xfrm>
          <a:custGeom xmlns:a="http://schemas.openxmlformats.org/drawingml/2006/main">
            <a:pathLst>
              <a:path w="838200" h="9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10" name="object-39-s1-ux">
            <a:extLst xmlns:a="http://schemas.openxmlformats.org/drawingml/2006/main">
              <a:ext uri="{FF2B5EF4-FFF2-40B4-BE49-F238E27FC236}">
                <a16:creationId xmlns:a16="http://schemas.microsoft.com/office/drawing/2014/main" id="{141E5634-4D95-476A-AB59-DEBA4B6F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25414"/>
            <a:ext cx="838200" cy="95"/>
          </a:xfrm>
          <a:custGeom xmlns:a="http://schemas.openxmlformats.org/drawingml/2006/main">
            <a:pathLst>
              <a:path w="838200" h="9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11" name="object-40-s1-ux">
            <a:extLst xmlns:a="http://schemas.openxmlformats.org/drawingml/2006/main">
              <a:ext uri="{FF2B5EF4-FFF2-40B4-BE49-F238E27FC236}">
                <a16:creationId xmlns:a16="http://schemas.microsoft.com/office/drawing/2014/main" id="{24EA20E1-5244-47BF-993A-BB3B7826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82589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2" name="object-41-s1-ux">
            <a:extLst xmlns:a="http://schemas.openxmlformats.org/drawingml/2006/main">
              <a:ext uri="{FF2B5EF4-FFF2-40B4-BE49-F238E27FC236}">
                <a16:creationId xmlns:a16="http://schemas.microsoft.com/office/drawing/2014/main" id="{9379E585-E928-41FA-96CA-54F35AFD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44539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3" name="object-42-s1-ux">
            <a:extLst xmlns:a="http://schemas.openxmlformats.org/drawingml/2006/main">
              <a:ext uri="{FF2B5EF4-FFF2-40B4-BE49-F238E27FC236}">
                <a16:creationId xmlns:a16="http://schemas.microsoft.com/office/drawing/2014/main" id="{ECC745A9-7DB9-4DB9-98D9-7FAD2A03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4" name="object-43-s1-ux">
            <a:extLst xmlns:a="http://schemas.openxmlformats.org/drawingml/2006/main">
              <a:ext uri="{FF2B5EF4-FFF2-40B4-BE49-F238E27FC236}">
                <a16:creationId xmlns:a16="http://schemas.microsoft.com/office/drawing/2014/main" id="{A77DAF32-8C3B-43E4-933A-3CFD6436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375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5" name="object-44-s1-ux">
            <a:extLst xmlns:a="http://schemas.openxmlformats.org/drawingml/2006/main">
              <a:ext uri="{FF2B5EF4-FFF2-40B4-BE49-F238E27FC236}">
                <a16:creationId xmlns:a16="http://schemas.microsoft.com/office/drawing/2014/main" id="{8542CC7F-CB16-4327-8A9C-BFDE9E07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6" name="object-45-s1-ux">
            <a:extLst xmlns:a="http://schemas.openxmlformats.org/drawingml/2006/main">
              <a:ext uri="{FF2B5EF4-FFF2-40B4-BE49-F238E27FC236}">
                <a16:creationId xmlns:a16="http://schemas.microsoft.com/office/drawing/2014/main" id="{97A0A810-7FE1-4DA7-A475-BCCE9554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825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7" name="object-46-s1-ux">
            <a:extLst xmlns:a="http://schemas.openxmlformats.org/drawingml/2006/main">
              <a:ext uri="{FF2B5EF4-FFF2-40B4-BE49-F238E27FC236}">
                <a16:creationId xmlns:a16="http://schemas.microsoft.com/office/drawing/2014/main" id="{17B6785D-2FF8-4EF2-8B65-C78CA86A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171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8" name="object-47-s1-ux">
            <a:extLst xmlns:a="http://schemas.openxmlformats.org/drawingml/2006/main">
              <a:ext uri="{FF2B5EF4-FFF2-40B4-BE49-F238E27FC236}">
                <a16:creationId xmlns:a16="http://schemas.microsoft.com/office/drawing/2014/main" id="{90F42C2F-7862-40A9-ADAA-A9E59C8C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6366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9" name="object-48-s1-ux">
            <a:extLst xmlns:a="http://schemas.openxmlformats.org/drawingml/2006/main">
              <a:ext uri="{FF2B5EF4-FFF2-40B4-BE49-F238E27FC236}">
                <a16:creationId xmlns:a16="http://schemas.microsoft.com/office/drawing/2014/main" id="{99E9D24C-04DD-4C45-B5FE-9BF4ED24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0" name="object-49-s1-ux">
            <a:extLst xmlns:a="http://schemas.openxmlformats.org/drawingml/2006/main">
              <a:ext uri="{FF2B5EF4-FFF2-40B4-BE49-F238E27FC236}">
                <a16:creationId xmlns:a16="http://schemas.microsoft.com/office/drawing/2014/main" id="{CC0E9DC5-2DA8-4982-8AB0-5358A4F8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3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object-50-s1-ux">
            <a:extLst xmlns:a="http://schemas.openxmlformats.org/drawingml/2006/main">
              <a:ext uri="{FF2B5EF4-FFF2-40B4-BE49-F238E27FC236}">
                <a16:creationId xmlns:a16="http://schemas.microsoft.com/office/drawing/2014/main" id="{940A4509-E01F-4762-9926-C52246C1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2" name="object-51-s1-ux">
            <a:extLst xmlns:a="http://schemas.openxmlformats.org/drawingml/2006/main">
              <a:ext uri="{FF2B5EF4-FFF2-40B4-BE49-F238E27FC236}">
                <a16:creationId xmlns:a16="http://schemas.microsoft.com/office/drawing/2014/main" id="{ABB04637-5D17-485B-8ED5-D9FF67F9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3" name="object-52-s1-ux">
            <a:extLst xmlns:a="http://schemas.openxmlformats.org/drawingml/2006/main">
              <a:ext uri="{FF2B5EF4-FFF2-40B4-BE49-F238E27FC236}">
                <a16:creationId xmlns:a16="http://schemas.microsoft.com/office/drawing/2014/main" id="{8DAACCE3-8ABE-4AA6-9200-057B74CC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4" name="object-53-s1-ux">
            <a:extLst xmlns:a="http://schemas.openxmlformats.org/drawingml/2006/main">
              <a:ext uri="{FF2B5EF4-FFF2-40B4-BE49-F238E27FC236}">
                <a16:creationId xmlns:a16="http://schemas.microsoft.com/office/drawing/2014/main" id="{90346BA1-2181-479F-9DB8-9BC0FB4E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9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object-54-s1-ux">
            <a:extLst xmlns:a="http://schemas.openxmlformats.org/drawingml/2006/main">
              <a:ext uri="{FF2B5EF4-FFF2-40B4-BE49-F238E27FC236}">
                <a16:creationId xmlns:a16="http://schemas.microsoft.com/office/drawing/2014/main" id="{A0E50C63-1F4C-4E93-B2A4-2CFDD549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6" name="object-55-s1-ux">
            <a:extLst xmlns:a="http://schemas.openxmlformats.org/drawingml/2006/main">
              <a:ext uri="{FF2B5EF4-FFF2-40B4-BE49-F238E27FC236}">
                <a16:creationId xmlns:a16="http://schemas.microsoft.com/office/drawing/2014/main" id="{23C18369-3ABB-4C8B-A818-0E0F6B5F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7" name="object-56-s1-ux">
            <a:extLst xmlns:a="http://schemas.openxmlformats.org/drawingml/2006/main">
              <a:ext uri="{FF2B5EF4-FFF2-40B4-BE49-F238E27FC236}">
                <a16:creationId xmlns:a16="http://schemas.microsoft.com/office/drawing/2014/main" id="{248E458A-DA32-4CF3-AD2B-4A485620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634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8" name="object-57-s1-ux">
            <a:extLst xmlns:a="http://schemas.openxmlformats.org/drawingml/2006/main">
              <a:ext uri="{FF2B5EF4-FFF2-40B4-BE49-F238E27FC236}">
                <a16:creationId xmlns:a16="http://schemas.microsoft.com/office/drawing/2014/main" id="{8BDF72BC-9F65-44A6-9D9C-79E77D64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254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9" name="object-58-s1-ux">
            <a:extLst xmlns:a="http://schemas.openxmlformats.org/drawingml/2006/main">
              <a:ext uri="{FF2B5EF4-FFF2-40B4-BE49-F238E27FC236}">
                <a16:creationId xmlns:a16="http://schemas.microsoft.com/office/drawing/2014/main" id="{1D9A4C20-CF7D-4337-B59E-22C17DC5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34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30" name="object-59-s1-ux">
            <a:extLst xmlns:a="http://schemas.openxmlformats.org/drawingml/2006/main">
              <a:ext uri="{FF2B5EF4-FFF2-40B4-BE49-F238E27FC236}">
                <a16:creationId xmlns:a16="http://schemas.microsoft.com/office/drawing/2014/main" id="{249920FE-54C0-4A17-BF99-7D75DFA5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17206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object-60-s1-ux">
            <a:extLst xmlns:a="http://schemas.openxmlformats.org/drawingml/2006/main">
              <a:ext uri="{FF2B5EF4-FFF2-40B4-BE49-F238E27FC236}">
                <a16:creationId xmlns:a16="http://schemas.microsoft.com/office/drawing/2014/main" id="{BBCE0DB3-620D-41A6-97F9-11556E59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0825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object-61-s1-ux">
            <a:extLst xmlns:a="http://schemas.openxmlformats.org/drawingml/2006/main">
              <a:ext uri="{FF2B5EF4-FFF2-40B4-BE49-F238E27FC236}">
                <a16:creationId xmlns:a16="http://schemas.microsoft.com/office/drawing/2014/main" id="{A889CB4A-0EC4-4F61-9616-5CC9EEDD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38258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33" name="object-62-s1-ux">
            <a:extLst xmlns:a="http://schemas.openxmlformats.org/drawingml/2006/main">
              <a:ext uri="{FF2B5EF4-FFF2-40B4-BE49-F238E27FC236}">
                <a16:creationId xmlns:a16="http://schemas.microsoft.com/office/drawing/2014/main" id="{F3928464-2432-4604-BE12-7B29CC55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4453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34" name="object-63-s1-ux">
            <a:extLst xmlns:a="http://schemas.openxmlformats.org/drawingml/2006/main">
              <a:ext uri="{FF2B5EF4-FFF2-40B4-BE49-F238E27FC236}">
                <a16:creationId xmlns:a16="http://schemas.microsoft.com/office/drawing/2014/main" id="{7803EDA9-C23E-4F00-8DEF-51B6C7CF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5" name="object-64-s1-ux">
            <a:extLst xmlns:a="http://schemas.openxmlformats.org/drawingml/2006/main">
              <a:ext uri="{FF2B5EF4-FFF2-40B4-BE49-F238E27FC236}">
                <a16:creationId xmlns:a16="http://schemas.microsoft.com/office/drawing/2014/main" id="{3CC45FDE-FA62-4C82-8502-2B1C9818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061" y="2642622"/>
            <a:ext cx="19317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6" name="object-65-s1-ux">
            <a:extLst xmlns:a="http://schemas.openxmlformats.org/drawingml/2006/main">
              <a:ext uri="{FF2B5EF4-FFF2-40B4-BE49-F238E27FC236}">
                <a16:creationId xmlns:a16="http://schemas.microsoft.com/office/drawing/2014/main" id="{973F80DF-C3E6-467E-B14F-ADAC74D4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2589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37" name="object-66-s1-ux">
            <a:extLst xmlns:a="http://schemas.openxmlformats.org/drawingml/2006/main">
              <a:ext uri="{FF2B5EF4-FFF2-40B4-BE49-F238E27FC236}">
                <a16:creationId xmlns:a16="http://schemas.microsoft.com/office/drawing/2014/main" id="{1069E27C-2423-4E1C-8880-10628FA6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33972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object-67-s1-ux">
            <a:extLst xmlns:a="http://schemas.openxmlformats.org/drawingml/2006/main">
              <a:ext uri="{FF2B5EF4-FFF2-40B4-BE49-F238E27FC236}">
                <a16:creationId xmlns:a16="http://schemas.microsoft.com/office/drawing/2014/main" id="{B42DE116-EF92-4114-BC7A-B085B36B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8" y="2644527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39" name="object-68-s1-ux">
            <a:extLst xmlns:a="http://schemas.openxmlformats.org/drawingml/2006/main">
              <a:ext uri="{FF2B5EF4-FFF2-40B4-BE49-F238E27FC236}">
                <a16:creationId xmlns:a16="http://schemas.microsoft.com/office/drawing/2014/main" id="{EFB67885-FC79-4CF3-8909-C184E0DD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77864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0" name="object-69-s1-ux">
            <a:extLst xmlns:a="http://schemas.openxmlformats.org/drawingml/2006/main">
              <a:ext uri="{FF2B5EF4-FFF2-40B4-BE49-F238E27FC236}">
                <a16:creationId xmlns:a16="http://schemas.microsoft.com/office/drawing/2014/main" id="{16E2ADAD-642B-43C0-84FA-0B8942A3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41" name="object-70-s1-ux">
            <a:extLst xmlns:a="http://schemas.openxmlformats.org/drawingml/2006/main">
              <a:ext uri="{FF2B5EF4-FFF2-40B4-BE49-F238E27FC236}">
                <a16:creationId xmlns:a16="http://schemas.microsoft.com/office/drawing/2014/main" id="{537E2EF8-7A87-4829-B30F-B20D66C8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961" y="2642622"/>
            <a:ext cx="19317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42" name="object-71-s1-ux">
            <a:extLst xmlns:a="http://schemas.openxmlformats.org/drawingml/2006/main">
              <a:ext uri="{FF2B5EF4-FFF2-40B4-BE49-F238E27FC236}">
                <a16:creationId xmlns:a16="http://schemas.microsoft.com/office/drawing/2014/main" id="{8F5373AD-08AE-485B-BEE9-791ABAAA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0171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43" name="object-72-s1-ux">
            <a:extLst xmlns:a="http://schemas.openxmlformats.org/drawingml/2006/main">
              <a:ext uri="{FF2B5EF4-FFF2-40B4-BE49-F238E27FC236}">
                <a16:creationId xmlns:a16="http://schemas.microsoft.com/office/drawing/2014/main" id="{2CAD7965-E59C-47F8-B885-02851EB6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36366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44" name="object-73-s1-ux">
            <a:extLst xmlns:a="http://schemas.openxmlformats.org/drawingml/2006/main">
              <a:ext uri="{FF2B5EF4-FFF2-40B4-BE49-F238E27FC236}">
                <a16:creationId xmlns:a16="http://schemas.microsoft.com/office/drawing/2014/main" id="{DBEA4E7F-E097-4E0C-9F91-7B65DC5A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5" name="object-74-s1-ux">
            <a:extLst xmlns:a="http://schemas.openxmlformats.org/drawingml/2006/main">
              <a:ext uri="{FF2B5EF4-FFF2-40B4-BE49-F238E27FC236}">
                <a16:creationId xmlns:a16="http://schemas.microsoft.com/office/drawing/2014/main" id="{2696F135-A4DB-4722-AA44-C2E910CC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6" name="object-75-s1-ux">
            <a:extLst xmlns:a="http://schemas.openxmlformats.org/drawingml/2006/main">
              <a:ext uri="{FF2B5EF4-FFF2-40B4-BE49-F238E27FC236}">
                <a16:creationId xmlns:a16="http://schemas.microsoft.com/office/drawing/2014/main" id="{325D3383-0C16-423C-B410-3BE2FBD2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object-76-s1-ux">
            <a:extLst xmlns:a="http://schemas.openxmlformats.org/drawingml/2006/main">
              <a:ext uri="{FF2B5EF4-FFF2-40B4-BE49-F238E27FC236}">
                <a16:creationId xmlns:a16="http://schemas.microsoft.com/office/drawing/2014/main" id="{0F0E2AAA-5AB1-4365-A99E-FF0B7396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8" name="object-77-s1-ux">
            <a:extLst xmlns:a="http://schemas.openxmlformats.org/drawingml/2006/main">
              <a:ext uri="{FF2B5EF4-FFF2-40B4-BE49-F238E27FC236}">
                <a16:creationId xmlns:a16="http://schemas.microsoft.com/office/drawing/2014/main" id="{F1509C0F-3652-4573-B1CC-0426306B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object-78-s1-ux">
            <a:extLst xmlns:a="http://schemas.openxmlformats.org/drawingml/2006/main">
              <a:ext uri="{FF2B5EF4-FFF2-40B4-BE49-F238E27FC236}">
                <a16:creationId xmlns:a16="http://schemas.microsoft.com/office/drawing/2014/main" id="{87E994DE-95BE-451F-B9B6-B3366796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0" name="object-79-s1-ux">
            <a:extLst xmlns:a="http://schemas.openxmlformats.org/drawingml/2006/main">
              <a:ext uri="{FF2B5EF4-FFF2-40B4-BE49-F238E27FC236}">
                <a16:creationId xmlns:a16="http://schemas.microsoft.com/office/drawing/2014/main" id="{A5B22D43-AB9A-4452-9FB1-C8A451AC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51" name="object-80-s1-ux">
            <a:extLst xmlns:a="http://schemas.openxmlformats.org/drawingml/2006/main">
              <a:ext uri="{FF2B5EF4-FFF2-40B4-BE49-F238E27FC236}">
                <a16:creationId xmlns:a16="http://schemas.microsoft.com/office/drawing/2014/main" id="{698CE6B9-D4F1-4DB2-A0D3-F32256B8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2" name="object-81-s1-ux">
            <a:extLst xmlns:a="http://schemas.openxmlformats.org/drawingml/2006/main">
              <a:ext uri="{FF2B5EF4-FFF2-40B4-BE49-F238E27FC236}">
                <a16:creationId xmlns:a16="http://schemas.microsoft.com/office/drawing/2014/main" id="{9F41A4F1-2054-4E2B-9F92-E01F5D79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object-82-s1-ux">
            <a:extLst xmlns:a="http://schemas.openxmlformats.org/drawingml/2006/main">
              <a:ext uri="{FF2B5EF4-FFF2-40B4-BE49-F238E27FC236}">
                <a16:creationId xmlns:a16="http://schemas.microsoft.com/office/drawing/2014/main" id="{4C1C4D60-DC5F-4EE0-B71B-7A19070B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634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4" name="object-83-s1-ux">
            <a:extLst xmlns:a="http://schemas.openxmlformats.org/drawingml/2006/main">
              <a:ext uri="{FF2B5EF4-FFF2-40B4-BE49-F238E27FC236}">
                <a16:creationId xmlns:a16="http://schemas.microsoft.com/office/drawing/2014/main" id="{C7C03DB9-EC5D-4152-B975-2EC3CD85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254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5" name="object-84-s1-ux">
            <a:extLst xmlns:a="http://schemas.openxmlformats.org/drawingml/2006/main">
              <a:ext uri="{FF2B5EF4-FFF2-40B4-BE49-F238E27FC236}">
                <a16:creationId xmlns:a16="http://schemas.microsoft.com/office/drawing/2014/main" id="{439AE75B-755B-45F7-BB6D-F1DDC895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634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6" name="object-85-s1-ux">
            <a:extLst xmlns:a="http://schemas.openxmlformats.org/drawingml/2006/main">
              <a:ext uri="{FF2B5EF4-FFF2-40B4-BE49-F238E27FC236}">
                <a16:creationId xmlns:a16="http://schemas.microsoft.com/office/drawing/2014/main" id="{9FDADF85-56A3-4BC2-88C5-115A3FF5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17206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7" name="object-86-s1-ux">
            <a:extLst xmlns:a="http://schemas.openxmlformats.org/drawingml/2006/main">
              <a:ext uri="{FF2B5EF4-FFF2-40B4-BE49-F238E27FC236}">
                <a16:creationId xmlns:a16="http://schemas.microsoft.com/office/drawing/2014/main" id="{AE9CC956-6A1A-49DA-B85A-66481F28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3" y="202540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8" name="object-87-s1-ux">
            <a:extLst xmlns:a="http://schemas.openxmlformats.org/drawingml/2006/main">
              <a:ext uri="{FF2B5EF4-FFF2-40B4-BE49-F238E27FC236}">
                <a16:creationId xmlns:a16="http://schemas.microsoft.com/office/drawing/2014/main" id="{8804A7A0-7152-41E2-A960-DDC9C360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5873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9" name="object-88-s1-ux">
            <a:extLst xmlns:a="http://schemas.openxmlformats.org/drawingml/2006/main">
              <a:ext uri="{FF2B5EF4-FFF2-40B4-BE49-F238E27FC236}">
                <a16:creationId xmlns:a16="http://schemas.microsoft.com/office/drawing/2014/main" id="{1F6E606F-CA52-4E0D-AD21-6B512A4F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258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0" name="object-89-s1-ux">
            <a:extLst xmlns:a="http://schemas.openxmlformats.org/drawingml/2006/main">
              <a:ext uri="{FF2B5EF4-FFF2-40B4-BE49-F238E27FC236}">
                <a16:creationId xmlns:a16="http://schemas.microsoft.com/office/drawing/2014/main" id="{E61AA4B1-5DAF-46E0-87D5-49547CF4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4453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1" name="object-90-s1-ux">
            <a:extLst xmlns:a="http://schemas.openxmlformats.org/drawingml/2006/main">
              <a:ext uri="{FF2B5EF4-FFF2-40B4-BE49-F238E27FC236}">
                <a16:creationId xmlns:a16="http://schemas.microsoft.com/office/drawing/2014/main" id="{4B18714E-70AA-45B7-B44A-795F78F7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82589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2" name="object-91-s1-ux">
            <a:extLst xmlns:a="http://schemas.openxmlformats.org/drawingml/2006/main">
              <a:ext uri="{FF2B5EF4-FFF2-40B4-BE49-F238E27FC236}">
                <a16:creationId xmlns:a16="http://schemas.microsoft.com/office/drawing/2014/main" id="{F2BC6E6D-5E0F-43FD-AC58-9E7BA081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233972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3" name="object-92-s1-ux">
            <a:extLst xmlns:a="http://schemas.openxmlformats.org/drawingml/2006/main">
              <a:ext uri="{FF2B5EF4-FFF2-40B4-BE49-F238E27FC236}">
                <a16:creationId xmlns:a16="http://schemas.microsoft.com/office/drawing/2014/main" id="{87D88419-3546-4331-8980-237BF24A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644527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4" name="object-93-s1-ux">
            <a:extLst xmlns:a="http://schemas.openxmlformats.org/drawingml/2006/main">
              <a:ext uri="{FF2B5EF4-FFF2-40B4-BE49-F238E27FC236}">
                <a16:creationId xmlns:a16="http://schemas.microsoft.com/office/drawing/2014/main" id="{1803CE0A-3D02-4022-B71A-F70EFDE2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77864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5" name="object-94-s1-ux">
            <a:extLst xmlns:a="http://schemas.openxmlformats.org/drawingml/2006/main">
              <a:ext uri="{FF2B5EF4-FFF2-40B4-BE49-F238E27FC236}">
                <a16:creationId xmlns:a16="http://schemas.microsoft.com/office/drawing/2014/main" id="{B2033D5E-4CFC-4D60-8237-42C7AC2A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6" name="object-95-s1-ux">
            <a:extLst xmlns:a="http://schemas.openxmlformats.org/drawingml/2006/main">
              <a:ext uri="{FF2B5EF4-FFF2-40B4-BE49-F238E27FC236}">
                <a16:creationId xmlns:a16="http://schemas.microsoft.com/office/drawing/2014/main" id="{3D1C0030-C7D9-43E6-AE08-E53AD167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350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7" name="object-96-s1-ux">
            <a:extLst xmlns:a="http://schemas.openxmlformats.org/drawingml/2006/main">
              <a:ext uri="{FF2B5EF4-FFF2-40B4-BE49-F238E27FC236}">
                <a16:creationId xmlns:a16="http://schemas.microsoft.com/office/drawing/2014/main" id="{D42F6760-5B3D-4B12-9DA0-93D09A4B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8" name="object-97-s1-ux">
            <a:extLst xmlns:a="http://schemas.openxmlformats.org/drawingml/2006/main">
              <a:ext uri="{FF2B5EF4-FFF2-40B4-BE49-F238E27FC236}">
                <a16:creationId xmlns:a16="http://schemas.microsoft.com/office/drawing/2014/main" id="{85C19A10-5922-4170-85AD-95CE849C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00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9" name="object-98-s1-ux">
            <a:extLst xmlns:a="http://schemas.openxmlformats.org/drawingml/2006/main">
              <a:ext uri="{FF2B5EF4-FFF2-40B4-BE49-F238E27FC236}">
                <a16:creationId xmlns:a16="http://schemas.microsoft.com/office/drawing/2014/main" id="{ED54545B-85CA-4684-9ACC-E3AF18FB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0171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70" name="object-99-s1-ux">
            <a:extLst xmlns:a="http://schemas.openxmlformats.org/drawingml/2006/main">
              <a:ext uri="{FF2B5EF4-FFF2-40B4-BE49-F238E27FC236}">
                <a16:creationId xmlns:a16="http://schemas.microsoft.com/office/drawing/2014/main" id="{D2E78A51-82B3-4396-A310-917BD105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6366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71" name="object-100-s1-ux">
            <a:extLst xmlns:a="http://schemas.openxmlformats.org/drawingml/2006/main">
              <a:ext uri="{FF2B5EF4-FFF2-40B4-BE49-F238E27FC236}">
                <a16:creationId xmlns:a16="http://schemas.microsoft.com/office/drawing/2014/main" id="{4CB80DF4-20A0-47F1-BC45-44412635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0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2" name="object-101-s1-ux">
            <a:extLst xmlns:a="http://schemas.openxmlformats.org/drawingml/2006/main">
              <a:ext uri="{FF2B5EF4-FFF2-40B4-BE49-F238E27FC236}">
                <a16:creationId xmlns:a16="http://schemas.microsoft.com/office/drawing/2014/main" id="{55E53322-0781-4218-927F-93B1457E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900" y="3261747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3" name="object-102-s1-ux">
            <a:extLst xmlns:a="http://schemas.openxmlformats.org/drawingml/2006/main">
              <a:ext uri="{FF2B5EF4-FFF2-40B4-BE49-F238E27FC236}">
                <a16:creationId xmlns:a16="http://schemas.microsoft.com/office/drawing/2014/main" id="{2AE3D1B2-F909-4064-90D1-2AAD1DCF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4" name="object-103-s1-ux">
            <a:extLst xmlns:a="http://schemas.openxmlformats.org/drawingml/2006/main">
              <a:ext uri="{FF2B5EF4-FFF2-40B4-BE49-F238E27FC236}">
                <a16:creationId xmlns:a16="http://schemas.microsoft.com/office/drawing/2014/main" id="{2C95869B-46BC-4396-BCF9-6004BBCA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5" name="object-104-s1-ux">
            <a:extLst xmlns:a="http://schemas.openxmlformats.org/drawingml/2006/main">
              <a:ext uri="{FF2B5EF4-FFF2-40B4-BE49-F238E27FC236}">
                <a16:creationId xmlns:a16="http://schemas.microsoft.com/office/drawing/2014/main" id="{5D07875A-A099-4059-B30F-1F459B9B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3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6" name="object-105-s1-ux">
            <a:extLst xmlns:a="http://schemas.openxmlformats.org/drawingml/2006/main">
              <a:ext uri="{FF2B5EF4-FFF2-40B4-BE49-F238E27FC236}">
                <a16:creationId xmlns:a16="http://schemas.microsoft.com/office/drawing/2014/main" id="{587EF969-CA83-470A-A08E-095FCBC9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7" name="object-106-s1-ux">
            <a:extLst xmlns:a="http://schemas.openxmlformats.org/drawingml/2006/main">
              <a:ext uri="{FF2B5EF4-FFF2-40B4-BE49-F238E27FC236}">
                <a16:creationId xmlns:a16="http://schemas.microsoft.com/office/drawing/2014/main" id="{49219F0C-9455-4667-A088-1FA6B190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20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8" name="object-107-s1-ux">
            <a:extLst xmlns:a="http://schemas.openxmlformats.org/drawingml/2006/main">
              <a:ext uri="{FF2B5EF4-FFF2-40B4-BE49-F238E27FC236}">
                <a16:creationId xmlns:a16="http://schemas.microsoft.com/office/drawing/2014/main" id="{A0ABE59D-1A20-40B3-89A6-A7FF50B8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00" y="3261747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9" name="object-108-s2-ux">
            <a:extLst xmlns:a="http://schemas.openxmlformats.org/drawingml/2006/main">
              <a:ext uri="{FF2B5EF4-FFF2-40B4-BE49-F238E27FC236}">
                <a16:creationId xmlns:a16="http://schemas.microsoft.com/office/drawing/2014/main" id="{4AB65154-6440-4A9D-ABD6-16CC8DB7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7509"/>
            <a:ext cx="198640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Derive and validate</a:t>
            </a:r>
          </a:p>
        </p:txBody>
      </p:sp>
      <p:sp>
        <p:nvSpPr>
          <p:cNvPr id="80" name="object-109-s2-ux">
            <a:extLst xmlns:a="http://schemas.openxmlformats.org/drawingml/2006/main">
              <a:ext uri="{FF2B5EF4-FFF2-40B4-BE49-F238E27FC236}">
                <a16:creationId xmlns:a16="http://schemas.microsoft.com/office/drawing/2014/main" id="{B9803CBA-4FC3-4914-B150-5754948E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97039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81" name="object-110-s2-ux">
            <a:extLst xmlns:a="http://schemas.openxmlformats.org/drawingml/2006/main">
              <a:ext uri="{FF2B5EF4-FFF2-40B4-BE49-F238E27FC236}">
                <a16:creationId xmlns:a16="http://schemas.microsoft.com/office/drawing/2014/main" id="{3B924A5E-70A3-4E08-89D1-969E9502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44511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82" name="object-111-s2-ux">
            <a:extLst xmlns:a="http://schemas.openxmlformats.org/drawingml/2006/main">
              <a:ext uri="{FF2B5EF4-FFF2-40B4-BE49-F238E27FC236}">
                <a16:creationId xmlns:a16="http://schemas.microsoft.com/office/drawing/2014/main" id="{A17072C7-5C72-4B50-89C7-2ACC25E1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054" y="369703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3" name="object-112-s2-ux">
            <a:extLst xmlns:a="http://schemas.openxmlformats.org/drawingml/2006/main">
              <a:ext uri="{FF2B5EF4-FFF2-40B4-BE49-F238E27FC236}">
                <a16:creationId xmlns:a16="http://schemas.microsoft.com/office/drawing/2014/main" id="{3B033BD5-D136-46A2-AD95-72899FC2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906" y="365589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84" name="object-113-s2-ux">
            <a:extLst xmlns:a="http://schemas.openxmlformats.org/drawingml/2006/main">
              <a:ext uri="{FF2B5EF4-FFF2-40B4-BE49-F238E27FC236}">
                <a16:creationId xmlns:a16="http://schemas.microsoft.com/office/drawing/2014/main" id="{3C430C6F-62B3-4B38-AB43-D7C90358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42" y="394849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5" name="object-114-s2-ux">
            <a:extLst xmlns:a="http://schemas.openxmlformats.org/drawingml/2006/main">
              <a:ext uri="{FF2B5EF4-FFF2-40B4-BE49-F238E27FC236}">
                <a16:creationId xmlns:a16="http://schemas.microsoft.com/office/drawing/2014/main" id="{49598C67-1716-4768-8811-366418B3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046" y="398050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6" name="object-115-s2-ux">
            <a:extLst xmlns:a="http://schemas.openxmlformats.org/drawingml/2006/main">
              <a:ext uri="{FF2B5EF4-FFF2-40B4-BE49-F238E27FC236}">
                <a16:creationId xmlns:a16="http://schemas.microsoft.com/office/drawing/2014/main" id="{9294AF8B-38D1-4EC3-81DE-9C50CDC3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406" y="369703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7" name="object-116-s2-ux">
            <a:extLst xmlns:a="http://schemas.openxmlformats.org/drawingml/2006/main">
              <a:ext uri="{FF2B5EF4-FFF2-40B4-BE49-F238E27FC236}">
                <a16:creationId xmlns:a16="http://schemas.microsoft.com/office/drawing/2014/main" id="{AAF3BAC0-91A5-4EDF-9046-06936176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258" y="365589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88" name="object-117-s2-ux">
            <a:extLst xmlns:a="http://schemas.openxmlformats.org/drawingml/2006/main">
              <a:ext uri="{FF2B5EF4-FFF2-40B4-BE49-F238E27FC236}">
                <a16:creationId xmlns:a16="http://schemas.microsoft.com/office/drawing/2014/main" id="{F46EB7F3-DF85-454D-8A23-304FEBF4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394" y="394849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9" name="object-118-s2-ux">
            <a:extLst xmlns:a="http://schemas.openxmlformats.org/drawingml/2006/main">
              <a:ext uri="{FF2B5EF4-FFF2-40B4-BE49-F238E27FC236}">
                <a16:creationId xmlns:a16="http://schemas.microsoft.com/office/drawing/2014/main" id="{F5E086EB-5777-4B34-94C9-03663031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6398" y="398050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90" name="object-119-s2-ux">
            <a:extLst xmlns:a="http://schemas.openxmlformats.org/drawingml/2006/main">
              <a:ext uri="{FF2B5EF4-FFF2-40B4-BE49-F238E27FC236}">
                <a16:creationId xmlns:a16="http://schemas.microsoft.com/office/drawing/2014/main" id="{321A4093-73C1-4E14-8679-9AA2471E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038" y="3870775"/>
            <a:ext cx="347472" cy="95"/>
          </a:xfrm>
          <a:custGeom xmlns:a="http://schemas.openxmlformats.org/drawingml/2006/main">
            <a:pathLst>
              <a:path w="347472" h="95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7E86"/>
            </a:solidFill>
            <a:prstDash val="solid"/>
          </a:ln>
        </p:spPr>
      </p:sp>
      <p:sp>
        <p:nvSpPr>
          <p:cNvPr id="91" name="object-119-s2-ux-arrow">
            <a:extLst xmlns:a="http://schemas.openxmlformats.org/drawingml/2006/main">
              <a:ext uri="{FF2B5EF4-FFF2-40B4-BE49-F238E27FC236}">
                <a16:creationId xmlns:a16="http://schemas.microsoft.com/office/drawing/2014/main" id="{21300FAC-3924-4974-9578-0F16B08A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85" y="3813625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92" name="object-120-s2-ux">
            <a:extLst xmlns:a="http://schemas.openxmlformats.org/drawingml/2006/main">
              <a:ext uri="{FF2B5EF4-FFF2-40B4-BE49-F238E27FC236}">
                <a16:creationId xmlns:a16="http://schemas.microsoft.com/office/drawing/2014/main" id="{25AB9E49-FBF0-4F5A-A8DC-D015F6CD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26" y="3697039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3" name="object-121-s2-ux">
            <a:extLst xmlns:a="http://schemas.openxmlformats.org/drawingml/2006/main">
              <a:ext uri="{FF2B5EF4-FFF2-40B4-BE49-F238E27FC236}">
                <a16:creationId xmlns:a16="http://schemas.microsoft.com/office/drawing/2014/main" id="{6DFF00E1-47C5-44E9-926A-497B85F9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26" y="4044511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4" name="object-122-s2-ux">
            <a:extLst xmlns:a="http://schemas.openxmlformats.org/drawingml/2006/main">
              <a:ext uri="{FF2B5EF4-FFF2-40B4-BE49-F238E27FC236}">
                <a16:creationId xmlns:a16="http://schemas.microsoft.com/office/drawing/2014/main" id="{8E86A3CD-523D-4CE3-8F69-4BC0407B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697039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5" name="object-123-s2-ux">
            <a:extLst xmlns:a="http://schemas.openxmlformats.org/drawingml/2006/main">
              <a:ext uri="{FF2B5EF4-FFF2-40B4-BE49-F238E27FC236}">
                <a16:creationId xmlns:a16="http://schemas.microsoft.com/office/drawing/2014/main" id="{D438ACE2-2619-4127-BA76-039F11C6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044511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6" name="object-124-s2-ux">
            <a:extLst xmlns:a="http://schemas.openxmlformats.org/drawingml/2006/main">
              <a:ext uri="{FF2B5EF4-FFF2-40B4-BE49-F238E27FC236}">
                <a16:creationId xmlns:a16="http://schemas.microsoft.com/office/drawing/2014/main" id="{13576D59-7D89-4C34-A195-2E71EDCF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681" y="390735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97" name="object-125-s2-ux">
            <a:extLst xmlns:a="http://schemas.openxmlformats.org/drawingml/2006/main">
              <a:ext uri="{FF2B5EF4-FFF2-40B4-BE49-F238E27FC236}">
                <a16:creationId xmlns:a16="http://schemas.microsoft.com/office/drawing/2014/main" id="{4202CC86-E3CC-4B8D-9C11-67C70761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262" y="394095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98" name="object-126-s2-ux">
            <a:extLst xmlns:a="http://schemas.openxmlformats.org/drawingml/2006/main">
              <a:ext uri="{FF2B5EF4-FFF2-40B4-BE49-F238E27FC236}">
                <a16:creationId xmlns:a16="http://schemas.microsoft.com/office/drawing/2014/main" id="{A2E35EC5-1704-4E16-85C3-FD78D528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033" y="390735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99" name="object-127-s2-ux">
            <a:extLst xmlns:a="http://schemas.openxmlformats.org/drawingml/2006/main">
              <a:ext uri="{FF2B5EF4-FFF2-40B4-BE49-F238E27FC236}">
                <a16:creationId xmlns:a16="http://schemas.microsoft.com/office/drawing/2014/main" id="{0B720816-9D2C-49E6-978E-9EEC8789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614" y="394095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00" name="object-128-s2-ux">
            <a:extLst xmlns:a="http://schemas.openxmlformats.org/drawingml/2006/main">
              <a:ext uri="{FF2B5EF4-FFF2-40B4-BE49-F238E27FC236}">
                <a16:creationId xmlns:a16="http://schemas.microsoft.com/office/drawing/2014/main" id="{E4A06854-63B2-4E1C-9AB3-7BF32F35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113" y="3870775"/>
            <a:ext cx="347472" cy="95"/>
          </a:xfrm>
          <a:custGeom xmlns:a="http://schemas.openxmlformats.org/drawingml/2006/main">
            <a:pathLst>
              <a:path w="347472" h="95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7E86"/>
            </a:solidFill>
            <a:prstDash val="solid"/>
          </a:ln>
        </p:spPr>
      </p:sp>
      <p:sp>
        <p:nvSpPr>
          <p:cNvPr id="101" name="object-128-s2-ux-arrow">
            <a:extLst xmlns:a="http://schemas.openxmlformats.org/drawingml/2006/main">
              <a:ext uri="{FF2B5EF4-FFF2-40B4-BE49-F238E27FC236}">
                <a16:creationId xmlns:a16="http://schemas.microsoft.com/office/drawing/2014/main" id="{6E5EA8AE-B732-4C21-A6FB-645FF86E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760" y="3813625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102" name="object-129-s2-ux">
            <a:extLst xmlns:a="http://schemas.openxmlformats.org/drawingml/2006/main">
              <a:ext uri="{FF2B5EF4-FFF2-40B4-BE49-F238E27FC236}">
                <a16:creationId xmlns:a16="http://schemas.microsoft.com/office/drawing/2014/main" id="{167C569E-CBAF-47C6-A511-4241B0DE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601" y="3697039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3" name="object-130-s2-ux">
            <a:extLst xmlns:a="http://schemas.openxmlformats.org/drawingml/2006/main">
              <a:ext uri="{FF2B5EF4-FFF2-40B4-BE49-F238E27FC236}">
                <a16:creationId xmlns:a16="http://schemas.microsoft.com/office/drawing/2014/main" id="{EB4A8B69-6C1F-41A9-B865-AC0FAB69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601" y="4044511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4" name="object-131-s2-ux">
            <a:extLst xmlns:a="http://schemas.openxmlformats.org/drawingml/2006/main">
              <a:ext uri="{FF2B5EF4-FFF2-40B4-BE49-F238E27FC236}">
                <a16:creationId xmlns:a16="http://schemas.microsoft.com/office/drawing/2014/main" id="{D5BECA21-E456-40AC-8F28-6B0B079F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32319"/>
            <a:ext cx="448121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105" name="object-132-s2-ux">
            <a:extLst xmlns:a="http://schemas.openxmlformats.org/drawingml/2006/main">
              <a:ext uri="{FF2B5EF4-FFF2-40B4-BE49-F238E27FC236}">
                <a16:creationId xmlns:a16="http://schemas.microsoft.com/office/drawing/2014/main" id="{569A9635-74F3-44E5-9FD2-652BF3B4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032319"/>
            <a:ext cx="448121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106" name="object-133-s3-ux">
            <a:extLst xmlns:a="http://schemas.openxmlformats.org/drawingml/2006/main">
              <a:ext uri="{FF2B5EF4-FFF2-40B4-BE49-F238E27FC236}">
                <a16:creationId xmlns:a16="http://schemas.microsoft.com/office/drawing/2014/main" id="{4114174D-AF9E-4CAB-B5A2-4693FAF0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134"/>
            <a:ext cx="1915864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Another candidate</a:t>
            </a:r>
          </a:p>
        </p:txBody>
      </p:sp>
      <p:sp>
        <p:nvSpPr>
          <p:cNvPr id="107" name="object-134-s3-ux">
            <a:extLst xmlns:a="http://schemas.openxmlformats.org/drawingml/2006/main">
              <a:ext uri="{FF2B5EF4-FFF2-40B4-BE49-F238E27FC236}">
                <a16:creationId xmlns:a16="http://schemas.microsoft.com/office/drawing/2014/main" id="{7E3CA754-4982-465D-B951-6DA65F60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16189"/>
            <a:ext cx="1810512" cy="95"/>
          </a:xfrm>
          <a:custGeom xmlns:a="http://schemas.openxmlformats.org/drawingml/2006/main">
            <a:pathLst>
              <a:path w="1810512" h="95">
                <a:moveTo>
                  <a:pt x="0" y="0"/>
                </a:moveTo>
                <a:lnTo>
                  <a:pt x="18105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8" name="object-135-s3-ux">
            <a:extLst xmlns:a="http://schemas.openxmlformats.org/drawingml/2006/main">
              <a:ext uri="{FF2B5EF4-FFF2-40B4-BE49-F238E27FC236}">
                <a16:creationId xmlns:a16="http://schemas.microsoft.com/office/drawing/2014/main" id="{A74925C3-613A-401E-AC7B-59170AB1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63661"/>
            <a:ext cx="1810512" cy="95"/>
          </a:xfrm>
          <a:custGeom xmlns:a="http://schemas.openxmlformats.org/drawingml/2006/main">
            <a:pathLst>
              <a:path w="1810512" h="95">
                <a:moveTo>
                  <a:pt x="0" y="0"/>
                </a:moveTo>
                <a:lnTo>
                  <a:pt x="18105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9" name="object-136-s3-ux">
            <a:extLst xmlns:a="http://schemas.openxmlformats.org/drawingml/2006/main">
              <a:ext uri="{FF2B5EF4-FFF2-40B4-BE49-F238E27FC236}">
                <a16:creationId xmlns:a16="http://schemas.microsoft.com/office/drawing/2014/main" id="{15BABA1E-BBD8-4026-B237-E69A97BD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054" y="451618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10" name="object-137-s3-ux">
            <a:extLst xmlns:a="http://schemas.openxmlformats.org/drawingml/2006/main">
              <a:ext uri="{FF2B5EF4-FFF2-40B4-BE49-F238E27FC236}">
                <a16:creationId xmlns:a16="http://schemas.microsoft.com/office/drawing/2014/main" id="{39615D99-0813-4601-AB3A-86FF437F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906" y="447504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111" name="object-138-s3-ux">
            <a:extLst xmlns:a="http://schemas.openxmlformats.org/drawingml/2006/main">
              <a:ext uri="{FF2B5EF4-FFF2-40B4-BE49-F238E27FC236}">
                <a16:creationId xmlns:a16="http://schemas.microsoft.com/office/drawing/2014/main" id="{6371E218-0865-4ADC-9FD3-86AB3F60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42" y="476764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12" name="object-139-s3-ux">
            <a:extLst xmlns:a="http://schemas.openxmlformats.org/drawingml/2006/main">
              <a:ext uri="{FF2B5EF4-FFF2-40B4-BE49-F238E27FC236}">
                <a16:creationId xmlns:a16="http://schemas.microsoft.com/office/drawing/2014/main" id="{08A938F3-A37E-4F4F-9E76-58C1E6D0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046" y="479965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13" name="object-140-s3-ux">
            <a:extLst xmlns:a="http://schemas.openxmlformats.org/drawingml/2006/main">
              <a:ext uri="{FF2B5EF4-FFF2-40B4-BE49-F238E27FC236}">
                <a16:creationId xmlns:a16="http://schemas.microsoft.com/office/drawing/2014/main" id="{C8E4FBAB-CD68-4CA8-A959-C7C5DD16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958" y="472650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114" name="object-141-s3-ux">
            <a:extLst xmlns:a="http://schemas.openxmlformats.org/drawingml/2006/main">
              <a:ext uri="{FF2B5EF4-FFF2-40B4-BE49-F238E27FC236}">
                <a16:creationId xmlns:a16="http://schemas.microsoft.com/office/drawing/2014/main" id="{C691F697-8A1A-402E-B615-3F8FD1EE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539" y="476010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5" name="object-142-s3-ux">
            <a:extLst xmlns:a="http://schemas.openxmlformats.org/drawingml/2006/main">
              <a:ext uri="{FF2B5EF4-FFF2-40B4-BE49-F238E27FC236}">
                <a16:creationId xmlns:a16="http://schemas.microsoft.com/office/drawing/2014/main" id="{EDA9B3B0-9B18-42E4-814B-8971636D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10" y="472650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116" name="object-143-s3-ux">
            <a:extLst xmlns:a="http://schemas.openxmlformats.org/drawingml/2006/main">
              <a:ext uri="{FF2B5EF4-FFF2-40B4-BE49-F238E27FC236}">
                <a16:creationId xmlns:a16="http://schemas.microsoft.com/office/drawing/2014/main" id="{73FEDB4E-5CDE-489E-959C-2DCD70BF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891" y="476010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7" name="object-144-s3-ux">
            <a:extLst xmlns:a="http://schemas.openxmlformats.org/drawingml/2006/main">
              <a:ext uri="{FF2B5EF4-FFF2-40B4-BE49-F238E27FC236}">
                <a16:creationId xmlns:a16="http://schemas.microsoft.com/office/drawing/2014/main" id="{B92D6AF1-CD7C-49D4-B4F1-859CE8B7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4689925"/>
            <a:ext cx="347472" cy="95"/>
          </a:xfrm>
          <a:custGeom xmlns:a="http://schemas.openxmlformats.org/drawingml/2006/main">
            <a:pathLst>
              <a:path w="347472" h="95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7E86"/>
            </a:solidFill>
            <a:prstDash val="solid"/>
          </a:ln>
        </p:spPr>
      </p:sp>
      <p:sp>
        <p:nvSpPr>
          <p:cNvPr id="118" name="object-144-s3-ux-arrow">
            <a:extLst xmlns:a="http://schemas.openxmlformats.org/drawingml/2006/main">
              <a:ext uri="{FF2B5EF4-FFF2-40B4-BE49-F238E27FC236}">
                <a16:creationId xmlns:a16="http://schemas.microsoft.com/office/drawing/2014/main" id="{DC4819C0-19F8-46BE-9B24-F6055EF2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037" y="4632775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119" name="object-145-s3-ux">
            <a:extLst xmlns:a="http://schemas.openxmlformats.org/drawingml/2006/main">
              <a:ext uri="{FF2B5EF4-FFF2-40B4-BE49-F238E27FC236}">
                <a16:creationId xmlns:a16="http://schemas.microsoft.com/office/drawing/2014/main" id="{E6446524-4A7F-430A-A52D-B8C72AE7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878" y="4516189"/>
            <a:ext cx="749808" cy="95"/>
          </a:xfrm>
          <a:custGeom xmlns:a="http://schemas.openxmlformats.org/drawingml/2006/main">
            <a:pathLst>
              <a:path w="749808" h="95">
                <a:moveTo>
                  <a:pt x="0" y="0"/>
                </a:moveTo>
                <a:lnTo>
                  <a:pt x="7498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20" name="object-146-s3-ux">
            <a:extLst xmlns:a="http://schemas.openxmlformats.org/drawingml/2006/main">
              <a:ext uri="{FF2B5EF4-FFF2-40B4-BE49-F238E27FC236}">
                <a16:creationId xmlns:a16="http://schemas.microsoft.com/office/drawing/2014/main" id="{ECDC0D05-95BE-418E-A6E2-CFC93299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878" y="4863661"/>
            <a:ext cx="749808" cy="95"/>
          </a:xfrm>
          <a:custGeom xmlns:a="http://schemas.openxmlformats.org/drawingml/2006/main">
            <a:pathLst>
              <a:path w="749808" h="95">
                <a:moveTo>
                  <a:pt x="0" y="0"/>
                </a:moveTo>
                <a:lnTo>
                  <a:pt x="7498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21" name="object-147-s3-ux">
            <a:extLst xmlns:a="http://schemas.openxmlformats.org/drawingml/2006/main">
              <a:ext uri="{FF2B5EF4-FFF2-40B4-BE49-F238E27FC236}">
                <a16:creationId xmlns:a16="http://schemas.microsoft.com/office/drawing/2014/main" id="{4B27CA46-EF19-4FF1-8C76-2EEDB6DB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782" y="451618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22" name="object-148-s3-ux">
            <a:extLst xmlns:a="http://schemas.openxmlformats.org/drawingml/2006/main">
              <a:ext uri="{FF2B5EF4-FFF2-40B4-BE49-F238E27FC236}">
                <a16:creationId xmlns:a16="http://schemas.microsoft.com/office/drawing/2014/main" id="{9C00CD91-1633-4287-AF3F-64D9F176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634" y="447504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123" name="object-149-s3-ux">
            <a:extLst xmlns:a="http://schemas.openxmlformats.org/drawingml/2006/main">
              <a:ext uri="{FF2B5EF4-FFF2-40B4-BE49-F238E27FC236}">
                <a16:creationId xmlns:a16="http://schemas.microsoft.com/office/drawing/2014/main" id="{E986097B-C35A-4FD1-97B2-68C95A1A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770" y="476764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24" name="object-150-s3-ux">
            <a:extLst xmlns:a="http://schemas.openxmlformats.org/drawingml/2006/main">
              <a:ext uri="{FF2B5EF4-FFF2-40B4-BE49-F238E27FC236}">
                <a16:creationId xmlns:a16="http://schemas.microsoft.com/office/drawing/2014/main" id="{105EB0C1-CA76-429C-83C0-3325DD77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774" y="479965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25" name="object-151-s4-ux">
            <a:extLst xmlns:a="http://schemas.openxmlformats.org/drawingml/2006/main">
              <a:ext uri="{FF2B5EF4-FFF2-40B4-BE49-F238E27FC236}">
                <a16:creationId xmlns:a16="http://schemas.microsoft.com/office/drawing/2014/main" id="{62501E0B-EEA4-41E0-9A5B-C1B8E892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87639"/>
            <a:ext cx="942975" cy="371475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D66A3E"/>
            </a:solidFill>
            <a:prstDash val="solid"/>
          </a:ln>
        </p:spPr>
      </p:sp>
      <p:sp>
        <p:nvSpPr>
          <p:cNvPr id="126" name="object-152-s4-ux">
            <a:extLst xmlns:a="http://schemas.openxmlformats.org/drawingml/2006/main">
              <a:ext uri="{FF2B5EF4-FFF2-40B4-BE49-F238E27FC236}">
                <a16:creationId xmlns:a16="http://schemas.microsoft.com/office/drawing/2014/main" id="{214986F1-7E31-4391-BF02-02A1589C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918" y="4466659"/>
            <a:ext cx="332602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Already follows from X cancellation</a:t>
            </a:r>
          </a:p>
        </p:txBody>
      </p:sp>
      <p:sp>
        <p:nvSpPr>
          <p:cNvPr id="127" name="object-153-s4-ux">
            <a:extLst xmlns:a="http://schemas.openxmlformats.org/drawingml/2006/main">
              <a:ext uri="{FF2B5EF4-FFF2-40B4-BE49-F238E27FC236}">
                <a16:creationId xmlns:a16="http://schemas.microsoft.com/office/drawing/2014/main" id="{8D313A22-3B6D-40BD-ABD2-BD9F319A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838134"/>
            <a:ext cx="3325564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Derivable: discard this extra rule</a:t>
            </a:r>
          </a:p>
        </p:txBody>
      </p:sp>
      <p:sp>
        <p:nvSpPr>
          <p:cNvPr id="128" name="object-154-s5-ux">
            <a:extLst xmlns:a="http://schemas.openxmlformats.org/drawingml/2006/main">
              <a:ext uri="{FF2B5EF4-FFF2-40B4-BE49-F238E27FC236}">
                <a16:creationId xmlns:a16="http://schemas.microsoft.com/office/drawing/2014/main" id="{4BC38BD0-DE3D-4589-B4BE-9EADCEF1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6279"/>
            <a:ext cx="7451527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Output: retained concrete rules + equivalence-class representatives</a:t>
            </a:r>
          </a:p>
        </p:txBody>
      </p:sp>
      <p:sp>
        <p:nvSpPr>
          <p:cNvPr id="129" name="object-155-s0-ux">
            <a:extLst xmlns:a="http://schemas.openxmlformats.org/drawingml/2006/main">
              <a:ext uri="{FF2B5EF4-FFF2-40B4-BE49-F238E27FC236}">
                <a16:creationId xmlns:a16="http://schemas.microsoft.com/office/drawing/2014/main" id="{6481AC94-C41C-4DF2-9EB8-A6B3523E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18631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PIF groups candidates. Equality saturation checks derivability. SMT validates each retained concrete rule.</a:t>
            </a:r>
          </a:p>
        </p:txBody>
      </p:sp>
      <p:sp>
        <p:nvSpPr>
          <p:cNvPr id="130" name="object-156-s0-ux">
            <a:extLst xmlns:a="http://schemas.openxmlformats.org/drawingml/2006/main">
              <a:ext uri="{FF2B5EF4-FFF2-40B4-BE49-F238E27FC236}">
                <a16:creationId xmlns:a16="http://schemas.microsoft.com/office/drawing/2014/main" id="{B6948800-E62F-41FB-A3CD-68947D2C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74000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QSymb synthesis / anchoring methods; CZ → CX illustration derived for this talk</a:t>
            </a:r>
          </a:p>
        </p:txBody>
      </p:sp>
      <p:sp>
        <p:nvSpPr>
          <p:cNvPr id="131" name="object-157-s0-ux">
            <a:extLst xmlns:a="http://schemas.openxmlformats.org/drawingml/2006/main">
              <a:ext uri="{FF2B5EF4-FFF2-40B4-BE49-F238E27FC236}">
                <a16:creationId xmlns:a16="http://schemas.microsoft.com/office/drawing/2014/main" id="{2E5A873D-AD4F-48C0-B63B-EF484CE2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</p:spTree>
    <p:extLst>
      <p:ext uri="{BB962C8B-B14F-4D97-AF65-F5344CB8AC3E}">
        <p14:creationId xmlns:p14="http://schemas.microsoft.com/office/powerpoint/2010/main" val="11577556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top-accent">
            <a:extLst xmlns:a="http://schemas.openxmlformats.org/drawingml/2006/main">
              <a:ext uri="{FF2B5EF4-FFF2-40B4-BE49-F238E27FC236}">
                <a16:creationId xmlns:a16="http://schemas.microsoft.com/office/drawing/2014/main" id="{2DFD08DA-98C3-45DA-8293-B263EF38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E4129EDB-B9C8-4D5C-A723-C0DD311C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"/>
            <a:ext cx="7902386" cy="527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Why canonical symbolic rules are sufficient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8F8B4E15-03CC-41F7-983A-04F663DB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2833"/>
            <a:ext cx="931366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5429C921-0413-4656-8C38-78250978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180445"/>
            <a:ext cx="6776889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Each gate’s inverse is implementable by a finite circuit in the same gate set.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21C99A3D-3DE0-45B7-A51C-7DECBB63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873"/>
            <a:ext cx="10763250" cy="95"/>
          </a:xfrm>
          <a:custGeom xmlns:a="http://schemas.openxmlformats.org/drawingml/2006/main">
            <a:pathLst>
              <a:path w="10763250" h="95">
                <a:moveTo>
                  <a:pt x="0" y="0"/>
                </a:moveTo>
                <a:lnTo>
                  <a:pt x="1076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C92D74CB-4683-4E69-BCA2-4A37FBC7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6705"/>
            <a:ext cx="1155948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THEOREM 5.1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F4996658-A71D-48D9-8AAD-5DD49233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641455"/>
            <a:ext cx="659448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Every single-S rule has an equivalent canonical form.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C5270EF3-D5E7-4BAF-9493-FDDE6943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2465"/>
            <a:ext cx="236532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General symbolic rule</a:t>
            </a:r>
          </a:p>
        </p:txBody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4BA3D2B2-26ED-4C43-86A7-57F6C901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24373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3B180816-156D-45E5-B3B8-EBB72098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9084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4CB38EE5-765E-4CA1-AE5E-C6B8AC18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280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98EB6B66-146E-4279-B8D1-51B0C31A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335" y="2152852"/>
            <a:ext cx="322808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G₁</a:t>
            </a:r>
          </a:p>
        </p:txBody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62C3DBE6-0902-493A-B075-6D422177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681" y="2012359"/>
            <a:ext cx="410719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67F18FE8-84E9-43B9-9FF8-C90771F9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204" y="2152852"/>
            <a:ext cx="231874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98BAA35E-C732-419C-9F49-689E7D5F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82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9AAE5D30-74A9-496D-BBEE-B7A95E88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212" y="2152852"/>
            <a:ext cx="322659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G₂</a:t>
            </a:r>
          </a:p>
        </p:txBody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CFF088AB-D7A5-44DC-B48F-A0F63C0C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991" y="2090102"/>
            <a:ext cx="255880" cy="381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79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279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ECC0EF9E-1712-4ABB-8E09-CF2DFCD6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564" y="2124373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9FDF28B7-737A-4ED8-AD0F-1960C3CC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564" y="2479084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52EA6F1C-0583-49C9-8917-D3887748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920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DD7EE133-0A9A-4D9D-A75F-4E34E431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097" y="2152852"/>
            <a:ext cx="368017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G₁′</a:t>
            </a:r>
          </a:p>
        </p:txBody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EFC6A8C1-E697-41C9-8586-5AF453F3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321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17F5FA6B-EB3D-4603-B6DF-89EC285C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843" y="2152852"/>
            <a:ext cx="231874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57036AB9-48E3-488F-A843-EC704ABB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721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30F1B9B9-BE5F-44F0-AD9F-2BA2E312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973" y="2152852"/>
            <a:ext cx="367903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G₂′</a:t>
            </a:r>
          </a:p>
        </p:txBody>
      </p:sp>
      <p:sp>
        <p:nvSpPr>
          <p:cNvPr id="26" name="object-24-s1-ux">
            <a:extLst xmlns:a="http://schemas.openxmlformats.org/drawingml/2006/main">
              <a:ext uri="{FF2B5EF4-FFF2-40B4-BE49-F238E27FC236}">
                <a16:creationId xmlns:a16="http://schemas.microsoft.com/office/drawing/2014/main" id="{E3C6B4BD-EE51-4A9E-BACF-9970BD9A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0638"/>
            <a:ext cx="4668292" cy="33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Prepend (G₁′)⁻¹ and append G₂⁻¹ to both sides.</a:t>
            </a:r>
          </a:p>
        </p:txBody>
      </p:sp>
      <p:sp>
        <p:nvSpPr>
          <p:cNvPr id="27" name="object-25-s1-ux">
            <a:extLst xmlns:a="http://schemas.openxmlformats.org/drawingml/2006/main">
              <a:ext uri="{FF2B5EF4-FFF2-40B4-BE49-F238E27FC236}">
                <a16:creationId xmlns:a16="http://schemas.microsoft.com/office/drawing/2014/main" id="{D8AEC0BD-D430-412E-A7FA-4E4DA895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334048"/>
            <a:ext cx="741998" cy="95"/>
          </a:xfrm>
          <a:custGeom xmlns:a="http://schemas.openxmlformats.org/drawingml/2006/main">
            <a:pathLst>
              <a:path w="741998" h="95">
                <a:moveTo>
                  <a:pt x="0" y="0"/>
                </a:moveTo>
                <a:lnTo>
                  <a:pt x="7419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28" name="object-26-s1-ux">
            <a:extLst xmlns:a="http://schemas.openxmlformats.org/drawingml/2006/main">
              <a:ext uri="{FF2B5EF4-FFF2-40B4-BE49-F238E27FC236}">
                <a16:creationId xmlns:a16="http://schemas.microsoft.com/office/drawing/2014/main" id="{6E9C1675-7F60-4449-9F68-EF68B4BE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677900"/>
            <a:ext cx="741998" cy="95"/>
          </a:xfrm>
          <a:custGeom xmlns:a="http://schemas.openxmlformats.org/drawingml/2006/main">
            <a:pathLst>
              <a:path w="741998" h="95">
                <a:moveTo>
                  <a:pt x="0" y="0"/>
                </a:moveTo>
                <a:lnTo>
                  <a:pt x="7419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29" name="object-27-s1-ux">
            <a:extLst xmlns:a="http://schemas.openxmlformats.org/drawingml/2006/main">
              <a:ext uri="{FF2B5EF4-FFF2-40B4-BE49-F238E27FC236}">
                <a16:creationId xmlns:a16="http://schemas.microsoft.com/office/drawing/2014/main" id="{BC3B6E4D-047F-4905-A191-1CEF3FD2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401" y="3225463"/>
            <a:ext cx="398145" cy="561022"/>
          </a:xfrm>
          <a:prstGeom xmlns:a="http://schemas.openxmlformats.org/drawingml/2006/main" prst="roundRect">
            <a:avLst>
              <a:gd name="adj" fmla="val 717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30" name="object-28-s1-ux">
            <a:extLst xmlns:a="http://schemas.openxmlformats.org/drawingml/2006/main">
              <a:ext uri="{FF2B5EF4-FFF2-40B4-BE49-F238E27FC236}">
                <a16:creationId xmlns:a16="http://schemas.microsoft.com/office/drawing/2014/main" id="{A966AD43-C719-431F-B254-8269BACB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520" y="3355241"/>
            <a:ext cx="202108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81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81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31" name="object-29-s1-ux">
            <a:extLst xmlns:a="http://schemas.openxmlformats.org/drawingml/2006/main">
              <a:ext uri="{FF2B5EF4-FFF2-40B4-BE49-F238E27FC236}">
                <a16:creationId xmlns:a16="http://schemas.microsoft.com/office/drawing/2014/main" id="{487921E6-3604-4054-8AB7-9705D8AE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054" y="3302187"/>
            <a:ext cx="248013" cy="370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9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209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32" name="object-30-s1-ux">
            <a:extLst xmlns:a="http://schemas.openxmlformats.org/drawingml/2006/main">
              <a:ext uri="{FF2B5EF4-FFF2-40B4-BE49-F238E27FC236}">
                <a16:creationId xmlns:a16="http://schemas.microsoft.com/office/drawing/2014/main" id="{51647D69-7547-46AA-AEA2-B569652C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593" y="3334048"/>
            <a:ext cx="1538288" cy="95"/>
          </a:xfrm>
          <a:custGeom xmlns:a="http://schemas.openxmlformats.org/drawingml/2006/main">
            <a:pathLst>
              <a:path w="1538288" h="95">
                <a:moveTo>
                  <a:pt x="0" y="0"/>
                </a:moveTo>
                <a:lnTo>
                  <a:pt x="1538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33" name="object-31-s1-ux">
            <a:extLst xmlns:a="http://schemas.openxmlformats.org/drawingml/2006/main">
              <a:ext uri="{FF2B5EF4-FFF2-40B4-BE49-F238E27FC236}">
                <a16:creationId xmlns:a16="http://schemas.microsoft.com/office/drawing/2014/main" id="{56542376-926E-49A2-8B2D-40F6052B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593" y="3677900"/>
            <a:ext cx="1538288" cy="95"/>
          </a:xfrm>
          <a:custGeom xmlns:a="http://schemas.openxmlformats.org/drawingml/2006/main">
            <a:pathLst>
              <a:path w="1538288" h="95">
                <a:moveTo>
                  <a:pt x="0" y="0"/>
                </a:moveTo>
                <a:lnTo>
                  <a:pt x="1538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34" name="object-32-s1-ux">
            <a:extLst xmlns:a="http://schemas.openxmlformats.org/drawingml/2006/main">
              <a:ext uri="{FF2B5EF4-FFF2-40B4-BE49-F238E27FC236}">
                <a16:creationId xmlns:a16="http://schemas.microsoft.com/office/drawing/2014/main" id="{62D5CCC9-3FB0-4B18-82C1-80EB4EF5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568" y="3225463"/>
            <a:ext cx="651510" cy="561022"/>
          </a:xfrm>
          <a:prstGeom xmlns:a="http://schemas.openxmlformats.org/drawingml/2006/main" prst="roundRect">
            <a:avLst>
              <a:gd name="adj" fmla="val 5093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35" name="object-33-s1-ux">
            <a:extLst xmlns:a="http://schemas.openxmlformats.org/drawingml/2006/main">
              <a:ext uri="{FF2B5EF4-FFF2-40B4-BE49-F238E27FC236}">
                <a16:creationId xmlns:a16="http://schemas.microsoft.com/office/drawing/2014/main" id="{BE1EC9C6-84CB-4BFE-844C-01C3D04D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565" y="3407390"/>
            <a:ext cx="391715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G₁′⁻¹</a:t>
            </a:r>
          </a:p>
        </p:txBody>
      </p:sp>
      <p:sp>
        <p:nvSpPr>
          <p:cNvPr id="36" name="object-34-s1-ux">
            <a:extLst xmlns:a="http://schemas.openxmlformats.org/drawingml/2006/main">
              <a:ext uri="{FF2B5EF4-FFF2-40B4-BE49-F238E27FC236}">
                <a16:creationId xmlns:a16="http://schemas.microsoft.com/office/drawing/2014/main" id="{334B740A-FBDD-4BB7-AEB5-8D7F8D76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809" y="3225463"/>
            <a:ext cx="398145" cy="561022"/>
          </a:xfrm>
          <a:prstGeom xmlns:a="http://schemas.openxmlformats.org/drawingml/2006/main" prst="roundRect">
            <a:avLst>
              <a:gd name="adj" fmla="val 717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37" name="object-35-s1-ux">
            <a:extLst xmlns:a="http://schemas.openxmlformats.org/drawingml/2006/main">
              <a:ext uri="{FF2B5EF4-FFF2-40B4-BE49-F238E27FC236}">
                <a16:creationId xmlns:a16="http://schemas.microsoft.com/office/drawing/2014/main" id="{8969AF5C-8DB1-4534-BC21-5522C10F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72" y="3355241"/>
            <a:ext cx="315218" cy="332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81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81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G₁</a:t>
            </a:r>
          </a:p>
        </p:txBody>
      </p:sp>
      <p:sp>
        <p:nvSpPr>
          <p:cNvPr id="38" name="object-36-s1-ux">
            <a:extLst xmlns:a="http://schemas.openxmlformats.org/drawingml/2006/main">
              <a:ext uri="{FF2B5EF4-FFF2-40B4-BE49-F238E27FC236}">
                <a16:creationId xmlns:a16="http://schemas.microsoft.com/office/drawing/2014/main" id="{5EDE9A8B-85CD-498E-9393-95169EB9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4048"/>
            <a:ext cx="741998" cy="95"/>
          </a:xfrm>
          <a:custGeom xmlns:a="http://schemas.openxmlformats.org/drawingml/2006/main">
            <a:pathLst>
              <a:path w="741998" h="95">
                <a:moveTo>
                  <a:pt x="0" y="0"/>
                </a:moveTo>
                <a:lnTo>
                  <a:pt x="7419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39" name="object-37-s1-ux">
            <a:extLst xmlns:a="http://schemas.openxmlformats.org/drawingml/2006/main">
              <a:ext uri="{FF2B5EF4-FFF2-40B4-BE49-F238E27FC236}">
                <a16:creationId xmlns:a16="http://schemas.microsoft.com/office/drawing/2014/main" id="{AF7BFA0D-BC3F-4839-9945-05BE61BE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77900"/>
            <a:ext cx="741998" cy="95"/>
          </a:xfrm>
          <a:custGeom xmlns:a="http://schemas.openxmlformats.org/drawingml/2006/main">
            <a:pathLst>
              <a:path w="741998" h="95">
                <a:moveTo>
                  <a:pt x="0" y="0"/>
                </a:moveTo>
                <a:lnTo>
                  <a:pt x="7419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40" name="object-38-s1-ux">
            <a:extLst xmlns:a="http://schemas.openxmlformats.org/drawingml/2006/main">
              <a:ext uri="{FF2B5EF4-FFF2-40B4-BE49-F238E27FC236}">
                <a16:creationId xmlns:a16="http://schemas.microsoft.com/office/drawing/2014/main" id="{A77BAEE7-6A02-4F26-87BB-04EBAD96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3225463"/>
            <a:ext cx="398145" cy="561022"/>
          </a:xfrm>
          <a:prstGeom xmlns:a="http://schemas.openxmlformats.org/drawingml/2006/main" prst="roundRect">
            <a:avLst>
              <a:gd name="adj" fmla="val 717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41" name="object-39-s1-ux">
            <a:extLst xmlns:a="http://schemas.openxmlformats.org/drawingml/2006/main">
              <a:ext uri="{FF2B5EF4-FFF2-40B4-BE49-F238E27FC236}">
                <a16:creationId xmlns:a16="http://schemas.microsoft.com/office/drawing/2014/main" id="{E86EE6D4-7A83-42B4-AD51-0972EA99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042" y="3355241"/>
            <a:ext cx="239613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81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81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2" name="object-40-s1-ux">
            <a:extLst xmlns:a="http://schemas.openxmlformats.org/drawingml/2006/main">
              <a:ext uri="{FF2B5EF4-FFF2-40B4-BE49-F238E27FC236}">
                <a16:creationId xmlns:a16="http://schemas.microsoft.com/office/drawing/2014/main" id="{23419134-62F0-4EAE-8DDB-E7E0CC5D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329" y="3302187"/>
            <a:ext cx="248013" cy="370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9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209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43" name="object-41-s1-ux">
            <a:extLst xmlns:a="http://schemas.openxmlformats.org/drawingml/2006/main">
              <a:ext uri="{FF2B5EF4-FFF2-40B4-BE49-F238E27FC236}">
                <a16:creationId xmlns:a16="http://schemas.microsoft.com/office/drawing/2014/main" id="{372A4B67-028E-4505-B832-72654A8E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868" y="3334048"/>
            <a:ext cx="1538288" cy="95"/>
          </a:xfrm>
          <a:custGeom xmlns:a="http://schemas.openxmlformats.org/drawingml/2006/main">
            <a:pathLst>
              <a:path w="1538288" h="95">
                <a:moveTo>
                  <a:pt x="0" y="0"/>
                </a:moveTo>
                <a:lnTo>
                  <a:pt x="1538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44" name="object-42-s1-ux">
            <a:extLst xmlns:a="http://schemas.openxmlformats.org/drawingml/2006/main">
              <a:ext uri="{FF2B5EF4-FFF2-40B4-BE49-F238E27FC236}">
                <a16:creationId xmlns:a16="http://schemas.microsoft.com/office/drawing/2014/main" id="{52A63E51-D647-402F-9EAC-2CD3A496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868" y="3677900"/>
            <a:ext cx="1538288" cy="95"/>
          </a:xfrm>
          <a:custGeom xmlns:a="http://schemas.openxmlformats.org/drawingml/2006/main">
            <a:pathLst>
              <a:path w="1538288" h="95">
                <a:moveTo>
                  <a:pt x="0" y="0"/>
                </a:moveTo>
                <a:lnTo>
                  <a:pt x="1538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45" name="object-43-s1-ux">
            <a:extLst xmlns:a="http://schemas.openxmlformats.org/drawingml/2006/main">
              <a:ext uri="{FF2B5EF4-FFF2-40B4-BE49-F238E27FC236}">
                <a16:creationId xmlns:a16="http://schemas.microsoft.com/office/drawing/2014/main" id="{B6267BF9-D1B5-4B98-948A-17EB66FB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794" y="3225463"/>
            <a:ext cx="398145" cy="561022"/>
          </a:xfrm>
          <a:prstGeom xmlns:a="http://schemas.openxmlformats.org/drawingml/2006/main" prst="roundRect">
            <a:avLst>
              <a:gd name="adj" fmla="val 717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46" name="object-44-s1-ux">
            <a:extLst xmlns:a="http://schemas.openxmlformats.org/drawingml/2006/main">
              <a:ext uri="{FF2B5EF4-FFF2-40B4-BE49-F238E27FC236}">
                <a16:creationId xmlns:a16="http://schemas.microsoft.com/office/drawing/2014/main" id="{9FF351D6-5141-4E98-8E60-C3E2042C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224" y="3355241"/>
            <a:ext cx="358973" cy="332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81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81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G₂′</a:t>
            </a:r>
          </a:p>
        </p:txBody>
      </p:sp>
      <p:sp>
        <p:nvSpPr>
          <p:cNvPr id="47" name="object-45-s1-ux">
            <a:extLst xmlns:a="http://schemas.openxmlformats.org/drawingml/2006/main">
              <a:ext uri="{FF2B5EF4-FFF2-40B4-BE49-F238E27FC236}">
                <a16:creationId xmlns:a16="http://schemas.microsoft.com/office/drawing/2014/main" id="{5432C6F8-5A98-4286-B70C-C61A9C08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670" y="3225463"/>
            <a:ext cx="651510" cy="561022"/>
          </a:xfrm>
          <a:prstGeom xmlns:a="http://schemas.openxmlformats.org/drawingml/2006/main" prst="roundRect">
            <a:avLst>
              <a:gd name="adj" fmla="val 5093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48" name="object-46-s1-ux">
            <a:extLst xmlns:a="http://schemas.openxmlformats.org/drawingml/2006/main">
              <a:ext uri="{FF2B5EF4-FFF2-40B4-BE49-F238E27FC236}">
                <a16:creationId xmlns:a16="http://schemas.microsoft.com/office/drawing/2014/main" id="{25DA2BD2-A19E-4033-A520-D78148F5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634" y="3407390"/>
            <a:ext cx="357783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G₂⁻¹</a:t>
            </a:r>
          </a:p>
        </p:txBody>
      </p:sp>
      <p:sp>
        <p:nvSpPr>
          <p:cNvPr id="49" name="object-47-s1-ux">
            <a:extLst xmlns:a="http://schemas.openxmlformats.org/drawingml/2006/main">
              <a:ext uri="{FF2B5EF4-FFF2-40B4-BE49-F238E27FC236}">
                <a16:creationId xmlns:a16="http://schemas.microsoft.com/office/drawing/2014/main" id="{DAFACA09-CA1F-4C53-9DF1-F57B564F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33158"/>
            <a:ext cx="1885206" cy="362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⟦L⟧ = ⟦G₁⟧ ⟦G₁′⟧⁻¹</a:t>
            </a:r>
          </a:p>
        </p:txBody>
      </p:sp>
      <p:sp>
        <p:nvSpPr>
          <p:cNvPr id="50" name="object-48-s1-ux">
            <a:extLst xmlns:a="http://schemas.openxmlformats.org/drawingml/2006/main">
              <a:ext uri="{FF2B5EF4-FFF2-40B4-BE49-F238E27FC236}">
                <a16:creationId xmlns:a16="http://schemas.microsoft.com/office/drawing/2014/main" id="{B92DC880-061F-4554-9ADF-36D2E1B0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33158"/>
            <a:ext cx="1925985" cy="362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⟦R⟧ = ⟦G₂⟧⁻¹ ⟦G₂′⟧</a:t>
            </a:r>
          </a:p>
        </p:txBody>
      </p:sp>
      <p:sp>
        <p:nvSpPr>
          <p:cNvPr id="51" name="object-49-s2-ux">
            <a:extLst xmlns:a="http://schemas.openxmlformats.org/drawingml/2006/main">
              <a:ext uri="{FF2B5EF4-FFF2-40B4-BE49-F238E27FC236}">
                <a16:creationId xmlns:a16="http://schemas.microsoft.com/office/drawing/2014/main" id="{866151CC-A9D3-48A2-A0B6-89F80DD9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4665"/>
            <a:ext cx="2718048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Equivalent canonical rule</a:t>
            </a:r>
          </a:p>
        </p:txBody>
      </p:sp>
      <p:sp>
        <p:nvSpPr>
          <p:cNvPr id="52" name="object-50-s2-ux">
            <a:extLst xmlns:a="http://schemas.openxmlformats.org/drawingml/2006/main">
              <a:ext uri="{FF2B5EF4-FFF2-40B4-BE49-F238E27FC236}">
                <a16:creationId xmlns:a16="http://schemas.microsoft.com/office/drawing/2014/main" id="{CAC12E17-8484-47F4-A522-A279DFD5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67523"/>
            <a:ext cx="1466850" cy="95"/>
          </a:xfrm>
          <a:custGeom xmlns:a="http://schemas.openxmlformats.org/drawingml/2006/main">
            <a:pathLst>
              <a:path w="1466850" h="95">
                <a:moveTo>
                  <a:pt x="0" y="0"/>
                </a:moveTo>
                <a:lnTo>
                  <a:pt x="1466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53" name="object-51-s2-ux">
            <a:extLst xmlns:a="http://schemas.openxmlformats.org/drawingml/2006/main">
              <a:ext uri="{FF2B5EF4-FFF2-40B4-BE49-F238E27FC236}">
                <a16:creationId xmlns:a16="http://schemas.microsoft.com/office/drawing/2014/main" id="{D9DE489B-A4B9-46DA-8FB8-AC468585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65668"/>
            <a:ext cx="1466850" cy="95"/>
          </a:xfrm>
          <a:custGeom xmlns:a="http://schemas.openxmlformats.org/drawingml/2006/main">
            <a:pathLst>
              <a:path w="1466850" h="95">
                <a:moveTo>
                  <a:pt x="0" y="0"/>
                </a:moveTo>
                <a:lnTo>
                  <a:pt x="1466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54" name="object-52-s2-ux">
            <a:extLst xmlns:a="http://schemas.openxmlformats.org/drawingml/2006/main">
              <a:ext uri="{FF2B5EF4-FFF2-40B4-BE49-F238E27FC236}">
                <a16:creationId xmlns:a16="http://schemas.microsoft.com/office/drawing/2014/main" id="{8D0A82B4-D975-40D8-8B7D-B72FDA6E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473" y="4341793"/>
            <a:ext cx="461010" cy="649605"/>
          </a:xfrm>
          <a:prstGeom xmlns:a="http://schemas.openxmlformats.org/drawingml/2006/main" prst="roundRect">
            <a:avLst>
              <a:gd name="adj" fmla="val 619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0955">
            <a:solidFill>
              <a:srgbClr val="087E86"/>
            </a:solidFill>
            <a:prstDash val="solid"/>
          </a:ln>
        </p:spPr>
      </p:sp>
      <p:sp>
        <p:nvSpPr>
          <p:cNvPr id="55" name="object-53-s2-ux">
            <a:extLst xmlns:a="http://schemas.openxmlformats.org/drawingml/2006/main">
              <a:ext uri="{FF2B5EF4-FFF2-40B4-BE49-F238E27FC236}">
                <a16:creationId xmlns:a16="http://schemas.microsoft.com/office/drawing/2014/main" id="{6A1ACED7-C5B3-468F-9688-D4DA2674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126" y="4496574"/>
            <a:ext cx="224284" cy="347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63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56" name="object-54-s2-ux">
            <a:extLst xmlns:a="http://schemas.openxmlformats.org/drawingml/2006/main">
              <a:ext uri="{FF2B5EF4-FFF2-40B4-BE49-F238E27FC236}">
                <a16:creationId xmlns:a16="http://schemas.microsoft.com/office/drawing/2014/main" id="{D2F0D90E-03CA-4504-82AE-1ED1C716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168" y="4341793"/>
            <a:ext cx="461010" cy="649605"/>
          </a:xfrm>
          <a:prstGeom xmlns:a="http://schemas.openxmlformats.org/drawingml/2006/main" prst="roundRect">
            <a:avLst>
              <a:gd name="adj" fmla="val 619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0955">
            <a:solidFill>
              <a:srgbClr val="087E86"/>
            </a:solidFill>
            <a:prstDash val="solid"/>
          </a:ln>
        </p:spPr>
      </p:sp>
      <p:sp>
        <p:nvSpPr>
          <p:cNvPr id="57" name="object-55-s2-ux">
            <a:extLst xmlns:a="http://schemas.openxmlformats.org/drawingml/2006/main">
              <a:ext uri="{FF2B5EF4-FFF2-40B4-BE49-F238E27FC236}">
                <a16:creationId xmlns:a16="http://schemas.microsoft.com/office/drawing/2014/main" id="{2856F033-9A87-4AE3-91D0-A487D87E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311" y="4496574"/>
            <a:ext cx="253305" cy="347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63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58" name="object-56-s2-ux">
            <a:extLst xmlns:a="http://schemas.openxmlformats.org/drawingml/2006/main">
              <a:ext uri="{FF2B5EF4-FFF2-40B4-BE49-F238E27FC236}">
                <a16:creationId xmlns:a16="http://schemas.microsoft.com/office/drawing/2014/main" id="{22BC2AAA-C213-421A-AC9F-0A1B15CE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174" y="4433137"/>
            <a:ext cx="287197" cy="426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55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59" name="object-57-s2-ux">
            <a:extLst xmlns:a="http://schemas.openxmlformats.org/drawingml/2006/main">
              <a:ext uri="{FF2B5EF4-FFF2-40B4-BE49-F238E27FC236}">
                <a16:creationId xmlns:a16="http://schemas.microsoft.com/office/drawing/2014/main" id="{CE61C256-9093-459A-91F4-AEA89034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810" y="4467523"/>
            <a:ext cx="1466850" cy="95"/>
          </a:xfrm>
          <a:custGeom xmlns:a="http://schemas.openxmlformats.org/drawingml/2006/main">
            <a:pathLst>
              <a:path w="1466850" h="95">
                <a:moveTo>
                  <a:pt x="0" y="0"/>
                </a:moveTo>
                <a:lnTo>
                  <a:pt x="1466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60" name="object-58-s2-ux">
            <a:extLst xmlns:a="http://schemas.openxmlformats.org/drawingml/2006/main">
              <a:ext uri="{FF2B5EF4-FFF2-40B4-BE49-F238E27FC236}">
                <a16:creationId xmlns:a16="http://schemas.microsoft.com/office/drawing/2014/main" id="{B8847668-1837-4F4B-9143-132F9481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810" y="4865668"/>
            <a:ext cx="1466850" cy="95"/>
          </a:xfrm>
          <a:custGeom xmlns:a="http://schemas.openxmlformats.org/drawingml/2006/main">
            <a:pathLst>
              <a:path w="1466850" h="95">
                <a:moveTo>
                  <a:pt x="0" y="0"/>
                </a:moveTo>
                <a:lnTo>
                  <a:pt x="1466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61" name="object-59-s2-ux">
            <a:extLst xmlns:a="http://schemas.openxmlformats.org/drawingml/2006/main">
              <a:ext uri="{FF2B5EF4-FFF2-40B4-BE49-F238E27FC236}">
                <a16:creationId xmlns:a16="http://schemas.microsoft.com/office/drawing/2014/main" id="{48A9FB0E-5CF3-45E9-90FE-BE89AFB8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882" y="4341793"/>
            <a:ext cx="461010" cy="649605"/>
          </a:xfrm>
          <a:prstGeom xmlns:a="http://schemas.openxmlformats.org/drawingml/2006/main" prst="roundRect">
            <a:avLst>
              <a:gd name="adj" fmla="val 619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0955">
            <a:solidFill>
              <a:srgbClr val="087E86"/>
            </a:solidFill>
            <a:prstDash val="solid"/>
          </a:ln>
        </p:spPr>
      </p:sp>
      <p:sp>
        <p:nvSpPr>
          <p:cNvPr id="62" name="object-60-s2-ux">
            <a:extLst xmlns:a="http://schemas.openxmlformats.org/drawingml/2006/main">
              <a:ext uri="{FF2B5EF4-FFF2-40B4-BE49-F238E27FC236}">
                <a16:creationId xmlns:a16="http://schemas.microsoft.com/office/drawing/2014/main" id="{52E783FE-7367-47EC-A870-FF14F10D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025" y="4496574"/>
            <a:ext cx="253305" cy="347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63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63" name="object-61-s2-ux">
            <a:extLst xmlns:a="http://schemas.openxmlformats.org/drawingml/2006/main">
              <a:ext uri="{FF2B5EF4-FFF2-40B4-BE49-F238E27FC236}">
                <a16:creationId xmlns:a16="http://schemas.microsoft.com/office/drawing/2014/main" id="{11273AE5-BC23-4701-9D4A-BAEE54AF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578" y="4341793"/>
            <a:ext cx="461010" cy="649605"/>
          </a:xfrm>
          <a:prstGeom xmlns:a="http://schemas.openxmlformats.org/drawingml/2006/main" prst="roundRect">
            <a:avLst>
              <a:gd name="adj" fmla="val 619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0955">
            <a:solidFill>
              <a:srgbClr val="087E86"/>
            </a:solidFill>
            <a:prstDash val="solid"/>
          </a:ln>
        </p:spPr>
      </p:sp>
      <p:sp>
        <p:nvSpPr>
          <p:cNvPr id="64" name="object-62-s2-ux">
            <a:extLst xmlns:a="http://schemas.openxmlformats.org/drawingml/2006/main">
              <a:ext uri="{FF2B5EF4-FFF2-40B4-BE49-F238E27FC236}">
                <a16:creationId xmlns:a16="http://schemas.microsoft.com/office/drawing/2014/main" id="{35892984-8502-4B06-873F-5CA8CF44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428" y="4496574"/>
            <a:ext cx="267891" cy="347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63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5" name="object-63-s2-ux">
            <a:extLst xmlns:a="http://schemas.openxmlformats.org/drawingml/2006/main">
              <a:ext uri="{FF2B5EF4-FFF2-40B4-BE49-F238E27FC236}">
                <a16:creationId xmlns:a16="http://schemas.microsoft.com/office/drawing/2014/main" id="{A2AD02A1-B241-45EC-9FF6-013B3297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8563"/>
            <a:ext cx="8157418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The same S satisfies the general rule if and only if it satisfies this canonical rule.</a:t>
            </a:r>
          </a:p>
        </p:txBody>
      </p:sp>
      <p:sp>
        <p:nvSpPr>
          <p:cNvPr id="66" name="object-64-s0-ux">
            <a:extLst xmlns:a="http://schemas.openxmlformats.org/drawingml/2006/main">
              <a:ext uri="{FF2B5EF4-FFF2-40B4-BE49-F238E27FC236}">
                <a16:creationId xmlns:a16="http://schemas.microsoft.com/office/drawing/2014/main" id="{172499DC-C660-4E0A-A65D-C90658AF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5919043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Circuits read left to right; matrix products act right to left. ⟦C⟧ denotes circuit C’s matrix.</a:t>
            </a:r>
          </a:p>
        </p:txBody>
      </p:sp>
      <p:sp>
        <p:nvSpPr>
          <p:cNvPr id="67" name="object-65-s0-ux">
            <a:extLst xmlns:a="http://schemas.openxmlformats.org/drawingml/2006/main">
              <a:ext uri="{FF2B5EF4-FFF2-40B4-BE49-F238E27FC236}">
                <a16:creationId xmlns:a16="http://schemas.microsoft.com/office/drawing/2014/main" id="{894DBFFF-C907-4F3B-B580-69E63859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36381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§5.3.1, Theorem 5.1 and Lemma 5.6</a:t>
            </a:r>
          </a:p>
        </p:txBody>
      </p:sp>
      <p:sp>
        <p:nvSpPr>
          <p:cNvPr id="68" name="object-66-s0-ux">
            <a:extLst xmlns:a="http://schemas.openxmlformats.org/drawingml/2006/main">
              <a:ext uri="{FF2B5EF4-FFF2-40B4-BE49-F238E27FC236}">
                <a16:creationId xmlns:a16="http://schemas.microsoft.com/office/drawing/2014/main" id="{B86D2221-C9EF-4667-BFCA-119CACD7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</p:spTree>
    <p:extLst>
      <p:ext uri="{BB962C8B-B14F-4D97-AF65-F5344CB8AC3E}">
        <p14:creationId xmlns:p14="http://schemas.microsoft.com/office/powerpoint/2010/main" val="13091714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op-accent">
            <a:extLst xmlns:a="http://schemas.openxmlformats.org/drawingml/2006/main">
              <a:ext uri="{FF2B5EF4-FFF2-40B4-BE49-F238E27FC236}">
                <a16:creationId xmlns:a16="http://schemas.microsoft.com/office/drawing/2014/main" id="{25BDFC67-F03B-4874-B90C-7607000C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41F72A7B-F305-4825-B0F1-8571738F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102233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Symbolic synthesis: enumerate, decide, solve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E9909F01-5367-425F-ACA0-DD4D3904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1974"/>
            <a:ext cx="321171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FROM CANDIDATES TO SYMBOLIC RULES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CC0F26F5-38EE-4A07-B3B1-7BBB32E0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6304"/>
            <a:ext cx="5896124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1. Enumerate all candidate pairs (L, R) within the bounds.</a:t>
            </a:r>
          </a:p>
        </p:txBody>
      </p:sp>
      <p:sp>
        <p:nvSpPr>
          <p:cNvPr id="5" name="object-3-s1-ux">
            <a:extLst xmlns:a="http://schemas.openxmlformats.org/drawingml/2006/main">
              <a:ext uri="{FF2B5EF4-FFF2-40B4-BE49-F238E27FC236}">
                <a16:creationId xmlns:a16="http://schemas.microsoft.com/office/drawing/2014/main" id="{EB54A8FD-F672-4660-8A9D-FF2505B9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4454"/>
            <a:ext cx="5832574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2. For each candidate, decide whether a unitary S exists.</a:t>
            </a:r>
          </a:p>
        </p:txBody>
      </p:sp>
      <p:sp>
        <p:nvSpPr>
          <p:cNvPr id="6" name="object-4-s1-ux">
            <a:extLst xmlns:a="http://schemas.openxmlformats.org/drawingml/2006/main">
              <a:ext uri="{FF2B5EF4-FFF2-40B4-BE49-F238E27FC236}">
                <a16:creationId xmlns:a16="http://schemas.microsoft.com/office/drawing/2014/main" id="{781133FB-6007-4BA9-9589-D16679A5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2604"/>
            <a:ext cx="4548336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3. If it exists, solve for the matrix space of S.</a:t>
            </a:r>
          </a:p>
        </p:txBody>
      </p:sp>
      <p:sp>
        <p:nvSpPr>
          <p:cNvPr id="7" name="object-5-s2-ux">
            <a:extLst xmlns:a="http://schemas.openxmlformats.org/drawingml/2006/main">
              <a:ext uri="{FF2B5EF4-FFF2-40B4-BE49-F238E27FC236}">
                <a16:creationId xmlns:a16="http://schemas.microsoft.com/office/drawing/2014/main" id="{40830876-BA42-4F15-B2E5-6A163335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2664"/>
            <a:ext cx="10782300" cy="95"/>
          </a:xfrm>
          <a:custGeom xmlns:a="http://schemas.openxmlformats.org/drawingml/2006/main">
            <a:pathLst>
              <a:path w="10782300" h="9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8" name="object-6-s2-ux">
            <a:extLst xmlns:a="http://schemas.openxmlformats.org/drawingml/2006/main">
              <a:ext uri="{FF2B5EF4-FFF2-40B4-BE49-F238E27FC236}">
                <a16:creationId xmlns:a16="http://schemas.microsoft.com/office/drawing/2014/main" id="{8BCBA6C0-26D1-412B-B2F6-6A5EA3AC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6494"/>
            <a:ext cx="2340322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TRACE FILTER · Lemma 5.4</a:t>
            </a:r>
          </a:p>
        </p:txBody>
      </p:sp>
      <p:sp>
        <p:nvSpPr>
          <p:cNvPr id="9" name="object-7-s2-ux">
            <a:extLst xmlns:a="http://schemas.openxmlformats.org/drawingml/2006/main">
              <a:ext uri="{FF2B5EF4-FFF2-40B4-BE49-F238E27FC236}">
                <a16:creationId xmlns:a16="http://schemas.microsoft.com/office/drawing/2014/main" id="{ABABF00C-6E24-4FC5-884C-15CB2E85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143" y="3136017"/>
            <a:ext cx="2031057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Necessary, not sufficient</a:t>
            </a:r>
          </a:p>
        </p:txBody>
      </p:sp>
      <p:sp>
        <p:nvSpPr>
          <p:cNvPr id="10" name="object-8-s2-ux">
            <a:extLst xmlns:a="http://schemas.openxmlformats.org/drawingml/2006/main">
              <a:ext uri="{FF2B5EF4-FFF2-40B4-BE49-F238E27FC236}">
                <a16:creationId xmlns:a16="http://schemas.microsoft.com/office/drawing/2014/main" id="{F767AA79-D730-4470-8728-310A842E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75" y="3437959"/>
            <a:ext cx="309494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∃ unitary S : S L = R S</a:t>
            </a:r>
          </a:p>
        </p:txBody>
      </p:sp>
      <p:sp>
        <p:nvSpPr>
          <p:cNvPr id="11" name="object-9-s2-ux">
            <a:extLst xmlns:a="http://schemas.openxmlformats.org/drawingml/2006/main">
              <a:ext uri="{FF2B5EF4-FFF2-40B4-BE49-F238E27FC236}">
                <a16:creationId xmlns:a16="http://schemas.microsoft.com/office/drawing/2014/main" id="{E809C2DE-D0A6-436D-95BC-E61FC6A2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549" y="3363664"/>
            <a:ext cx="46330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⇒</a:t>
            </a:r>
          </a:p>
        </p:txBody>
      </p:sp>
      <p:sp>
        <p:nvSpPr>
          <p:cNvPr id="12" name="object-10-s2-ux">
            <a:extLst xmlns:a="http://schemas.openxmlformats.org/drawingml/2006/main">
              <a:ext uri="{FF2B5EF4-FFF2-40B4-BE49-F238E27FC236}">
                <a16:creationId xmlns:a16="http://schemas.microsoft.com/office/drawing/2014/main" id="{2B9AFF7D-64ED-4ADA-B0D0-F65789B2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916" y="3437959"/>
            <a:ext cx="160680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tr(L) = tr(R)</a:t>
            </a:r>
          </a:p>
        </p:txBody>
      </p:sp>
      <p:sp>
        <p:nvSpPr>
          <p:cNvPr id="13" name="object-11-s3-ux">
            <a:extLst xmlns:a="http://schemas.openxmlformats.org/drawingml/2006/main">
              <a:ext uri="{FF2B5EF4-FFF2-40B4-BE49-F238E27FC236}">
                <a16:creationId xmlns:a16="http://schemas.microsoft.com/office/drawing/2014/main" id="{5B178090-0ACE-4225-8F03-7BC51727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2789"/>
            <a:ext cx="10782300" cy="95"/>
          </a:xfrm>
          <a:custGeom xmlns:a="http://schemas.openxmlformats.org/drawingml/2006/main">
            <a:pathLst>
              <a:path w="10782300" h="9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14" name="object-12-s3-ux">
            <a:extLst xmlns:a="http://schemas.openxmlformats.org/drawingml/2006/main">
              <a:ext uri="{FF2B5EF4-FFF2-40B4-BE49-F238E27FC236}">
                <a16:creationId xmlns:a16="http://schemas.microsoft.com/office/drawing/2014/main" id="{997D0B21-09E0-41B1-9DE4-7004126B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7569"/>
            <a:ext cx="270257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EIGENVALUE TEST · Lemma 5.3</a:t>
            </a:r>
          </a:p>
        </p:txBody>
      </p:sp>
      <p:sp>
        <p:nvSpPr>
          <p:cNvPr id="15" name="object-13-s3-ux">
            <a:extLst xmlns:a="http://schemas.openxmlformats.org/drawingml/2006/main">
              <a:ext uri="{FF2B5EF4-FFF2-40B4-BE49-F238E27FC236}">
                <a16:creationId xmlns:a16="http://schemas.microsoft.com/office/drawing/2014/main" id="{8B41EAE3-7AC1-4A2D-A99C-8E54B83C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229" y="4117092"/>
            <a:ext cx="3673971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Necessary and sufficient · equal multiplicities</a:t>
            </a:r>
          </a:p>
        </p:txBody>
      </p:sp>
      <p:sp>
        <p:nvSpPr>
          <p:cNvPr id="16" name="object-14-s3-ux">
            <a:extLst xmlns:a="http://schemas.openxmlformats.org/drawingml/2006/main">
              <a:ext uri="{FF2B5EF4-FFF2-40B4-BE49-F238E27FC236}">
                <a16:creationId xmlns:a16="http://schemas.microsoft.com/office/drawing/2014/main" id="{C2D733CB-B186-41FB-BA21-4475F6CD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75" y="4419034"/>
            <a:ext cx="309494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∃ unitary S : S L = R S</a:t>
            </a:r>
          </a:p>
        </p:txBody>
      </p:sp>
      <p:sp>
        <p:nvSpPr>
          <p:cNvPr id="17" name="object-15-s3-ux">
            <a:extLst xmlns:a="http://schemas.openxmlformats.org/drawingml/2006/main">
              <a:ext uri="{FF2B5EF4-FFF2-40B4-BE49-F238E27FC236}">
                <a16:creationId xmlns:a16="http://schemas.microsoft.com/office/drawing/2014/main" id="{E282D0E2-BF85-4360-85B6-7A869808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549" y="4344739"/>
            <a:ext cx="46330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⇔</a:t>
            </a:r>
          </a:p>
        </p:txBody>
      </p:sp>
      <p:sp>
        <p:nvSpPr>
          <p:cNvPr id="18" name="object-16-s3-ux">
            <a:extLst xmlns:a="http://schemas.openxmlformats.org/drawingml/2006/main">
              <a:ext uri="{FF2B5EF4-FFF2-40B4-BE49-F238E27FC236}">
                <a16:creationId xmlns:a16="http://schemas.microsoft.com/office/drawing/2014/main" id="{32E4BE89-4763-4A26-9E7C-B456BB65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353" y="4419034"/>
            <a:ext cx="2047935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eig(L) = eig(R)</a:t>
            </a:r>
          </a:p>
        </p:txBody>
      </p:sp>
      <p:sp>
        <p:nvSpPr>
          <p:cNvPr id="19" name="object-17-s4-ux">
            <a:extLst xmlns:a="http://schemas.openxmlformats.org/drawingml/2006/main">
              <a:ext uri="{FF2B5EF4-FFF2-40B4-BE49-F238E27FC236}">
                <a16:creationId xmlns:a16="http://schemas.microsoft.com/office/drawing/2014/main" id="{372B9BDC-F05A-43F9-A595-FE438E13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179" y="1612969"/>
            <a:ext cx="1410593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Running example</a:t>
            </a:r>
          </a:p>
        </p:txBody>
      </p:sp>
      <p:sp>
        <p:nvSpPr>
          <p:cNvPr id="20" name="object-18-s4-ux">
            <a:extLst xmlns:a="http://schemas.openxmlformats.org/drawingml/2006/main">
              <a:ext uri="{FF2B5EF4-FFF2-40B4-BE49-F238E27FC236}">
                <a16:creationId xmlns:a16="http://schemas.microsoft.com/office/drawing/2014/main" id="{C0DC2598-2315-4906-B63E-A50FBA7C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58739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5E7275"/>
            </a:solidFill>
            <a:prstDash val="solid"/>
          </a:ln>
        </p:spPr>
      </p:sp>
      <p:sp>
        <p:nvSpPr>
          <p:cNvPr id="21" name="object-19-s4-ux">
            <a:extLst xmlns:a="http://schemas.openxmlformats.org/drawingml/2006/main">
              <a:ext uri="{FF2B5EF4-FFF2-40B4-BE49-F238E27FC236}">
                <a16:creationId xmlns:a16="http://schemas.microsoft.com/office/drawing/2014/main" id="{A09D1C44-6FC1-4929-98B5-6627BB1C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4494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5E7275"/>
            </a:solidFill>
            <a:prstDash val="solid"/>
          </a:ln>
        </p:spPr>
      </p:sp>
      <p:sp>
        <p:nvSpPr>
          <p:cNvPr id="22" name="object-20-s4-ux">
            <a:extLst xmlns:a="http://schemas.openxmlformats.org/drawingml/2006/main">
              <a:ext uri="{FF2B5EF4-FFF2-40B4-BE49-F238E27FC236}">
                <a16:creationId xmlns:a16="http://schemas.microsoft.com/office/drawing/2014/main" id="{7D39741A-B42B-464B-8B8D-46B807AA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2058739"/>
            <a:ext cx="95" cy="325755"/>
          </a:xfrm>
          <a:custGeom xmlns:a="http://schemas.openxmlformats.org/drawingml/2006/main">
            <a:pathLst>
              <a:path w="95" h="325755">
                <a:moveTo>
                  <a:pt x="0" y="0"/>
                </a:moveTo>
                <a:lnTo>
                  <a:pt x="0" y="3257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431">
            <a:solidFill>
              <a:srgbClr val="D66A3E"/>
            </a:solidFill>
            <a:prstDash val="solid"/>
          </a:ln>
        </p:spPr>
      </p:sp>
      <p:sp>
        <p:nvSpPr>
          <p:cNvPr id="23" name="object-21-s4-ux">
            <a:extLst xmlns:a="http://schemas.openxmlformats.org/drawingml/2006/main">
              <a:ext uri="{FF2B5EF4-FFF2-40B4-BE49-F238E27FC236}">
                <a16:creationId xmlns:a16="http://schemas.microsoft.com/office/drawing/2014/main" id="{0B0C0A1A-B9C3-46CD-83A7-21047DAD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846" y="2020163"/>
            <a:ext cx="77153" cy="771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573">
            <a:noFill/>
            <a:prstDash val="solid"/>
          </a:ln>
        </p:spPr>
      </p:sp>
      <p:sp>
        <p:nvSpPr>
          <p:cNvPr id="24" name="object-22-s4-ux">
            <a:extLst xmlns:a="http://schemas.openxmlformats.org/drawingml/2006/main">
              <a:ext uri="{FF2B5EF4-FFF2-40B4-BE49-F238E27FC236}">
                <a16:creationId xmlns:a16="http://schemas.microsoft.com/office/drawing/2014/main" id="{B27A2CFB-39A6-403E-A1DF-7DBF485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846" y="2345918"/>
            <a:ext cx="77153" cy="771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573">
            <a:noFill/>
            <a:prstDash val="solid"/>
          </a:ln>
        </p:spPr>
      </p:sp>
      <p:sp>
        <p:nvSpPr>
          <p:cNvPr id="25" name="object-23-s4-ux">
            <a:extLst xmlns:a="http://schemas.openxmlformats.org/drawingml/2006/main">
              <a:ext uri="{FF2B5EF4-FFF2-40B4-BE49-F238E27FC236}">
                <a16:creationId xmlns:a16="http://schemas.microsoft.com/office/drawing/2014/main" id="{E64A4DCA-8DDC-458F-8550-5A112618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032" y="1955869"/>
            <a:ext cx="377190" cy="531495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7145">
            <a:solidFill>
              <a:srgbClr val="087E86"/>
            </a:solidFill>
            <a:prstDash val="solid"/>
          </a:ln>
        </p:spPr>
      </p:sp>
      <p:sp>
        <p:nvSpPr>
          <p:cNvPr id="26" name="object-24-s4-ux">
            <a:extLst xmlns:a="http://schemas.openxmlformats.org/drawingml/2006/main">
              <a:ext uri="{FF2B5EF4-FFF2-40B4-BE49-F238E27FC236}">
                <a16:creationId xmlns:a16="http://schemas.microsoft.com/office/drawing/2014/main" id="{C257A63A-B26E-4477-BCC6-1F02B103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16" y="2086838"/>
            <a:ext cx="21922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68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7" name="object-25-s4-ux">
            <a:extLst xmlns:a="http://schemas.openxmlformats.org/drawingml/2006/main">
              <a:ext uri="{FF2B5EF4-FFF2-40B4-BE49-F238E27FC236}">
                <a16:creationId xmlns:a16="http://schemas.microsoft.com/office/drawing/2014/main" id="{A7A0D588-2201-4E52-90B8-BF47F9BB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34" y="2034070"/>
            <a:ext cx="234952" cy="34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93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28" name="object-26-s4-ux">
            <a:extLst xmlns:a="http://schemas.openxmlformats.org/drawingml/2006/main">
              <a:ext uri="{FF2B5EF4-FFF2-40B4-BE49-F238E27FC236}">
                <a16:creationId xmlns:a16="http://schemas.microsoft.com/office/drawing/2014/main" id="{2717C548-C891-4B28-800E-0E83A656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740" y="2058739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5E7275"/>
            </a:solidFill>
            <a:prstDash val="solid"/>
          </a:ln>
        </p:spPr>
      </p:sp>
      <p:sp>
        <p:nvSpPr>
          <p:cNvPr id="29" name="object-27-s4-ux">
            <a:extLst xmlns:a="http://schemas.openxmlformats.org/drawingml/2006/main">
              <a:ext uri="{FF2B5EF4-FFF2-40B4-BE49-F238E27FC236}">
                <a16:creationId xmlns:a16="http://schemas.microsoft.com/office/drawing/2014/main" id="{57AB4B47-AFF7-4374-ABC2-BBD6F734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740" y="2384494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5E7275"/>
            </a:solidFill>
            <a:prstDash val="solid"/>
          </a:ln>
        </p:spPr>
      </p:sp>
      <p:sp>
        <p:nvSpPr>
          <p:cNvPr id="30" name="object-28-s4-ux">
            <a:extLst xmlns:a="http://schemas.openxmlformats.org/drawingml/2006/main">
              <a:ext uri="{FF2B5EF4-FFF2-40B4-BE49-F238E27FC236}">
                <a16:creationId xmlns:a16="http://schemas.microsoft.com/office/drawing/2014/main" id="{C8A474FA-5877-4F95-9A46-BEA73425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7" y="1955869"/>
            <a:ext cx="377191" cy="531495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7145">
            <a:solidFill>
              <a:srgbClr val="087E86"/>
            </a:solidFill>
            <a:prstDash val="solid"/>
          </a:ln>
        </p:spPr>
      </p:sp>
      <p:sp>
        <p:nvSpPr>
          <p:cNvPr id="31" name="object-29-s4-ux">
            <a:extLst xmlns:a="http://schemas.openxmlformats.org/drawingml/2006/main">
              <a:ext uri="{FF2B5EF4-FFF2-40B4-BE49-F238E27FC236}">
                <a16:creationId xmlns:a16="http://schemas.microsoft.com/office/drawing/2014/main" id="{82F44A92-06DC-4322-834A-A5C1F1FE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01" y="2086838"/>
            <a:ext cx="21922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68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2" name="object-30-s4-ux">
            <a:extLst xmlns:a="http://schemas.openxmlformats.org/drawingml/2006/main">
              <a:ext uri="{FF2B5EF4-FFF2-40B4-BE49-F238E27FC236}">
                <a16:creationId xmlns:a16="http://schemas.microsoft.com/office/drawing/2014/main" id="{E28B9CC4-ABA2-4993-BC53-DA49C492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418" y="2058739"/>
            <a:ext cx="95" cy="325755"/>
          </a:xfrm>
          <a:custGeom xmlns:a="http://schemas.openxmlformats.org/drawingml/2006/main">
            <a:pathLst>
              <a:path w="95" h="325755">
                <a:moveTo>
                  <a:pt x="0" y="0"/>
                </a:moveTo>
                <a:lnTo>
                  <a:pt x="0" y="3257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431">
            <a:solidFill>
              <a:srgbClr val="D66A3E"/>
            </a:solidFill>
            <a:prstDash val="solid"/>
          </a:ln>
        </p:spPr>
      </p:sp>
      <p:sp>
        <p:nvSpPr>
          <p:cNvPr id="33" name="object-31-s4-ux">
            <a:extLst xmlns:a="http://schemas.openxmlformats.org/drawingml/2006/main">
              <a:ext uri="{FF2B5EF4-FFF2-40B4-BE49-F238E27FC236}">
                <a16:creationId xmlns:a16="http://schemas.microsoft.com/office/drawing/2014/main" id="{15A4EC5E-8BA2-44E0-BCE9-B8CA9F03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841" y="2020163"/>
            <a:ext cx="77152" cy="771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573">
            <a:noFill/>
            <a:prstDash val="solid"/>
          </a:ln>
        </p:spPr>
      </p:sp>
      <p:sp>
        <p:nvSpPr>
          <p:cNvPr id="34" name="object-32-s4-ux">
            <a:extLst xmlns:a="http://schemas.openxmlformats.org/drawingml/2006/main">
              <a:ext uri="{FF2B5EF4-FFF2-40B4-BE49-F238E27FC236}">
                <a16:creationId xmlns:a16="http://schemas.microsoft.com/office/drawing/2014/main" id="{BB7C2E2A-7A30-4A93-AD01-0FB7956D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0406" y="2294483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1431">
            <a:solidFill>
              <a:srgbClr val="D66A3E"/>
            </a:solidFill>
            <a:prstDash val="solid"/>
          </a:ln>
        </p:spPr>
      </p:sp>
      <p:sp>
        <p:nvSpPr>
          <p:cNvPr id="35" name="object-33-s4-ux">
            <a:extLst xmlns:a="http://schemas.openxmlformats.org/drawingml/2006/main">
              <a:ext uri="{FF2B5EF4-FFF2-40B4-BE49-F238E27FC236}">
                <a16:creationId xmlns:a16="http://schemas.microsoft.com/office/drawing/2014/main" id="{39839A04-5349-45EF-A1B8-D8640969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0410" y="2324487"/>
            <a:ext cx="120015" cy="120015"/>
          </a:xfrm>
          <a:custGeom xmlns:a="http://schemas.openxmlformats.org/drawingml/2006/main">
            <a:pathLst>
              <a:path w="120015" h="120015">
                <a:moveTo>
                  <a:pt x="0" y="60008"/>
                </a:moveTo>
                <a:lnTo>
                  <a:pt x="120015" y="60008"/>
                </a:lnTo>
              </a:path>
              <a:path w="120015" h="120015">
                <a:moveTo>
                  <a:pt x="60008" y="0"/>
                </a:moveTo>
                <a:lnTo>
                  <a:pt x="60008" y="1200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431">
            <a:solidFill>
              <a:srgbClr val="D66A3E"/>
            </a:solidFill>
            <a:prstDash val="solid"/>
          </a:ln>
        </p:spPr>
      </p:sp>
      <p:sp>
        <p:nvSpPr>
          <p:cNvPr id="36" name="object-34-s4-ux">
            <a:extLst xmlns:a="http://schemas.openxmlformats.org/drawingml/2006/main">
              <a:ext uri="{FF2B5EF4-FFF2-40B4-BE49-F238E27FC236}">
                <a16:creationId xmlns:a16="http://schemas.microsoft.com/office/drawing/2014/main" id="{9F9987FA-E5F1-4C71-A38A-DA0A91FE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9602"/>
            <a:ext cx="4516934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CZ and CX: trace 2; spectrum {1, 1, 1, −1}</a:t>
            </a:r>
          </a:p>
        </p:txBody>
      </p:sp>
      <p:sp>
        <p:nvSpPr>
          <p:cNvPr id="37" name="object-35-s5-ux">
            <a:extLst xmlns:a="http://schemas.openxmlformats.org/drawingml/2006/main">
              <a:ext uri="{FF2B5EF4-FFF2-40B4-BE49-F238E27FC236}">
                <a16:creationId xmlns:a16="http://schemas.microsoft.com/office/drawing/2014/main" id="{0F3F32CA-3B72-4858-8CD9-DA2A8EAB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139124"/>
            <a:ext cx="1934468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Unitary S exists</a:t>
            </a:r>
          </a:p>
        </p:txBody>
      </p:sp>
      <p:sp>
        <p:nvSpPr>
          <p:cNvPr id="38" name="object-36-s2-ux">
            <a:extLst xmlns:a="http://schemas.openxmlformats.org/drawingml/2006/main">
              <a:ext uri="{FF2B5EF4-FFF2-40B4-BE49-F238E27FC236}">
                <a16:creationId xmlns:a16="http://schemas.microsoft.com/office/drawing/2014/main" id="{632E281F-BF5E-4526-B5B5-21722028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47504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Assume L and R are unitary and have the same dimension. Equal trace alone does not guarantee a unitary S.</a:t>
            </a:r>
          </a:p>
        </p:txBody>
      </p:sp>
      <p:sp>
        <p:nvSpPr>
          <p:cNvPr id="39" name="object-37-s0-ux">
            <a:extLst xmlns:a="http://schemas.openxmlformats.org/drawingml/2006/main">
              <a:ext uri="{FF2B5EF4-FFF2-40B4-BE49-F238E27FC236}">
                <a16:creationId xmlns:a16="http://schemas.microsoft.com/office/drawing/2014/main" id="{1B865462-B0E8-4DB8-A7C6-2B4088C8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35696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§5.3, Theorem 5.1, Lemmas 5.3–5.4</a:t>
            </a:r>
          </a:p>
        </p:txBody>
      </p:sp>
      <p:sp>
        <p:nvSpPr>
          <p:cNvPr id="40" name="object-38-s0-ux">
            <a:extLst xmlns:a="http://schemas.openxmlformats.org/drawingml/2006/main">
              <a:ext uri="{FF2B5EF4-FFF2-40B4-BE49-F238E27FC236}">
                <a16:creationId xmlns:a16="http://schemas.microsoft.com/office/drawing/2014/main" id="{5FA49F2E-294D-441E-AFE3-CF713E82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</p:spTree>
    <p:extLst>
      <p:ext uri="{BB962C8B-B14F-4D97-AF65-F5344CB8AC3E}">
        <p14:creationId xmlns:p14="http://schemas.microsoft.com/office/powerpoint/2010/main" val="8560904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top-accent">
            <a:extLst xmlns:a="http://schemas.openxmlformats.org/drawingml/2006/main">
              <a:ext uri="{FF2B5EF4-FFF2-40B4-BE49-F238E27FC236}">
                <a16:creationId xmlns:a16="http://schemas.microsoft.com/office/drawing/2014/main" id="{BDA68D3A-B804-460D-BB3F-4D055326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6020025C-19D0-4253-9977-D803F67F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591580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Group by trace, validate spectra, then solve for S</a:t>
            </a:r>
          </a:p>
        </p:txBody>
      </p:sp>
      <p:sp>
        <p:nvSpPr>
          <p:cNvPr id="3" name="object-55-s0-ux">
            <a:extLst xmlns:a="http://schemas.openxmlformats.org/drawingml/2006/main">
              <a:ext uri="{FF2B5EF4-FFF2-40B4-BE49-F238E27FC236}">
                <a16:creationId xmlns:a16="http://schemas.microsoft.com/office/drawing/2014/main" id="{ACD0AFFA-3A39-4C64-A5E6-DC62754F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1974"/>
            <a:ext cx="409560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GROUP BY TRACE → CHECK EIGENVALUES → SOLVE</a:t>
            </a:r>
          </a:p>
        </p:txBody>
      </p:sp>
      <p:sp>
        <p:nvSpPr>
          <p:cNvPr id="4" name="object-77-s3-ux">
            <a:extLst xmlns:a="http://schemas.openxmlformats.org/drawingml/2006/main">
              <a:ext uri="{FF2B5EF4-FFF2-40B4-BE49-F238E27FC236}">
                <a16:creationId xmlns:a16="http://schemas.microsoft.com/office/drawing/2014/main" id="{6A8F5060-8163-4BB3-A5D3-276A3A7A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65" y="1663452"/>
            <a:ext cx="85948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 CZ</a:t>
            </a:r>
          </a:p>
        </p:txBody>
      </p:sp>
      <p:sp>
        <p:nvSpPr>
          <p:cNvPr id="5" name="object-78-s3-ux">
            <a:extLst xmlns:a="http://schemas.openxmlformats.org/drawingml/2006/main">
              <a:ext uri="{FF2B5EF4-FFF2-40B4-BE49-F238E27FC236}">
                <a16:creationId xmlns:a16="http://schemas.microsoft.com/office/drawing/2014/main" id="{CA0B36F1-BD0F-497B-A032-8E18C610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35" y="1652022"/>
            <a:ext cx="311557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7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6" name="object-79-s3-ux">
            <a:extLst xmlns:a="http://schemas.openxmlformats.org/drawingml/2006/main">
              <a:ext uri="{FF2B5EF4-FFF2-40B4-BE49-F238E27FC236}">
                <a16:creationId xmlns:a16="http://schemas.microsoft.com/office/drawing/2014/main" id="{6341AF06-DEB6-43F2-8045-0E8CE742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889" y="1663452"/>
            <a:ext cx="87823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CX S</a:t>
            </a:r>
          </a:p>
        </p:txBody>
      </p:sp>
      <p:sp>
        <p:nvSpPr>
          <p:cNvPr id="7" name="object-80-s3-ux">
            <a:extLst xmlns:a="http://schemas.openxmlformats.org/drawingml/2006/main">
              <a:ext uri="{FF2B5EF4-FFF2-40B4-BE49-F238E27FC236}">
                <a16:creationId xmlns:a16="http://schemas.microsoft.com/office/drawing/2014/main" id="{A4EE1274-93E0-4DF7-BA25-A00EDEEE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8289"/>
            <a:ext cx="3429000" cy="1600200"/>
          </a:xfrm>
          <a:custGeom xmlns:a="http://schemas.openxmlformats.org/drawingml/2006/main">
            <a:pathLst>
              <a:path w="3429000" h="1600200">
                <a:moveTo>
                  <a:pt x="76200" y="0"/>
                </a:moveTo>
                <a:lnTo>
                  <a:pt x="19665" y="0"/>
                </a:lnTo>
                <a:lnTo>
                  <a:pt x="0" y="8603"/>
                </a:lnTo>
                <a:lnTo>
                  <a:pt x="0" y="1591597"/>
                </a:lnTo>
                <a:lnTo>
                  <a:pt x="19664" y="1600200"/>
                </a:lnTo>
                <a:lnTo>
                  <a:pt x="76200" y="1600200"/>
                </a:lnTo>
              </a:path>
              <a:path w="3429000" h="1600200">
                <a:moveTo>
                  <a:pt x="3352800" y="0"/>
                </a:moveTo>
                <a:lnTo>
                  <a:pt x="3409336" y="0"/>
                </a:lnTo>
                <a:lnTo>
                  <a:pt x="3429000" y="8603"/>
                </a:lnTo>
                <a:lnTo>
                  <a:pt x="3429000" y="1591597"/>
                </a:lnTo>
                <a:lnTo>
                  <a:pt x="3409336" y="1600200"/>
                </a:lnTo>
                <a:lnTo>
                  <a:pt x="335280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8" name="object-81-s3-ux">
            <a:extLst xmlns:a="http://schemas.openxmlformats.org/drawingml/2006/main">
              <a:ext uri="{FF2B5EF4-FFF2-40B4-BE49-F238E27FC236}">
                <a16:creationId xmlns:a16="http://schemas.microsoft.com/office/drawing/2014/main" id="{57BBE153-A49D-4DAB-9627-74615D52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12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s₀₀</a:t>
            </a:r>
          </a:p>
        </p:txBody>
      </p:sp>
      <p:sp>
        <p:nvSpPr>
          <p:cNvPr id="9" name="object-82-s3-ux">
            <a:extLst xmlns:a="http://schemas.openxmlformats.org/drawingml/2006/main">
              <a:ext uri="{FF2B5EF4-FFF2-40B4-BE49-F238E27FC236}">
                <a16:creationId xmlns:a16="http://schemas.microsoft.com/office/drawing/2014/main" id="{FB49FBDA-1621-4C91-8768-FED48C7F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37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s₀₁</a:t>
            </a:r>
          </a:p>
        </p:txBody>
      </p:sp>
      <p:sp>
        <p:nvSpPr>
          <p:cNvPr id="10" name="object-83-s3-ux">
            <a:extLst xmlns:a="http://schemas.openxmlformats.org/drawingml/2006/main">
              <a:ext uri="{FF2B5EF4-FFF2-40B4-BE49-F238E27FC236}">
                <a16:creationId xmlns:a16="http://schemas.microsoft.com/office/drawing/2014/main" id="{B5E00046-F4D9-47F9-947B-CA48DC32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437" y="226905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s₀₂</a:t>
            </a:r>
          </a:p>
        </p:txBody>
      </p:sp>
      <p:sp>
        <p:nvSpPr>
          <p:cNvPr id="11" name="object-84-s3-ux">
            <a:extLst xmlns:a="http://schemas.openxmlformats.org/drawingml/2006/main">
              <a:ext uri="{FF2B5EF4-FFF2-40B4-BE49-F238E27FC236}">
                <a16:creationId xmlns:a16="http://schemas.microsoft.com/office/drawing/2014/main" id="{BC83F907-D4AE-4504-B4C3-DAA4CF3E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397" y="2269051"/>
            <a:ext cx="53604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−s₀₃</a:t>
            </a:r>
          </a:p>
        </p:txBody>
      </p:sp>
      <p:sp>
        <p:nvSpPr>
          <p:cNvPr id="12" name="object-85-s3-ux">
            <a:extLst xmlns:a="http://schemas.openxmlformats.org/drawingml/2006/main">
              <a:ext uri="{FF2B5EF4-FFF2-40B4-BE49-F238E27FC236}">
                <a16:creationId xmlns:a16="http://schemas.microsoft.com/office/drawing/2014/main" id="{F48EED31-58C5-48BF-8FC4-762135D0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12" y="266910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s₁₀</a:t>
            </a:r>
          </a:p>
        </p:txBody>
      </p:sp>
      <p:sp>
        <p:nvSpPr>
          <p:cNvPr id="13" name="object-86-s3-ux">
            <a:extLst xmlns:a="http://schemas.openxmlformats.org/drawingml/2006/main">
              <a:ext uri="{FF2B5EF4-FFF2-40B4-BE49-F238E27FC236}">
                <a16:creationId xmlns:a16="http://schemas.microsoft.com/office/drawing/2014/main" id="{33CB4154-6FED-4F47-882F-40BA25E2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37" y="2669101"/>
            <a:ext cx="374868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s₁₁</a:t>
            </a:r>
          </a:p>
        </p:txBody>
      </p:sp>
      <p:sp>
        <p:nvSpPr>
          <p:cNvPr id="14" name="object-87-s3-ux">
            <a:extLst xmlns:a="http://schemas.openxmlformats.org/drawingml/2006/main">
              <a:ext uri="{FF2B5EF4-FFF2-40B4-BE49-F238E27FC236}">
                <a16:creationId xmlns:a16="http://schemas.microsoft.com/office/drawing/2014/main" id="{7D2D1C72-F850-4ADA-AFA8-DDFA603D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437" y="266910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s₁₂</a:t>
            </a:r>
          </a:p>
        </p:txBody>
      </p:sp>
      <p:sp>
        <p:nvSpPr>
          <p:cNvPr id="15" name="object-88-s3-ux">
            <a:extLst xmlns:a="http://schemas.openxmlformats.org/drawingml/2006/main">
              <a:ext uri="{FF2B5EF4-FFF2-40B4-BE49-F238E27FC236}">
                <a16:creationId xmlns:a16="http://schemas.microsoft.com/office/drawing/2014/main" id="{EB7EF03D-8219-45B2-9958-9CE04DD1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397" y="2669101"/>
            <a:ext cx="53604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−s₁₃</a:t>
            </a:r>
          </a:p>
        </p:txBody>
      </p:sp>
      <p:sp>
        <p:nvSpPr>
          <p:cNvPr id="16" name="object-89-s3-ux">
            <a:extLst xmlns:a="http://schemas.openxmlformats.org/drawingml/2006/main">
              <a:ext uri="{FF2B5EF4-FFF2-40B4-BE49-F238E27FC236}">
                <a16:creationId xmlns:a16="http://schemas.microsoft.com/office/drawing/2014/main" id="{04206293-8892-421A-9183-14DB182C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87" y="306915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s₂₀</a:t>
            </a:r>
          </a:p>
        </p:txBody>
      </p:sp>
      <p:sp>
        <p:nvSpPr>
          <p:cNvPr id="17" name="object-90-s3-ux">
            <a:extLst xmlns:a="http://schemas.openxmlformats.org/drawingml/2006/main">
              <a:ext uri="{FF2B5EF4-FFF2-40B4-BE49-F238E27FC236}">
                <a16:creationId xmlns:a16="http://schemas.microsoft.com/office/drawing/2014/main" id="{53CFF196-6FFB-442D-B601-E6A4BC4E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812" y="306915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s₂₁</a:t>
            </a:r>
          </a:p>
        </p:txBody>
      </p:sp>
      <p:sp>
        <p:nvSpPr>
          <p:cNvPr id="18" name="object-91-s3-ux">
            <a:extLst xmlns:a="http://schemas.openxmlformats.org/drawingml/2006/main">
              <a:ext uri="{FF2B5EF4-FFF2-40B4-BE49-F238E27FC236}">
                <a16:creationId xmlns:a16="http://schemas.microsoft.com/office/drawing/2014/main" id="{A5C6DDCD-38C5-4E22-90E4-9193018B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511" y="3069151"/>
            <a:ext cx="374571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s₂₂</a:t>
            </a:r>
          </a:p>
        </p:txBody>
      </p:sp>
      <p:sp>
        <p:nvSpPr>
          <p:cNvPr id="19" name="object-92-s3-ux">
            <a:extLst xmlns:a="http://schemas.openxmlformats.org/drawingml/2006/main">
              <a:ext uri="{FF2B5EF4-FFF2-40B4-BE49-F238E27FC236}">
                <a16:creationId xmlns:a16="http://schemas.microsoft.com/office/drawing/2014/main" id="{3C061524-8DDE-4EEF-B782-6E97F0D5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71" y="3069151"/>
            <a:ext cx="535900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−s₂₃</a:t>
            </a:r>
          </a:p>
        </p:txBody>
      </p:sp>
      <p:sp>
        <p:nvSpPr>
          <p:cNvPr id="20" name="object-93-s3-ux">
            <a:extLst xmlns:a="http://schemas.openxmlformats.org/drawingml/2006/main">
              <a:ext uri="{FF2B5EF4-FFF2-40B4-BE49-F238E27FC236}">
                <a16:creationId xmlns:a16="http://schemas.microsoft.com/office/drawing/2014/main" id="{563CC817-45E2-46DE-A4C5-B2C331B2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87" y="3469202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s₃₀</a:t>
            </a:r>
          </a:p>
        </p:txBody>
      </p:sp>
      <p:sp>
        <p:nvSpPr>
          <p:cNvPr id="21" name="object-94-s3-ux">
            <a:extLst xmlns:a="http://schemas.openxmlformats.org/drawingml/2006/main">
              <a:ext uri="{FF2B5EF4-FFF2-40B4-BE49-F238E27FC236}">
                <a16:creationId xmlns:a16="http://schemas.microsoft.com/office/drawing/2014/main" id="{B39305FD-9208-489D-995F-EDC6F439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812" y="3469202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s₃₁</a:t>
            </a:r>
          </a:p>
        </p:txBody>
      </p:sp>
      <p:sp>
        <p:nvSpPr>
          <p:cNvPr id="22" name="object-95-s3-ux">
            <a:extLst xmlns:a="http://schemas.openxmlformats.org/drawingml/2006/main">
              <a:ext uri="{FF2B5EF4-FFF2-40B4-BE49-F238E27FC236}">
                <a16:creationId xmlns:a16="http://schemas.microsoft.com/office/drawing/2014/main" id="{1004A3D4-7B7F-4479-B789-69D45176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511" y="3469202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s₃₂</a:t>
            </a:r>
          </a:p>
        </p:txBody>
      </p:sp>
      <p:sp>
        <p:nvSpPr>
          <p:cNvPr id="23" name="object-96-s3-ux">
            <a:extLst xmlns:a="http://schemas.openxmlformats.org/drawingml/2006/main">
              <a:ext uri="{FF2B5EF4-FFF2-40B4-BE49-F238E27FC236}">
                <a16:creationId xmlns:a16="http://schemas.microsoft.com/office/drawing/2014/main" id="{A415B136-6001-4674-B8FA-AD9E1F0A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71" y="3469202"/>
            <a:ext cx="535900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−s₃₃</a:t>
            </a:r>
          </a:p>
        </p:txBody>
      </p:sp>
      <p:sp>
        <p:nvSpPr>
          <p:cNvPr id="24" name="object-97-s3-ux">
            <a:extLst xmlns:a="http://schemas.openxmlformats.org/drawingml/2006/main">
              <a:ext uri="{FF2B5EF4-FFF2-40B4-BE49-F238E27FC236}">
                <a16:creationId xmlns:a16="http://schemas.microsoft.com/office/drawing/2014/main" id="{D8F9C39B-6DFD-4FF8-B1EF-446B5CB8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68289"/>
            <a:ext cx="2781300" cy="1600200"/>
          </a:xfrm>
          <a:custGeom xmlns:a="http://schemas.openxmlformats.org/drawingml/2006/main">
            <a:pathLst>
              <a:path w="2781300" h="1600200">
                <a:moveTo>
                  <a:pt x="76200" y="0"/>
                </a:moveTo>
                <a:lnTo>
                  <a:pt x="19664" y="0"/>
                </a:lnTo>
                <a:lnTo>
                  <a:pt x="0" y="8603"/>
                </a:lnTo>
                <a:lnTo>
                  <a:pt x="0" y="1591597"/>
                </a:lnTo>
                <a:lnTo>
                  <a:pt x="19664" y="1600200"/>
                </a:lnTo>
                <a:lnTo>
                  <a:pt x="76200" y="1600200"/>
                </a:lnTo>
              </a:path>
              <a:path w="2781300" h="1600200">
                <a:moveTo>
                  <a:pt x="2705100" y="0"/>
                </a:moveTo>
                <a:lnTo>
                  <a:pt x="2761636" y="0"/>
                </a:lnTo>
                <a:lnTo>
                  <a:pt x="2781300" y="8603"/>
                </a:lnTo>
                <a:lnTo>
                  <a:pt x="2781300" y="1591597"/>
                </a:lnTo>
                <a:lnTo>
                  <a:pt x="2761636" y="1600200"/>
                </a:lnTo>
                <a:lnTo>
                  <a:pt x="270510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25" name="object-98-s3-ux">
            <a:extLst xmlns:a="http://schemas.openxmlformats.org/drawingml/2006/main">
              <a:ext uri="{FF2B5EF4-FFF2-40B4-BE49-F238E27FC236}">
                <a16:creationId xmlns:a16="http://schemas.microsoft.com/office/drawing/2014/main" id="{78AEBD68-F5AF-4EEC-B7CA-78C633B1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25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s₀₀</a:t>
            </a:r>
          </a:p>
        </p:txBody>
      </p:sp>
      <p:sp>
        <p:nvSpPr>
          <p:cNvPr id="26" name="object-99-s3-ux">
            <a:extLst xmlns:a="http://schemas.openxmlformats.org/drawingml/2006/main">
              <a:ext uri="{FF2B5EF4-FFF2-40B4-BE49-F238E27FC236}">
                <a16:creationId xmlns:a16="http://schemas.microsoft.com/office/drawing/2014/main" id="{C52815BF-D04F-4077-9493-C15E17E5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25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s₀₁</a:t>
            </a:r>
          </a:p>
        </p:txBody>
      </p:sp>
      <p:sp>
        <p:nvSpPr>
          <p:cNvPr id="27" name="object-100-s3-ux">
            <a:extLst xmlns:a="http://schemas.openxmlformats.org/drawingml/2006/main">
              <a:ext uri="{FF2B5EF4-FFF2-40B4-BE49-F238E27FC236}">
                <a16:creationId xmlns:a16="http://schemas.microsoft.com/office/drawing/2014/main" id="{87E83BDA-7986-407C-8A50-D948406A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099" y="226905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s₀₂</a:t>
            </a:r>
          </a:p>
        </p:txBody>
      </p:sp>
      <p:sp>
        <p:nvSpPr>
          <p:cNvPr id="28" name="object-101-s3-ux">
            <a:extLst xmlns:a="http://schemas.openxmlformats.org/drawingml/2006/main">
              <a:ext uri="{FF2B5EF4-FFF2-40B4-BE49-F238E27FC236}">
                <a16:creationId xmlns:a16="http://schemas.microsoft.com/office/drawing/2014/main" id="{1D516F92-05FA-47EF-820A-50423D3B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799" y="22690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s₀₃</a:t>
            </a:r>
          </a:p>
        </p:txBody>
      </p:sp>
      <p:sp>
        <p:nvSpPr>
          <p:cNvPr id="29" name="object-102-s3-ux">
            <a:extLst xmlns:a="http://schemas.openxmlformats.org/drawingml/2006/main">
              <a:ext uri="{FF2B5EF4-FFF2-40B4-BE49-F238E27FC236}">
                <a16:creationId xmlns:a16="http://schemas.microsoft.com/office/drawing/2014/main" id="{6FA89C56-0125-41EC-A21B-A762C045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25" y="266910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s₁₀</a:t>
            </a:r>
          </a:p>
        </p:txBody>
      </p:sp>
      <p:sp>
        <p:nvSpPr>
          <p:cNvPr id="30" name="object-103-s3-ux">
            <a:extLst xmlns:a="http://schemas.openxmlformats.org/drawingml/2006/main">
              <a:ext uri="{FF2B5EF4-FFF2-40B4-BE49-F238E27FC236}">
                <a16:creationId xmlns:a16="http://schemas.microsoft.com/office/drawing/2014/main" id="{6EA1BDD6-3540-4C35-B0EA-B19955C0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25" y="2669101"/>
            <a:ext cx="374868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s₁₁</a:t>
            </a:r>
          </a:p>
        </p:txBody>
      </p:sp>
      <p:sp>
        <p:nvSpPr>
          <p:cNvPr id="31" name="object-104-s3-ux">
            <a:extLst xmlns:a="http://schemas.openxmlformats.org/drawingml/2006/main">
              <a:ext uri="{FF2B5EF4-FFF2-40B4-BE49-F238E27FC236}">
                <a16:creationId xmlns:a16="http://schemas.microsoft.com/office/drawing/2014/main" id="{D1158C1D-3F87-4A78-88A4-A07B8791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099" y="266910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s₁₂</a:t>
            </a:r>
          </a:p>
        </p:txBody>
      </p:sp>
      <p:sp>
        <p:nvSpPr>
          <p:cNvPr id="32" name="object-105-s3-ux">
            <a:extLst xmlns:a="http://schemas.openxmlformats.org/drawingml/2006/main">
              <a:ext uri="{FF2B5EF4-FFF2-40B4-BE49-F238E27FC236}">
                <a16:creationId xmlns:a16="http://schemas.microsoft.com/office/drawing/2014/main" id="{22A53920-8754-4EDA-8495-D6838C1B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799" y="266910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s₁₃</a:t>
            </a:r>
          </a:p>
        </p:txBody>
      </p:sp>
      <p:sp>
        <p:nvSpPr>
          <p:cNvPr id="33" name="object-106-s3-ux">
            <a:extLst xmlns:a="http://schemas.openxmlformats.org/drawingml/2006/main">
              <a:ext uri="{FF2B5EF4-FFF2-40B4-BE49-F238E27FC236}">
                <a16:creationId xmlns:a16="http://schemas.microsoft.com/office/drawing/2014/main" id="{67362865-2E1F-41F8-ABF8-196F4A36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99" y="30691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s₃₀</a:t>
            </a:r>
          </a:p>
        </p:txBody>
      </p:sp>
      <p:sp>
        <p:nvSpPr>
          <p:cNvPr id="34" name="object-107-s3-ux">
            <a:extLst xmlns:a="http://schemas.openxmlformats.org/drawingml/2006/main">
              <a:ext uri="{FF2B5EF4-FFF2-40B4-BE49-F238E27FC236}">
                <a16:creationId xmlns:a16="http://schemas.microsoft.com/office/drawing/2014/main" id="{0CED0C07-2EB2-4562-9F2E-F0145DD1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99" y="30691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s₃₁</a:t>
            </a:r>
          </a:p>
        </p:txBody>
      </p:sp>
      <p:sp>
        <p:nvSpPr>
          <p:cNvPr id="35" name="object-108-s3-ux">
            <a:extLst xmlns:a="http://schemas.openxmlformats.org/drawingml/2006/main">
              <a:ext uri="{FF2B5EF4-FFF2-40B4-BE49-F238E27FC236}">
                <a16:creationId xmlns:a16="http://schemas.microsoft.com/office/drawing/2014/main" id="{BCA7097A-092C-481F-8465-0F023376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173" y="3069151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s₃₂</a:t>
            </a:r>
          </a:p>
        </p:txBody>
      </p:sp>
      <p:sp>
        <p:nvSpPr>
          <p:cNvPr id="36" name="object-109-s3-ux">
            <a:extLst xmlns:a="http://schemas.openxmlformats.org/drawingml/2006/main">
              <a:ext uri="{FF2B5EF4-FFF2-40B4-BE49-F238E27FC236}">
                <a16:creationId xmlns:a16="http://schemas.microsoft.com/office/drawing/2014/main" id="{43F4934F-5A27-44F0-99BE-7F773E96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873" y="3069151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s₃₃</a:t>
            </a:r>
          </a:p>
        </p:txBody>
      </p:sp>
      <p:sp>
        <p:nvSpPr>
          <p:cNvPr id="37" name="object-110-s3-ux">
            <a:extLst xmlns:a="http://schemas.openxmlformats.org/drawingml/2006/main">
              <a:ext uri="{FF2B5EF4-FFF2-40B4-BE49-F238E27FC236}">
                <a16:creationId xmlns:a16="http://schemas.microsoft.com/office/drawing/2014/main" id="{CFE274D9-D1BF-4CE9-AD00-79A2AC98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99" y="3469202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s₂₀</a:t>
            </a:r>
          </a:p>
        </p:txBody>
      </p:sp>
      <p:sp>
        <p:nvSpPr>
          <p:cNvPr id="38" name="object-111-s3-ux">
            <a:extLst xmlns:a="http://schemas.openxmlformats.org/drawingml/2006/main">
              <a:ext uri="{FF2B5EF4-FFF2-40B4-BE49-F238E27FC236}">
                <a16:creationId xmlns:a16="http://schemas.microsoft.com/office/drawing/2014/main" id="{7844FD8F-2E82-422D-83B6-F9C81DC0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99" y="3469202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s₂₁</a:t>
            </a:r>
          </a:p>
        </p:txBody>
      </p:sp>
      <p:sp>
        <p:nvSpPr>
          <p:cNvPr id="39" name="object-112-s3-ux">
            <a:extLst xmlns:a="http://schemas.openxmlformats.org/drawingml/2006/main">
              <a:ext uri="{FF2B5EF4-FFF2-40B4-BE49-F238E27FC236}">
                <a16:creationId xmlns:a16="http://schemas.microsoft.com/office/drawing/2014/main" id="{4772FC6E-96AB-4589-A51C-948C7BE7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173" y="3469202"/>
            <a:ext cx="374571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s₂₂</a:t>
            </a:r>
          </a:p>
        </p:txBody>
      </p:sp>
      <p:sp>
        <p:nvSpPr>
          <p:cNvPr id="40" name="object-113-s3-ux">
            <a:extLst xmlns:a="http://schemas.openxmlformats.org/drawingml/2006/main">
              <a:ext uri="{FF2B5EF4-FFF2-40B4-BE49-F238E27FC236}">
                <a16:creationId xmlns:a16="http://schemas.microsoft.com/office/drawing/2014/main" id="{D698F960-E61F-4338-A716-7438F6E0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873" y="3469202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s₂₃</a:t>
            </a:r>
          </a:p>
        </p:txBody>
      </p:sp>
      <p:sp>
        <p:nvSpPr>
          <p:cNvPr id="41" name="object-114-s3-ux">
            <a:extLst xmlns:a="http://schemas.openxmlformats.org/drawingml/2006/main">
              <a:ext uri="{FF2B5EF4-FFF2-40B4-BE49-F238E27FC236}">
                <a16:creationId xmlns:a16="http://schemas.microsoft.com/office/drawing/2014/main" id="{0FF9CC95-FE68-40F4-9791-84FAAE33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245" y="4029462"/>
            <a:ext cx="1776710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negate column |11⟩</a:t>
            </a:r>
          </a:p>
        </p:txBody>
      </p:sp>
      <p:sp>
        <p:nvSpPr>
          <p:cNvPr id="42" name="object-115-s3-ux">
            <a:extLst xmlns:a="http://schemas.openxmlformats.org/drawingml/2006/main">
              <a:ext uri="{FF2B5EF4-FFF2-40B4-BE49-F238E27FC236}">
                <a16:creationId xmlns:a16="http://schemas.microsoft.com/office/drawing/2014/main" id="{95EFDEBA-403C-44CB-A8D0-582271F4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994" y="4029462"/>
            <a:ext cx="2201912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swap rows |10⟩ and |11⟩</a:t>
            </a:r>
          </a:p>
        </p:txBody>
      </p:sp>
      <p:sp>
        <p:nvSpPr>
          <p:cNvPr id="43" name="object-118-s5-ux">
            <a:extLst xmlns:a="http://schemas.openxmlformats.org/drawingml/2006/main">
              <a:ext uri="{FF2B5EF4-FFF2-40B4-BE49-F238E27FC236}">
                <a16:creationId xmlns:a16="http://schemas.microsoft.com/office/drawing/2014/main" id="{1B09C10E-E2B7-46D7-9DCC-94FEA6C6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9339"/>
            <a:ext cx="438150" cy="95"/>
          </a:xfrm>
          <a:custGeom xmlns:a="http://schemas.openxmlformats.org/drawingml/2006/main">
            <a:pathLst>
              <a:path w="438150" h="9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44" name="object-118-s5-ux-arrow">
            <a:extLst xmlns:a="http://schemas.openxmlformats.org/drawingml/2006/main">
              <a:ext uri="{FF2B5EF4-FFF2-40B4-BE49-F238E27FC236}">
                <a16:creationId xmlns:a16="http://schemas.microsoft.com/office/drawing/2014/main" id="{5F930432-4FA3-4F0B-8AAC-C5FA7CF7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92189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45" name="object-119-s5-ux">
            <a:extLst xmlns:a="http://schemas.openxmlformats.org/drawingml/2006/main">
              <a:ext uri="{FF2B5EF4-FFF2-40B4-BE49-F238E27FC236}">
                <a16:creationId xmlns:a16="http://schemas.microsoft.com/office/drawing/2014/main" id="{8ABC35BC-78F1-4EA3-BF21-A6266C57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968" y="1749177"/>
            <a:ext cx="176986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Solution space</a:t>
            </a:r>
          </a:p>
        </p:txBody>
      </p:sp>
      <p:sp>
        <p:nvSpPr>
          <p:cNvPr id="46" name="object-120-s5-ux">
            <a:extLst xmlns:a="http://schemas.openxmlformats.org/drawingml/2006/main">
              <a:ext uri="{FF2B5EF4-FFF2-40B4-BE49-F238E27FC236}">
                <a16:creationId xmlns:a16="http://schemas.microsoft.com/office/drawing/2014/main" id="{F3B7E7C2-25D7-4B8F-9A9A-123D630F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8289"/>
            <a:ext cx="2209800" cy="1600200"/>
          </a:xfrm>
          <a:custGeom xmlns:a="http://schemas.openxmlformats.org/drawingml/2006/main">
            <a:pathLst>
              <a:path w="2209800" h="1600200">
                <a:moveTo>
                  <a:pt x="76200" y="0"/>
                </a:moveTo>
                <a:lnTo>
                  <a:pt x="19664" y="0"/>
                </a:lnTo>
                <a:lnTo>
                  <a:pt x="0" y="8603"/>
                </a:lnTo>
                <a:lnTo>
                  <a:pt x="0" y="1591597"/>
                </a:lnTo>
                <a:lnTo>
                  <a:pt x="19664" y="1600200"/>
                </a:lnTo>
                <a:lnTo>
                  <a:pt x="76200" y="1600200"/>
                </a:lnTo>
              </a:path>
              <a:path w="2209800" h="1600200">
                <a:moveTo>
                  <a:pt x="2133600" y="0"/>
                </a:moveTo>
                <a:lnTo>
                  <a:pt x="2190135" y="0"/>
                </a:lnTo>
                <a:lnTo>
                  <a:pt x="2209800" y="8603"/>
                </a:lnTo>
                <a:lnTo>
                  <a:pt x="2209800" y="1591597"/>
                </a:lnTo>
                <a:lnTo>
                  <a:pt x="2190136" y="1600200"/>
                </a:lnTo>
                <a:lnTo>
                  <a:pt x="213360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47" name="object-121-s5-ux">
            <a:extLst xmlns:a="http://schemas.openxmlformats.org/drawingml/2006/main">
              <a:ext uri="{FF2B5EF4-FFF2-40B4-BE49-F238E27FC236}">
                <a16:creationId xmlns:a16="http://schemas.microsoft.com/office/drawing/2014/main" id="{7E8E2411-A896-4183-BCD0-6C36064E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393" y="226905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object-122-s5-ux">
            <a:extLst xmlns:a="http://schemas.openxmlformats.org/drawingml/2006/main">
              <a:ext uri="{FF2B5EF4-FFF2-40B4-BE49-F238E27FC236}">
                <a16:creationId xmlns:a16="http://schemas.microsoft.com/office/drawing/2014/main" id="{FC0633BA-BDB3-4C30-AF41-D4E7DEF6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218" y="226905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9" name="object-123-s5-ux">
            <a:extLst xmlns:a="http://schemas.openxmlformats.org/drawingml/2006/main">
              <a:ext uri="{FF2B5EF4-FFF2-40B4-BE49-F238E27FC236}">
                <a16:creationId xmlns:a16="http://schemas.microsoft.com/office/drawing/2014/main" id="{E0190C60-97A2-43B9-969D-F9508C9D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856" y="2269051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0" name="object-124-s5-ux">
            <a:extLst xmlns:a="http://schemas.openxmlformats.org/drawingml/2006/main">
              <a:ext uri="{FF2B5EF4-FFF2-40B4-BE49-F238E27FC236}">
                <a16:creationId xmlns:a16="http://schemas.microsoft.com/office/drawing/2014/main" id="{C809787B-B094-46C1-BFA3-FB87551F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68" y="226905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1" name="object-125-s5-ux">
            <a:extLst xmlns:a="http://schemas.openxmlformats.org/drawingml/2006/main">
              <a:ext uri="{FF2B5EF4-FFF2-40B4-BE49-F238E27FC236}">
                <a16:creationId xmlns:a16="http://schemas.microsoft.com/office/drawing/2014/main" id="{CDC8F9BE-FD38-4F56-83EC-37717B32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393" y="266910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2" name="object-126-s5-ux">
            <a:extLst xmlns:a="http://schemas.openxmlformats.org/drawingml/2006/main">
              <a:ext uri="{FF2B5EF4-FFF2-40B4-BE49-F238E27FC236}">
                <a16:creationId xmlns:a16="http://schemas.microsoft.com/office/drawing/2014/main" id="{53207E45-47FD-415C-9D12-C027CB8E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218" y="266910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53" name="object-127-s5-ux">
            <a:extLst xmlns:a="http://schemas.openxmlformats.org/drawingml/2006/main">
              <a:ext uri="{FF2B5EF4-FFF2-40B4-BE49-F238E27FC236}">
                <a16:creationId xmlns:a16="http://schemas.microsoft.com/office/drawing/2014/main" id="{67F0494E-7953-48F1-8DB6-62D6D797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0515" y="2669101"/>
            <a:ext cx="169188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54" name="object-128-s5-ux">
            <a:extLst xmlns:a="http://schemas.openxmlformats.org/drawingml/2006/main">
              <a:ext uri="{FF2B5EF4-FFF2-40B4-BE49-F238E27FC236}">
                <a16:creationId xmlns:a16="http://schemas.microsoft.com/office/drawing/2014/main" id="{E8BB3287-C579-41A2-A31B-DFC05221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68" y="266910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5" name="object-129-s5-ux">
            <a:extLst xmlns:a="http://schemas.openxmlformats.org/drawingml/2006/main">
              <a:ext uri="{FF2B5EF4-FFF2-40B4-BE49-F238E27FC236}">
                <a16:creationId xmlns:a16="http://schemas.microsoft.com/office/drawing/2014/main" id="{BDA94DFB-C576-42F6-A57D-C4F32ABE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393" y="3069151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56" name="object-130-s5-ux">
            <a:extLst xmlns:a="http://schemas.openxmlformats.org/drawingml/2006/main">
              <a:ext uri="{FF2B5EF4-FFF2-40B4-BE49-F238E27FC236}">
                <a16:creationId xmlns:a16="http://schemas.microsoft.com/office/drawing/2014/main" id="{55AAAC5D-3AB7-457D-8402-2EDB4256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218" y="306915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57" name="object-131-s5-ux">
            <a:extLst xmlns:a="http://schemas.openxmlformats.org/drawingml/2006/main">
              <a:ext uri="{FF2B5EF4-FFF2-40B4-BE49-F238E27FC236}">
                <a16:creationId xmlns:a16="http://schemas.microsoft.com/office/drawing/2014/main" id="{8F5A2718-4AD5-4475-AF4E-6FEE1050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501" y="3069151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58" name="object-132-s5-ux">
            <a:extLst xmlns:a="http://schemas.openxmlformats.org/drawingml/2006/main">
              <a:ext uri="{FF2B5EF4-FFF2-40B4-BE49-F238E27FC236}">
                <a16:creationId xmlns:a16="http://schemas.microsoft.com/office/drawing/2014/main" id="{44EA466B-871B-4ED9-832F-2282A2FF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681" y="3069151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59" name="object-133-s5-ux">
            <a:extLst xmlns:a="http://schemas.openxmlformats.org/drawingml/2006/main">
              <a:ext uri="{FF2B5EF4-FFF2-40B4-BE49-F238E27FC236}">
                <a16:creationId xmlns:a16="http://schemas.microsoft.com/office/drawing/2014/main" id="{A41C7293-679D-4751-B4D8-3D503421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393" y="3469202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60" name="object-134-s5-ux">
            <a:extLst xmlns:a="http://schemas.openxmlformats.org/drawingml/2006/main">
              <a:ext uri="{FF2B5EF4-FFF2-40B4-BE49-F238E27FC236}">
                <a16:creationId xmlns:a16="http://schemas.microsoft.com/office/drawing/2014/main" id="{9790618A-BE48-41A5-9D0F-F70F2BA9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218" y="3469202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1" name="object-135-s5-ux">
            <a:extLst xmlns:a="http://schemas.openxmlformats.org/drawingml/2006/main">
              <a:ext uri="{FF2B5EF4-FFF2-40B4-BE49-F238E27FC236}">
                <a16:creationId xmlns:a16="http://schemas.microsoft.com/office/drawing/2014/main" id="{6EC448D7-0955-476C-954E-87A48406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501" y="3469202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62" name="object-136-s5-ux">
            <a:extLst xmlns:a="http://schemas.openxmlformats.org/drawingml/2006/main">
              <a:ext uri="{FF2B5EF4-FFF2-40B4-BE49-F238E27FC236}">
                <a16:creationId xmlns:a16="http://schemas.microsoft.com/office/drawing/2014/main" id="{6F89643F-54B9-4A13-B4AF-8377996F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4016" y="3469202"/>
            <a:ext cx="38231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−k</a:t>
            </a:r>
          </a:p>
        </p:txBody>
      </p:sp>
      <p:sp>
        <p:nvSpPr>
          <p:cNvPr id="63" name="object-137-s5-ux">
            <a:extLst xmlns:a="http://schemas.openxmlformats.org/drawingml/2006/main">
              <a:ext uri="{FF2B5EF4-FFF2-40B4-BE49-F238E27FC236}">
                <a16:creationId xmlns:a16="http://schemas.microsoft.com/office/drawing/2014/main" id="{AA3C6D29-7E8C-4F21-BF64-C04A78C6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324" y="4029462"/>
            <a:ext cx="2355503" cy="260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10 free complex variables</a:t>
            </a:r>
          </a:p>
        </p:txBody>
      </p:sp>
      <p:sp>
        <p:nvSpPr>
          <p:cNvPr id="64" name="object-138-s6-ux">
            <a:extLst xmlns:a="http://schemas.openxmlformats.org/drawingml/2006/main">
              <a:ext uri="{FF2B5EF4-FFF2-40B4-BE49-F238E27FC236}">
                <a16:creationId xmlns:a16="http://schemas.microsoft.com/office/drawing/2014/main" id="{376D1A3A-38CF-4AB3-A81E-31FFDF63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6679"/>
            <a:ext cx="1960513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 unitary witness</a:t>
            </a:r>
          </a:p>
        </p:txBody>
      </p:sp>
      <p:sp>
        <p:nvSpPr>
          <p:cNvPr id="65" name="object-139-s6-ux">
            <a:extLst xmlns:a="http://schemas.openxmlformats.org/drawingml/2006/main">
              <a:ext uri="{FF2B5EF4-FFF2-40B4-BE49-F238E27FC236}">
                <a16:creationId xmlns:a16="http://schemas.microsoft.com/office/drawing/2014/main" id="{7D7FB315-C30E-4EDA-A218-E52D7EC2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066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6" name="object-140-s6-ux">
            <a:extLst xmlns:a="http://schemas.openxmlformats.org/drawingml/2006/main">
              <a:ext uri="{FF2B5EF4-FFF2-40B4-BE49-F238E27FC236}">
                <a16:creationId xmlns:a16="http://schemas.microsoft.com/office/drawing/2014/main" id="{C77733D9-41BF-43BA-8299-F3BBEE5B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686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7" name="object-141-s6-ux">
            <a:extLst xmlns:a="http://schemas.openxmlformats.org/drawingml/2006/main">
              <a:ext uri="{FF2B5EF4-FFF2-40B4-BE49-F238E27FC236}">
                <a16:creationId xmlns:a16="http://schemas.microsoft.com/office/drawing/2014/main" id="{17B10381-3FA4-4298-9398-03EBCA7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72573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8" name="object-142-s6-ux">
            <a:extLst xmlns:a="http://schemas.openxmlformats.org/drawingml/2006/main">
              <a:ext uri="{FF2B5EF4-FFF2-40B4-BE49-F238E27FC236}">
                <a16:creationId xmlns:a16="http://schemas.microsoft.com/office/drawing/2014/main" id="{6BFD1CA2-3B74-4F3C-AB0D-0AEFF75B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161" y="4766697"/>
            <a:ext cx="19317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9" name="object-143-s6-ux">
            <a:extLst xmlns:a="http://schemas.openxmlformats.org/drawingml/2006/main">
              <a:ext uri="{FF2B5EF4-FFF2-40B4-BE49-F238E27FC236}">
                <a16:creationId xmlns:a16="http://schemas.microsoft.com/office/drawing/2014/main" id="{58FCF38B-0579-4D7E-97B5-630CB1B4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73339"/>
            <a:ext cx="1249859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 = I ⊗ H</a:t>
            </a:r>
          </a:p>
        </p:txBody>
      </p:sp>
      <p:sp>
        <p:nvSpPr>
          <p:cNvPr id="70" name="object-144-s6-ux">
            <a:extLst xmlns:a="http://schemas.openxmlformats.org/drawingml/2006/main">
              <a:ext uri="{FF2B5EF4-FFF2-40B4-BE49-F238E27FC236}">
                <a16:creationId xmlns:a16="http://schemas.microsoft.com/office/drawing/2014/main" id="{11707EF7-AC4A-4729-A6A5-6B41F42D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2454"/>
            <a:ext cx="7179618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More generally: S = [Rz(α) ⊗ Rx(φ)] (I ⊗ H).  Next: a long circuit match.</a:t>
            </a:r>
          </a:p>
        </p:txBody>
      </p:sp>
      <p:sp>
        <p:nvSpPr>
          <p:cNvPr id="71" name="object-145-s2-ux">
            <a:extLst xmlns:a="http://schemas.openxmlformats.org/drawingml/2006/main">
              <a:ext uri="{FF2B5EF4-FFF2-40B4-BE49-F238E27FC236}">
                <a16:creationId xmlns:a16="http://schemas.microsoft.com/office/drawing/2014/main" id="{312AF43C-F0BB-4B38-AFBF-556C0B2B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816858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Basis order: 00, 01, 10, 11. The linear space also contains nonunitary matrices; circuit matches supply unitary members.</a:t>
            </a:r>
          </a:p>
        </p:txBody>
      </p:sp>
      <p:sp>
        <p:nvSpPr>
          <p:cNvPr id="72" name="object-146-s0-ux">
            <a:extLst xmlns:a="http://schemas.openxmlformats.org/drawingml/2006/main">
              <a:ext uri="{FF2B5EF4-FFF2-40B4-BE49-F238E27FC236}">
                <a16:creationId xmlns:a16="http://schemas.microsoft.com/office/drawing/2014/main" id="{4747E8A5-3536-4303-8F02-BA9D01C0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485938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§§5.3.3–5.3.4, Lemmas 5.3–5.4; illustrative CZ → CX derivation</a:t>
            </a:r>
          </a:p>
        </p:txBody>
      </p:sp>
      <p:sp>
        <p:nvSpPr>
          <p:cNvPr id="73" name="object-147-s0-ux">
            <a:extLst xmlns:a="http://schemas.openxmlformats.org/drawingml/2006/main">
              <a:ext uri="{FF2B5EF4-FFF2-40B4-BE49-F238E27FC236}">
                <a16:creationId xmlns:a16="http://schemas.microsoft.com/office/drawing/2014/main" id="{61FCA2D4-3552-4908-AA1D-FE51A2A7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</p:spTree>
    <p:extLst>
      <p:ext uri="{BB962C8B-B14F-4D97-AF65-F5344CB8AC3E}">
        <p14:creationId xmlns:p14="http://schemas.microsoft.com/office/powerpoint/2010/main" val="10768711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top-accent">
            <a:extLst xmlns:a="http://schemas.openxmlformats.org/drawingml/2006/main">
              <a:ext uri="{FF2B5EF4-FFF2-40B4-BE49-F238E27FC236}">
                <a16:creationId xmlns:a16="http://schemas.microsoft.com/office/drawing/2014/main" id="{703AFB78-A819-4902-ACC9-F0423639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1596C250-F3BB-45AD-A326-415F0ECB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7774067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Match a long S, turn CZ into CX, then cancel</a:t>
            </a:r>
          </a:p>
        </p:txBody>
      </p:sp>
      <p:sp>
        <p:nvSpPr>
          <p:cNvPr id="3" name="object-80-s5-ux">
            <a:extLst xmlns:a="http://schemas.openxmlformats.org/drawingml/2006/main">
              <a:ext uri="{FF2B5EF4-FFF2-40B4-BE49-F238E27FC236}">
                <a16:creationId xmlns:a16="http://schemas.microsoft.com/office/drawing/2014/main" id="{526FDA42-75D5-4FBD-925D-39F601B6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4349"/>
            <a:ext cx="2571304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CANCEL THE ADJACENT CX PAIR</a:t>
            </a:r>
          </a:p>
        </p:txBody>
      </p:sp>
      <p:sp>
        <p:nvSpPr>
          <p:cNvPr id="4" name="object-81-s5-ux">
            <a:extLst xmlns:a="http://schemas.openxmlformats.org/drawingml/2006/main">
              <a:ext uri="{FF2B5EF4-FFF2-40B4-BE49-F238E27FC236}">
                <a16:creationId xmlns:a16="http://schemas.microsoft.com/office/drawing/2014/main" id="{C1E9E8BD-D19C-43A1-B263-5C3B491F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01539"/>
            <a:ext cx="7105650" cy="125730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5" name="object-82-s5-ux">
            <a:extLst xmlns:a="http://schemas.openxmlformats.org/drawingml/2006/main">
              <a:ext uri="{FF2B5EF4-FFF2-40B4-BE49-F238E27FC236}">
                <a16:creationId xmlns:a16="http://schemas.microsoft.com/office/drawing/2014/main" id="{5DCA33D4-2F19-47DC-95C9-5F491473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48" y="1658689"/>
            <a:ext cx="4349204" cy="27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S: H first, then 6 Rz gates on q₀ + 5 SX gates on q₁</a:t>
            </a:r>
          </a:p>
        </p:txBody>
      </p:sp>
      <p:sp>
        <p:nvSpPr>
          <p:cNvPr id="6" name="object-83-s5-ux">
            <a:extLst xmlns:a="http://schemas.openxmlformats.org/drawingml/2006/main">
              <a:ext uri="{FF2B5EF4-FFF2-40B4-BE49-F238E27FC236}">
                <a16:creationId xmlns:a16="http://schemas.microsoft.com/office/drawing/2014/main" id="{08B4AF56-2E41-4E6B-9E95-29040847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1592"/>
            <a:ext cx="227261" cy="26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q₀</a:t>
            </a:r>
          </a:p>
        </p:txBody>
      </p:sp>
      <p:sp>
        <p:nvSpPr>
          <p:cNvPr id="7" name="object-84-s5-ux">
            <a:extLst xmlns:a="http://schemas.openxmlformats.org/drawingml/2006/main">
              <a:ext uri="{FF2B5EF4-FFF2-40B4-BE49-F238E27FC236}">
                <a16:creationId xmlns:a16="http://schemas.microsoft.com/office/drawing/2014/main" id="{248BDF9D-1E56-4DE2-8A17-8C7636B8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8792"/>
            <a:ext cx="227261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q₁</a:t>
            </a:r>
          </a:p>
        </p:txBody>
      </p:sp>
      <p:sp>
        <p:nvSpPr>
          <p:cNvPr id="8" name="object-85-s5-ux">
            <a:extLst xmlns:a="http://schemas.openxmlformats.org/drawingml/2006/main">
              <a:ext uri="{FF2B5EF4-FFF2-40B4-BE49-F238E27FC236}">
                <a16:creationId xmlns:a16="http://schemas.microsoft.com/office/drawing/2014/main" id="{09A524CA-77D2-4F7A-86E7-AD02BC1F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4464"/>
            <a:ext cx="8305800" cy="95"/>
          </a:xfrm>
          <a:custGeom xmlns:a="http://schemas.openxmlformats.org/drawingml/2006/main">
            <a:pathLst>
              <a:path w="8305800" h="95">
                <a:moveTo>
                  <a:pt x="0" y="0"/>
                </a:moveTo>
                <a:lnTo>
                  <a:pt x="830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9" name="object-86-s5-ux">
            <a:extLst xmlns:a="http://schemas.openxmlformats.org/drawingml/2006/main">
              <a:ext uri="{FF2B5EF4-FFF2-40B4-BE49-F238E27FC236}">
                <a16:creationId xmlns:a16="http://schemas.microsoft.com/office/drawing/2014/main" id="{6B4E17A8-7C9E-4EB2-9616-3828623F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1664"/>
            <a:ext cx="8305800" cy="95"/>
          </a:xfrm>
          <a:custGeom xmlns:a="http://schemas.openxmlformats.org/drawingml/2006/main">
            <a:pathLst>
              <a:path w="8305800" h="95">
                <a:moveTo>
                  <a:pt x="0" y="0"/>
                </a:moveTo>
                <a:lnTo>
                  <a:pt x="830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0" name="object-87-s5-ux">
            <a:extLst xmlns:a="http://schemas.openxmlformats.org/drawingml/2006/main">
              <a:ext uri="{FF2B5EF4-FFF2-40B4-BE49-F238E27FC236}">
                <a16:creationId xmlns:a16="http://schemas.microsoft.com/office/drawing/2014/main" id="{A3F41E0A-B3AB-4CFC-9514-A361D88E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8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1" name="object-88-s5-ux">
            <a:extLst xmlns:a="http://schemas.openxmlformats.org/drawingml/2006/main">
              <a:ext uri="{FF2B5EF4-FFF2-40B4-BE49-F238E27FC236}">
                <a16:creationId xmlns:a16="http://schemas.microsoft.com/office/drawing/2014/main" id="{4C3A5716-E402-42ED-ABEC-DFEC27F2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2489269"/>
            <a:ext cx="20002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2" name="object-89-s5-ux">
            <a:extLst xmlns:a="http://schemas.openxmlformats.org/drawingml/2006/main">
              <a:ext uri="{FF2B5EF4-FFF2-40B4-BE49-F238E27FC236}">
                <a16:creationId xmlns:a16="http://schemas.microsoft.com/office/drawing/2014/main" id="{FA8D8DE9-BD5A-4836-8195-CFEAA2F4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3" name="object-90-s5-ux">
            <a:extLst xmlns:a="http://schemas.openxmlformats.org/drawingml/2006/main">
              <a:ext uri="{FF2B5EF4-FFF2-40B4-BE49-F238E27FC236}">
                <a16:creationId xmlns:a16="http://schemas.microsoft.com/office/drawing/2014/main" id="{217278DB-D110-4CBB-B5DD-4B5CA634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40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Rz(θ₁)</a:t>
            </a:r>
          </a:p>
        </p:txBody>
      </p:sp>
      <p:sp>
        <p:nvSpPr>
          <p:cNvPr id="14" name="object-91-s5-ux">
            <a:extLst xmlns:a="http://schemas.openxmlformats.org/drawingml/2006/main">
              <a:ext uri="{FF2B5EF4-FFF2-40B4-BE49-F238E27FC236}">
                <a16:creationId xmlns:a16="http://schemas.microsoft.com/office/drawing/2014/main" id="{4ED433E4-D3B4-43B9-ADD3-9FA24F11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5" name="object-92-s5-ux">
            <a:extLst xmlns:a="http://schemas.openxmlformats.org/drawingml/2006/main">
              <a:ext uri="{FF2B5EF4-FFF2-40B4-BE49-F238E27FC236}">
                <a16:creationId xmlns:a16="http://schemas.microsoft.com/office/drawing/2014/main" id="{445D11FA-9FA9-46A9-BAA4-39168D1F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45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16" name="object-93-s5-ux">
            <a:extLst xmlns:a="http://schemas.openxmlformats.org/drawingml/2006/main">
              <a:ext uri="{FF2B5EF4-FFF2-40B4-BE49-F238E27FC236}">
                <a16:creationId xmlns:a16="http://schemas.microsoft.com/office/drawing/2014/main" id="{D9EA3D68-B829-40DE-A391-0A64E038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7" name="object-94-s5-ux">
            <a:extLst xmlns:a="http://schemas.openxmlformats.org/drawingml/2006/main">
              <a:ext uri="{FF2B5EF4-FFF2-40B4-BE49-F238E27FC236}">
                <a16:creationId xmlns:a16="http://schemas.microsoft.com/office/drawing/2014/main" id="{06A31CD5-BB88-4CBE-A165-5F2312CC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715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Rz(θ₂)</a:t>
            </a:r>
          </a:p>
        </p:txBody>
      </p:sp>
      <p:sp>
        <p:nvSpPr>
          <p:cNvPr id="18" name="object-95-s5-ux">
            <a:extLst xmlns:a="http://schemas.openxmlformats.org/drawingml/2006/main">
              <a:ext uri="{FF2B5EF4-FFF2-40B4-BE49-F238E27FC236}">
                <a16:creationId xmlns:a16="http://schemas.microsoft.com/office/drawing/2014/main" id="{CB265418-66C6-4069-919E-2D8996CC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9" name="object-96-s5-ux">
            <a:extLst xmlns:a="http://schemas.openxmlformats.org/drawingml/2006/main">
              <a:ext uri="{FF2B5EF4-FFF2-40B4-BE49-F238E27FC236}">
                <a16:creationId xmlns:a16="http://schemas.microsoft.com/office/drawing/2014/main" id="{C51D2740-4C48-457E-9BEC-E85EFF88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26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0" name="object-97-s5-ux">
            <a:extLst xmlns:a="http://schemas.openxmlformats.org/drawingml/2006/main">
              <a:ext uri="{FF2B5EF4-FFF2-40B4-BE49-F238E27FC236}">
                <a16:creationId xmlns:a16="http://schemas.microsoft.com/office/drawing/2014/main" id="{7E3C4BF9-577D-49F3-BF5D-9C70D844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1" name="object-98-s5-ux">
            <a:extLst xmlns:a="http://schemas.openxmlformats.org/drawingml/2006/main">
              <a:ext uri="{FF2B5EF4-FFF2-40B4-BE49-F238E27FC236}">
                <a16:creationId xmlns:a16="http://schemas.microsoft.com/office/drawing/2014/main" id="{1D76081A-5F33-47ED-83E9-192BFAA2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990" y="2021592"/>
            <a:ext cx="568970" cy="261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Rz(θ₃)</a:t>
            </a:r>
          </a:p>
        </p:txBody>
      </p:sp>
      <p:sp>
        <p:nvSpPr>
          <p:cNvPr id="22" name="object-99-s5-ux">
            <a:extLst xmlns:a="http://schemas.openxmlformats.org/drawingml/2006/main">
              <a:ext uri="{FF2B5EF4-FFF2-40B4-BE49-F238E27FC236}">
                <a16:creationId xmlns:a16="http://schemas.microsoft.com/office/drawing/2014/main" id="{DB193BC2-95DD-4F6D-9FD4-DD6891CF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3" name="object-100-s5-ux">
            <a:extLst xmlns:a="http://schemas.openxmlformats.org/drawingml/2006/main">
              <a:ext uri="{FF2B5EF4-FFF2-40B4-BE49-F238E27FC236}">
                <a16:creationId xmlns:a16="http://schemas.microsoft.com/office/drawing/2014/main" id="{ADD1548E-A839-4A44-8D51-77CC523C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0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4" name="object-101-s5-ux">
            <a:extLst xmlns:a="http://schemas.openxmlformats.org/drawingml/2006/main">
              <a:ext uri="{FF2B5EF4-FFF2-40B4-BE49-F238E27FC236}">
                <a16:creationId xmlns:a16="http://schemas.microsoft.com/office/drawing/2014/main" id="{90982862-D746-4AC2-9B47-3B13D4DB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5" name="object-102-s5-ux">
            <a:extLst xmlns:a="http://schemas.openxmlformats.org/drawingml/2006/main">
              <a:ext uri="{FF2B5EF4-FFF2-40B4-BE49-F238E27FC236}">
                <a16:creationId xmlns:a16="http://schemas.microsoft.com/office/drawing/2014/main" id="{D83208CB-2B6B-4447-8E0D-7B3007E0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65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Rz(θ₄)</a:t>
            </a:r>
          </a:p>
        </p:txBody>
      </p:sp>
      <p:sp>
        <p:nvSpPr>
          <p:cNvPr id="26" name="object-103-s5-ux">
            <a:extLst xmlns:a="http://schemas.openxmlformats.org/drawingml/2006/main">
              <a:ext uri="{FF2B5EF4-FFF2-40B4-BE49-F238E27FC236}">
                <a16:creationId xmlns:a16="http://schemas.microsoft.com/office/drawing/2014/main" id="{E962C0C1-162D-45C4-BC10-03C6B56F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7" name="object-104-s5-ux">
            <a:extLst xmlns:a="http://schemas.openxmlformats.org/drawingml/2006/main">
              <a:ext uri="{FF2B5EF4-FFF2-40B4-BE49-F238E27FC236}">
                <a16:creationId xmlns:a16="http://schemas.microsoft.com/office/drawing/2014/main" id="{98E0A417-AA85-45F8-87C6-043B9661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276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8" name="object-105-s5-ux">
            <a:extLst xmlns:a="http://schemas.openxmlformats.org/drawingml/2006/main">
              <a:ext uri="{FF2B5EF4-FFF2-40B4-BE49-F238E27FC236}">
                <a16:creationId xmlns:a16="http://schemas.microsoft.com/office/drawing/2014/main" id="{9EFA0485-3992-446D-97A6-2885210F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9" name="object-106-s5-ux">
            <a:extLst xmlns:a="http://schemas.openxmlformats.org/drawingml/2006/main">
              <a:ext uri="{FF2B5EF4-FFF2-40B4-BE49-F238E27FC236}">
                <a16:creationId xmlns:a16="http://schemas.microsoft.com/office/drawing/2014/main" id="{1EB2F805-BB58-4D1E-933C-B3511E68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40" y="2021592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Rz(θ₅)</a:t>
            </a:r>
          </a:p>
        </p:txBody>
      </p:sp>
      <p:sp>
        <p:nvSpPr>
          <p:cNvPr id="30" name="object-107-s5-ux">
            <a:extLst xmlns:a="http://schemas.openxmlformats.org/drawingml/2006/main">
              <a:ext uri="{FF2B5EF4-FFF2-40B4-BE49-F238E27FC236}">
                <a16:creationId xmlns:a16="http://schemas.microsoft.com/office/drawing/2014/main" id="{2F7BBA9A-B614-4DAA-99C1-BE7D845D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1" name="object-108-s5-ux">
            <a:extLst xmlns:a="http://schemas.openxmlformats.org/drawingml/2006/main">
              <a:ext uri="{FF2B5EF4-FFF2-40B4-BE49-F238E27FC236}">
                <a16:creationId xmlns:a16="http://schemas.microsoft.com/office/drawing/2014/main" id="{CE22435B-1E28-470A-9415-1F8E8206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5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32" name="object-109-s5-ux">
            <a:extLst xmlns:a="http://schemas.openxmlformats.org/drawingml/2006/main">
              <a:ext uri="{FF2B5EF4-FFF2-40B4-BE49-F238E27FC236}">
                <a16:creationId xmlns:a16="http://schemas.microsoft.com/office/drawing/2014/main" id="{56F1C8F3-4865-4EF5-9763-DE100F89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3" name="object-110-s5-ux">
            <a:extLst xmlns:a="http://schemas.openxmlformats.org/drawingml/2006/main">
              <a:ext uri="{FF2B5EF4-FFF2-40B4-BE49-F238E27FC236}">
                <a16:creationId xmlns:a16="http://schemas.microsoft.com/office/drawing/2014/main" id="{B87B638C-F477-4C15-8159-E8437285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815" y="2021592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Rz(θ₆)</a:t>
            </a:r>
          </a:p>
        </p:txBody>
      </p:sp>
      <p:sp>
        <p:nvSpPr>
          <p:cNvPr id="34" name="object-111-s5-ux">
            <a:extLst xmlns:a="http://schemas.openxmlformats.org/drawingml/2006/main">
              <a:ext uri="{FF2B5EF4-FFF2-40B4-BE49-F238E27FC236}">
                <a16:creationId xmlns:a16="http://schemas.microsoft.com/office/drawing/2014/main" id="{D9A4EAD1-BE04-4428-BD39-75F3CD5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604" y="2158752"/>
            <a:ext cx="73134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−1 CZ</a:t>
            </a:r>
          </a:p>
        </p:txBody>
      </p:sp>
      <p:sp>
        <p:nvSpPr>
          <p:cNvPr id="35" name="object-112-s5-ux">
            <a:extLst xmlns:a="http://schemas.openxmlformats.org/drawingml/2006/main">
              <a:ext uri="{FF2B5EF4-FFF2-40B4-BE49-F238E27FC236}">
                <a16:creationId xmlns:a16="http://schemas.microsoft.com/office/drawing/2014/main" id="{DA00EB01-2F66-4206-B6F6-D89F8CDD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907" y="2454027"/>
            <a:ext cx="74473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−1 CX</a:t>
            </a:r>
          </a:p>
        </p:txBody>
      </p:sp>
      <p:sp>
        <p:nvSpPr>
          <p:cNvPr id="36" name="object-113-s1-ux">
            <a:extLst xmlns:a="http://schemas.openxmlformats.org/drawingml/2006/main">
              <a:ext uri="{FF2B5EF4-FFF2-40B4-BE49-F238E27FC236}">
                <a16:creationId xmlns:a16="http://schemas.microsoft.com/office/drawing/2014/main" id="{CCE1E8B4-D2BB-445E-94BA-2AF6A5EC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5522"/>
            <a:ext cx="2316272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 = Rz(α) ⊗ (SX H)</a:t>
            </a:r>
          </a:p>
        </p:txBody>
      </p:sp>
      <p:sp>
        <p:nvSpPr>
          <p:cNvPr id="37" name="object-114-s1-ux">
            <a:extLst xmlns:a="http://schemas.openxmlformats.org/drawingml/2006/main">
              <a:ext uri="{FF2B5EF4-FFF2-40B4-BE49-F238E27FC236}">
                <a16:creationId xmlns:a16="http://schemas.microsoft.com/office/drawing/2014/main" id="{55BE5393-E2F4-4753-AFA4-B2DDB87C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110424"/>
            <a:ext cx="496044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 =</a:t>
            </a:r>
          </a:p>
        </p:txBody>
      </p:sp>
      <p:sp>
        <p:nvSpPr>
          <p:cNvPr id="38" name="object-115-s1-ux">
            <a:extLst xmlns:a="http://schemas.openxmlformats.org/drawingml/2006/main">
              <a:ext uri="{FF2B5EF4-FFF2-40B4-BE49-F238E27FC236}">
                <a16:creationId xmlns:a16="http://schemas.microsoft.com/office/drawing/2014/main" id="{53697FEE-30AD-45F4-8538-53E0FF72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9889"/>
            <a:ext cx="2209800" cy="1371600"/>
          </a:xfrm>
          <a:custGeom xmlns:a="http://schemas.openxmlformats.org/drawingml/2006/main">
            <a:pathLst>
              <a:path w="2209800" h="1371600">
                <a:moveTo>
                  <a:pt x="76200" y="0"/>
                </a:moveTo>
                <a:lnTo>
                  <a:pt x="19756" y="0"/>
                </a:lnTo>
                <a:lnTo>
                  <a:pt x="0" y="8467"/>
                </a:lnTo>
                <a:lnTo>
                  <a:pt x="0" y="1363133"/>
                </a:lnTo>
                <a:lnTo>
                  <a:pt x="19756" y="1371600"/>
                </a:lnTo>
                <a:lnTo>
                  <a:pt x="76200" y="1371600"/>
                </a:lnTo>
              </a:path>
              <a:path w="2209800" h="1371600">
                <a:moveTo>
                  <a:pt x="2133600" y="0"/>
                </a:moveTo>
                <a:lnTo>
                  <a:pt x="2190045" y="0"/>
                </a:lnTo>
                <a:lnTo>
                  <a:pt x="2209800" y="8467"/>
                </a:lnTo>
                <a:lnTo>
                  <a:pt x="2209800" y="1363133"/>
                </a:lnTo>
                <a:lnTo>
                  <a:pt x="2190044" y="1371600"/>
                </a:lnTo>
                <a:lnTo>
                  <a:pt x="213360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39" name="object-116-s1-ux">
            <a:extLst xmlns:a="http://schemas.openxmlformats.org/drawingml/2006/main">
              <a:ext uri="{FF2B5EF4-FFF2-40B4-BE49-F238E27FC236}">
                <a16:creationId xmlns:a16="http://schemas.microsoft.com/office/drawing/2014/main" id="{B87038D2-1C09-43D5-BF17-785FE4A7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0" name="object-117-s1-ux">
            <a:extLst xmlns:a="http://schemas.openxmlformats.org/drawingml/2006/main">
              <a:ext uri="{FF2B5EF4-FFF2-40B4-BE49-F238E27FC236}">
                <a16:creationId xmlns:a16="http://schemas.microsoft.com/office/drawing/2014/main" id="{72F66D11-187F-43F2-A590-57681F06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209" y="3601218"/>
            <a:ext cx="297924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ip</a:t>
            </a:r>
          </a:p>
        </p:txBody>
      </p:sp>
      <p:sp>
        <p:nvSpPr>
          <p:cNvPr id="41" name="object-118-s1-ux">
            <a:extLst xmlns:a="http://schemas.openxmlformats.org/drawingml/2006/main">
              <a:ext uri="{FF2B5EF4-FFF2-40B4-BE49-F238E27FC236}">
                <a16:creationId xmlns:a16="http://schemas.microsoft.com/office/drawing/2014/main" id="{55DD2B2A-8B8E-49EC-9A5F-C52A52A8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9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object-119-s1-ux">
            <a:extLst xmlns:a="http://schemas.openxmlformats.org/drawingml/2006/main">
              <a:ext uri="{FF2B5EF4-FFF2-40B4-BE49-F238E27FC236}">
                <a16:creationId xmlns:a16="http://schemas.microsoft.com/office/drawing/2014/main" id="{193E22BF-EBAD-4244-BB2B-3A04AF23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51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object-120-s1-ux">
            <a:extLst xmlns:a="http://schemas.openxmlformats.org/drawingml/2006/main">
              <a:ext uri="{FF2B5EF4-FFF2-40B4-BE49-F238E27FC236}">
                <a16:creationId xmlns:a16="http://schemas.microsoft.com/office/drawing/2014/main" id="{CAB128C9-EC6A-4F88-BF7B-2F985327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4" name="object-121-s1-ux">
            <a:extLst xmlns:a="http://schemas.openxmlformats.org/drawingml/2006/main">
              <a:ext uri="{FF2B5EF4-FFF2-40B4-BE49-F238E27FC236}">
                <a16:creationId xmlns:a16="http://schemas.microsoft.com/office/drawing/2014/main" id="{9D69A8EF-9C64-4146-97D8-12EBE155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544" y="3944118"/>
            <a:ext cx="459254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−ip</a:t>
            </a:r>
          </a:p>
        </p:txBody>
      </p:sp>
      <p:sp>
        <p:nvSpPr>
          <p:cNvPr id="45" name="object-122-s1-ux">
            <a:extLst xmlns:a="http://schemas.openxmlformats.org/drawingml/2006/main">
              <a:ext uri="{FF2B5EF4-FFF2-40B4-BE49-F238E27FC236}">
                <a16:creationId xmlns:a16="http://schemas.microsoft.com/office/drawing/2014/main" id="{4B5B413B-2D59-4CA7-8F6D-65BBD1D8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9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6" name="object-123-s1-ux">
            <a:extLst xmlns:a="http://schemas.openxmlformats.org/drawingml/2006/main">
              <a:ext uri="{FF2B5EF4-FFF2-40B4-BE49-F238E27FC236}">
                <a16:creationId xmlns:a16="http://schemas.microsoft.com/office/drawing/2014/main" id="{FAAF5B07-B7C0-4435-BA19-AF2CA835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51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object-124-s1-ux">
            <a:extLst xmlns:a="http://schemas.openxmlformats.org/drawingml/2006/main">
              <a:ext uri="{FF2B5EF4-FFF2-40B4-BE49-F238E27FC236}">
                <a16:creationId xmlns:a16="http://schemas.microsoft.com/office/drawing/2014/main" id="{D157ECBA-58C6-49E2-9DBD-C126ACF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object-125-s1-ux">
            <a:extLst xmlns:a="http://schemas.openxmlformats.org/drawingml/2006/main">
              <a:ext uri="{FF2B5EF4-FFF2-40B4-BE49-F238E27FC236}">
                <a16:creationId xmlns:a16="http://schemas.microsoft.com/office/drawing/2014/main" id="{DA37C25F-0274-4EBB-9543-C93D0CCA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868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9" name="object-126-s1-ux">
            <a:extLst xmlns:a="http://schemas.openxmlformats.org/drawingml/2006/main">
              <a:ext uri="{FF2B5EF4-FFF2-40B4-BE49-F238E27FC236}">
                <a16:creationId xmlns:a16="http://schemas.microsoft.com/office/drawing/2014/main" id="{787AA524-1FE7-4B15-9E50-12FF2002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00" y="4287018"/>
            <a:ext cx="17862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0" name="object-127-s1-ux">
            <a:extLst xmlns:a="http://schemas.openxmlformats.org/drawingml/2006/main">
              <a:ext uri="{FF2B5EF4-FFF2-40B4-BE49-F238E27FC236}">
                <a16:creationId xmlns:a16="http://schemas.microsoft.com/office/drawing/2014/main" id="{CEEB8B1A-5925-402C-9C3A-50191942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667" y="4287018"/>
            <a:ext cx="23999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ir</a:t>
            </a:r>
          </a:p>
        </p:txBody>
      </p:sp>
      <p:sp>
        <p:nvSpPr>
          <p:cNvPr id="51" name="object-128-s1-ux">
            <a:extLst xmlns:a="http://schemas.openxmlformats.org/drawingml/2006/main">
              <a:ext uri="{FF2B5EF4-FFF2-40B4-BE49-F238E27FC236}">
                <a16:creationId xmlns:a16="http://schemas.microsoft.com/office/drawing/2014/main" id="{281570C5-D796-4F87-A3F9-83A98AB0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object-129-s1-ux">
            <a:extLst xmlns:a="http://schemas.openxmlformats.org/drawingml/2006/main">
              <a:ext uri="{FF2B5EF4-FFF2-40B4-BE49-F238E27FC236}">
                <a16:creationId xmlns:a16="http://schemas.microsoft.com/office/drawing/2014/main" id="{23CAC87D-DC31-47A1-841E-9CC28724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868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3" name="object-130-s1-ux">
            <a:extLst xmlns:a="http://schemas.openxmlformats.org/drawingml/2006/main">
              <a:ext uri="{FF2B5EF4-FFF2-40B4-BE49-F238E27FC236}">
                <a16:creationId xmlns:a16="http://schemas.microsoft.com/office/drawing/2014/main" id="{0BCE4029-9930-43C5-ACEF-DF08C833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00" y="4629918"/>
            <a:ext cx="17862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4" name="object-131-s1-ux">
            <a:extLst xmlns:a="http://schemas.openxmlformats.org/drawingml/2006/main">
              <a:ext uri="{FF2B5EF4-FFF2-40B4-BE49-F238E27FC236}">
                <a16:creationId xmlns:a16="http://schemas.microsoft.com/office/drawing/2014/main" id="{D3AE4CFA-E10D-40FA-A89F-B2BC9097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02" y="4629918"/>
            <a:ext cx="40130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−ir</a:t>
            </a:r>
          </a:p>
        </p:txBody>
      </p:sp>
      <p:sp>
        <p:nvSpPr>
          <p:cNvPr id="55" name="object-132-s1-ux">
            <a:extLst xmlns:a="http://schemas.openxmlformats.org/drawingml/2006/main">
              <a:ext uri="{FF2B5EF4-FFF2-40B4-BE49-F238E27FC236}">
                <a16:creationId xmlns:a16="http://schemas.microsoft.com/office/drawing/2014/main" id="{1D4524D2-8BA3-4787-BBAF-B8B50CC4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9609"/>
            <a:ext cx="715268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α = Σθᵢ</a:t>
            </a:r>
          </a:p>
        </p:txBody>
      </p:sp>
      <p:sp>
        <p:nvSpPr>
          <p:cNvPr id="56" name="object-133-s1-ux">
            <a:extLst xmlns:a="http://schemas.openxmlformats.org/drawingml/2006/main">
              <a:ext uri="{FF2B5EF4-FFF2-40B4-BE49-F238E27FC236}">
                <a16:creationId xmlns:a16="http://schemas.microsoft.com/office/drawing/2014/main" id="{1764CEC0-3FB8-4E93-9C30-8DD29A28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08875"/>
            <a:ext cx="1657052" cy="280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p = e^(−iα/2) / √2</a:t>
            </a:r>
          </a:p>
        </p:txBody>
      </p:sp>
      <p:sp>
        <p:nvSpPr>
          <p:cNvPr id="57" name="object-134-s1-ux">
            <a:extLst xmlns:a="http://schemas.openxmlformats.org/drawingml/2006/main">
              <a:ext uri="{FF2B5EF4-FFF2-40B4-BE49-F238E27FC236}">
                <a16:creationId xmlns:a16="http://schemas.microsoft.com/office/drawing/2014/main" id="{7760777A-E5EC-4FCC-87A3-4E9E3916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08875"/>
            <a:ext cx="1487984" cy="280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r = e^(iα/2) / √2</a:t>
            </a:r>
          </a:p>
        </p:txBody>
      </p:sp>
      <p:sp>
        <p:nvSpPr>
          <p:cNvPr id="58" name="object-135-s1-ux">
            <a:extLst xmlns:a="http://schemas.openxmlformats.org/drawingml/2006/main">
              <a:ext uri="{FF2B5EF4-FFF2-40B4-BE49-F238E27FC236}">
                <a16:creationId xmlns:a16="http://schemas.microsoft.com/office/drawing/2014/main" id="{28EC2CCC-DDF0-454A-B020-669AD38E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209609"/>
            <a:ext cx="932408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SX⁵ = SX</a:t>
            </a:r>
          </a:p>
        </p:txBody>
      </p:sp>
      <p:sp>
        <p:nvSpPr>
          <p:cNvPr id="59" name="object-136-s2-ux">
            <a:extLst xmlns:a="http://schemas.openxmlformats.org/drawingml/2006/main">
              <a:ext uri="{FF2B5EF4-FFF2-40B4-BE49-F238E27FC236}">
                <a16:creationId xmlns:a16="http://schemas.microsoft.com/office/drawing/2014/main" id="{C0AD07F9-0548-490D-8BCC-7C6958C9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16164"/>
            <a:ext cx="552450" cy="95"/>
          </a:xfrm>
          <a:custGeom xmlns:a="http://schemas.openxmlformats.org/drawingml/2006/main">
            <a:pathLst>
              <a:path w="552450" h="9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60" name="object-136-s2-ux-arrow">
            <a:extLst xmlns:a="http://schemas.openxmlformats.org/drawingml/2006/main">
              <a:ext uri="{FF2B5EF4-FFF2-40B4-BE49-F238E27FC236}">
                <a16:creationId xmlns:a16="http://schemas.microsoft.com/office/drawing/2014/main" id="{C689B173-BA8C-492C-834F-9ED08EA1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59014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61" name="object-137-s2-ux">
            <a:extLst xmlns:a="http://schemas.openxmlformats.org/drawingml/2006/main">
              <a:ext uri="{FF2B5EF4-FFF2-40B4-BE49-F238E27FC236}">
                <a16:creationId xmlns:a16="http://schemas.microsoft.com/office/drawing/2014/main" id="{904ECA35-D54C-4CA1-9F84-F994A00C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359" y="3858964"/>
            <a:ext cx="31968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fits</a:t>
            </a:r>
          </a:p>
        </p:txBody>
      </p:sp>
      <p:sp>
        <p:nvSpPr>
          <p:cNvPr id="62" name="object-138-s2-ux">
            <a:extLst xmlns:a="http://schemas.openxmlformats.org/drawingml/2006/main">
              <a:ext uri="{FF2B5EF4-FFF2-40B4-BE49-F238E27FC236}">
                <a16:creationId xmlns:a16="http://schemas.microsoft.com/office/drawing/2014/main" id="{0CC4B61A-3590-41DE-85B4-DC8EAF64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234" y="3305562"/>
            <a:ext cx="1354931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Synthesized S</a:t>
            </a:r>
          </a:p>
        </p:txBody>
      </p:sp>
      <p:sp>
        <p:nvSpPr>
          <p:cNvPr id="63" name="object-139-s2-ux">
            <a:extLst xmlns:a="http://schemas.openxmlformats.org/drawingml/2006/main">
              <a:ext uri="{FF2B5EF4-FFF2-40B4-BE49-F238E27FC236}">
                <a16:creationId xmlns:a16="http://schemas.microsoft.com/office/drawing/2014/main" id="{564DD958-2608-43EA-A73D-30698A17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9889"/>
            <a:ext cx="2209800" cy="1371600"/>
          </a:xfrm>
          <a:custGeom xmlns:a="http://schemas.openxmlformats.org/drawingml/2006/main">
            <a:pathLst>
              <a:path w="2209800" h="1371600">
                <a:moveTo>
                  <a:pt x="76200" y="0"/>
                </a:moveTo>
                <a:lnTo>
                  <a:pt x="19755" y="0"/>
                </a:lnTo>
                <a:lnTo>
                  <a:pt x="0" y="8467"/>
                </a:lnTo>
                <a:lnTo>
                  <a:pt x="0" y="1363133"/>
                </a:lnTo>
                <a:lnTo>
                  <a:pt x="19756" y="1371600"/>
                </a:lnTo>
                <a:lnTo>
                  <a:pt x="76200" y="1371600"/>
                </a:lnTo>
              </a:path>
              <a:path w="2209800" h="1371600">
                <a:moveTo>
                  <a:pt x="2133600" y="0"/>
                </a:moveTo>
                <a:lnTo>
                  <a:pt x="2190044" y="0"/>
                </a:lnTo>
                <a:lnTo>
                  <a:pt x="2209800" y="8467"/>
                </a:lnTo>
                <a:lnTo>
                  <a:pt x="2209800" y="1363133"/>
                </a:lnTo>
                <a:lnTo>
                  <a:pt x="2190044" y="1371600"/>
                </a:lnTo>
                <a:lnTo>
                  <a:pt x="213360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64" name="object-140-s2-ux">
            <a:extLst xmlns:a="http://schemas.openxmlformats.org/drawingml/2006/main">
              <a:ext uri="{FF2B5EF4-FFF2-40B4-BE49-F238E27FC236}">
                <a16:creationId xmlns:a16="http://schemas.microsoft.com/office/drawing/2014/main" id="{3793AD30-4151-4E3F-B1D5-A622EE08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5" name="object-141-s2-ux">
            <a:extLst xmlns:a="http://schemas.openxmlformats.org/drawingml/2006/main">
              <a:ext uri="{FF2B5EF4-FFF2-40B4-BE49-F238E27FC236}">
                <a16:creationId xmlns:a16="http://schemas.microsoft.com/office/drawing/2014/main" id="{DC048BCA-F6A0-4190-B03B-1790F738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6" name="object-142-s2-ux">
            <a:extLst xmlns:a="http://schemas.openxmlformats.org/drawingml/2006/main">
              <a:ext uri="{FF2B5EF4-FFF2-40B4-BE49-F238E27FC236}">
                <a16:creationId xmlns:a16="http://schemas.microsoft.com/office/drawing/2014/main" id="{B5053CBC-F318-4864-B7C2-7D1841D7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906" y="3601218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7" name="object-143-s2-ux">
            <a:extLst xmlns:a="http://schemas.openxmlformats.org/drawingml/2006/main">
              <a:ext uri="{FF2B5EF4-FFF2-40B4-BE49-F238E27FC236}">
                <a16:creationId xmlns:a16="http://schemas.microsoft.com/office/drawing/2014/main" id="{07EE96E2-3EDD-43EB-A955-FA6815FA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91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8" name="object-144-s2-ux">
            <a:extLst xmlns:a="http://schemas.openxmlformats.org/drawingml/2006/main">
              <a:ext uri="{FF2B5EF4-FFF2-40B4-BE49-F238E27FC236}">
                <a16:creationId xmlns:a16="http://schemas.microsoft.com/office/drawing/2014/main" id="{19069975-2907-4878-A575-BF46E022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9" name="object-145-s2-ux">
            <a:extLst xmlns:a="http://schemas.openxmlformats.org/drawingml/2006/main">
              <a:ext uri="{FF2B5EF4-FFF2-40B4-BE49-F238E27FC236}">
                <a16:creationId xmlns:a16="http://schemas.microsoft.com/office/drawing/2014/main" id="{0F59EA1F-800C-46B4-BCB3-2402EC9A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70" name="object-146-s2-ux">
            <a:extLst xmlns:a="http://schemas.openxmlformats.org/drawingml/2006/main">
              <a:ext uri="{FF2B5EF4-FFF2-40B4-BE49-F238E27FC236}">
                <a16:creationId xmlns:a16="http://schemas.microsoft.com/office/drawing/2014/main" id="{CE28D902-ECE0-49F3-8DDD-29B1C384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565" y="3944118"/>
            <a:ext cx="169188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71" name="object-147-s2-ux">
            <a:extLst xmlns:a="http://schemas.openxmlformats.org/drawingml/2006/main">
              <a:ext uri="{FF2B5EF4-FFF2-40B4-BE49-F238E27FC236}">
                <a16:creationId xmlns:a16="http://schemas.microsoft.com/office/drawing/2014/main" id="{A3B3DDA0-D132-496C-9921-7C5D6498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91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2" name="object-148-s2-ux">
            <a:extLst xmlns:a="http://schemas.openxmlformats.org/drawingml/2006/main">
              <a:ext uri="{FF2B5EF4-FFF2-40B4-BE49-F238E27FC236}">
                <a16:creationId xmlns:a16="http://schemas.microsoft.com/office/drawing/2014/main" id="{9FB3D7EF-20C6-44FB-874B-13BC5DB7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4287018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73" name="object-149-s2-ux">
            <a:extLst xmlns:a="http://schemas.openxmlformats.org/drawingml/2006/main">
              <a:ext uri="{FF2B5EF4-FFF2-40B4-BE49-F238E27FC236}">
                <a16:creationId xmlns:a16="http://schemas.microsoft.com/office/drawing/2014/main" id="{6E531F16-2B2C-4157-9D84-2D333869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74" name="object-150-s2-ux">
            <a:extLst xmlns:a="http://schemas.openxmlformats.org/drawingml/2006/main">
              <a:ext uri="{FF2B5EF4-FFF2-40B4-BE49-F238E27FC236}">
                <a16:creationId xmlns:a16="http://schemas.microsoft.com/office/drawing/2014/main" id="{4906EB8B-1E8C-46FC-B34A-A69C55AE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551" y="4287018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75" name="object-151-s2-ux">
            <a:extLst xmlns:a="http://schemas.openxmlformats.org/drawingml/2006/main">
              <a:ext uri="{FF2B5EF4-FFF2-40B4-BE49-F238E27FC236}">
                <a16:creationId xmlns:a16="http://schemas.microsoft.com/office/drawing/2014/main" id="{FE778F3F-C65A-4759-B8B5-CA85EBF2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731" y="4287018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76" name="object-152-s2-ux">
            <a:extLst xmlns:a="http://schemas.openxmlformats.org/drawingml/2006/main">
              <a:ext uri="{FF2B5EF4-FFF2-40B4-BE49-F238E27FC236}">
                <a16:creationId xmlns:a16="http://schemas.microsoft.com/office/drawing/2014/main" id="{84ECF12E-7D0D-4106-BDD6-0B13AD36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4629918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77" name="object-153-s2-ux">
            <a:extLst xmlns:a="http://schemas.openxmlformats.org/drawingml/2006/main">
              <a:ext uri="{FF2B5EF4-FFF2-40B4-BE49-F238E27FC236}">
                <a16:creationId xmlns:a16="http://schemas.microsoft.com/office/drawing/2014/main" id="{A821932D-DE6E-4DAD-A88C-162F99DE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78" name="object-154-s2-ux">
            <a:extLst xmlns:a="http://schemas.openxmlformats.org/drawingml/2006/main">
              <a:ext uri="{FF2B5EF4-FFF2-40B4-BE49-F238E27FC236}">
                <a16:creationId xmlns:a16="http://schemas.microsoft.com/office/drawing/2014/main" id="{D797E8E3-A963-4B7A-A5EB-7A9B093C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551" y="4629918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79" name="object-155-s2-ux">
            <a:extLst xmlns:a="http://schemas.openxmlformats.org/drawingml/2006/main">
              <a:ext uri="{FF2B5EF4-FFF2-40B4-BE49-F238E27FC236}">
                <a16:creationId xmlns:a16="http://schemas.microsoft.com/office/drawing/2014/main" id="{5483BA16-6713-4A50-980A-B65C95C6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066" y="4629918"/>
            <a:ext cx="38231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−k</a:t>
            </a:r>
          </a:p>
        </p:txBody>
      </p:sp>
      <p:sp>
        <p:nvSpPr>
          <p:cNvPr id="80" name="object-156-s3-ux">
            <a:extLst xmlns:a="http://schemas.openxmlformats.org/drawingml/2006/main">
              <a:ext uri="{FF2B5EF4-FFF2-40B4-BE49-F238E27FC236}">
                <a16:creationId xmlns:a16="http://schemas.microsoft.com/office/drawing/2014/main" id="{BAF9BED7-E4B3-4875-900E-05C9B26B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21704"/>
            <a:ext cx="964823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M ⊨ S</a:t>
            </a:r>
          </a:p>
        </p:txBody>
      </p:sp>
      <p:sp>
        <p:nvSpPr>
          <p:cNvPr id="81" name="object-157-s3-ux">
            <a:extLst xmlns:a="http://schemas.openxmlformats.org/drawingml/2006/main">
              <a:ext uri="{FF2B5EF4-FFF2-40B4-BE49-F238E27FC236}">
                <a16:creationId xmlns:a16="http://schemas.microsoft.com/office/drawing/2014/main" id="{0A94E38E-9C43-4913-852A-AA196C6F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97979"/>
            <a:ext cx="978694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a = d = p</a:t>
            </a:r>
          </a:p>
        </p:txBody>
      </p:sp>
      <p:sp>
        <p:nvSpPr>
          <p:cNvPr id="82" name="object-158-s3-ux">
            <a:extLst xmlns:a="http://schemas.openxmlformats.org/drawingml/2006/main">
              <a:ext uri="{FF2B5EF4-FFF2-40B4-BE49-F238E27FC236}">
                <a16:creationId xmlns:a16="http://schemas.microsoft.com/office/drawing/2014/main" id="{33163869-0AFF-48A8-B15A-14D9E1F3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40879"/>
            <a:ext cx="1467892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b = ip,  e = −ip</a:t>
            </a:r>
          </a:p>
        </p:txBody>
      </p:sp>
      <p:sp>
        <p:nvSpPr>
          <p:cNvPr id="83" name="object-159-s3-ux">
            <a:extLst xmlns:a="http://schemas.openxmlformats.org/drawingml/2006/main">
              <a:ext uri="{FF2B5EF4-FFF2-40B4-BE49-F238E27FC236}">
                <a16:creationId xmlns:a16="http://schemas.microsoft.com/office/drawing/2014/main" id="{DDD996DB-71DE-4B80-ACE6-AF9379F1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883" y="4283779"/>
            <a:ext cx="1093403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j = r,  k = ir</a:t>
            </a:r>
          </a:p>
        </p:txBody>
      </p:sp>
      <p:sp>
        <p:nvSpPr>
          <p:cNvPr id="84" name="object-160-s3-ux">
            <a:extLst xmlns:a="http://schemas.openxmlformats.org/drawingml/2006/main">
              <a:ext uri="{FF2B5EF4-FFF2-40B4-BE49-F238E27FC236}">
                <a16:creationId xmlns:a16="http://schemas.microsoft.com/office/drawing/2014/main" id="{E762ADBF-4487-4DA2-8CF3-1F55B5D5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37157"/>
            <a:ext cx="1610916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 = f = g = h = 0</a:t>
            </a:r>
          </a:p>
        </p:txBody>
      </p:sp>
      <p:sp>
        <p:nvSpPr>
          <p:cNvPr id="85" name="object-161-s5-ux">
            <a:extLst xmlns:a="http://schemas.openxmlformats.org/drawingml/2006/main">
              <a:ext uri="{FF2B5EF4-FFF2-40B4-BE49-F238E27FC236}">
                <a16:creationId xmlns:a16="http://schemas.microsoft.com/office/drawing/2014/main" id="{775BC553-20CB-4874-9B8F-77541D48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486787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All 12 gates inside S remain. The rewrite removes one CZ and one CX.</a:t>
            </a:r>
          </a:p>
        </p:txBody>
      </p:sp>
      <p:sp>
        <p:nvSpPr>
          <p:cNvPr id="86" name="object-162-s0-ux">
            <a:extLst xmlns:a="http://schemas.openxmlformats.org/drawingml/2006/main">
              <a:ext uri="{FF2B5EF4-FFF2-40B4-BE49-F238E27FC236}">
                <a16:creationId xmlns:a16="http://schemas.microsoft.com/office/drawing/2014/main" id="{76560CB5-BD61-4327-86E2-AD82DD95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127724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§5.5 matching method; longer CZ → CX instance derived for this talk</a:t>
            </a:r>
          </a:p>
        </p:txBody>
      </p:sp>
      <p:sp>
        <p:nvSpPr>
          <p:cNvPr id="87" name="object-163-s0-ux">
            <a:extLst xmlns:a="http://schemas.openxmlformats.org/drawingml/2006/main">
              <a:ext uri="{FF2B5EF4-FFF2-40B4-BE49-F238E27FC236}">
                <a16:creationId xmlns:a16="http://schemas.microsoft.com/office/drawing/2014/main" id="{65AB7646-B4CC-4FEB-81A4-ED05AC42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9213501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top-accent">
            <a:extLst xmlns:a="http://schemas.openxmlformats.org/drawingml/2006/main">
              <a:ext uri="{FF2B5EF4-FFF2-40B4-BE49-F238E27FC236}">
                <a16:creationId xmlns:a16="http://schemas.microsoft.com/office/drawing/2014/main" id="{D540EC5D-42DA-4724-943C-0A145607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4BB565EA-FC31-4B7A-ABF2-D6B0CB19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7133659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Anchoring exposes the adjacent CX pair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90E78C9A-B175-4BF6-A157-52F6ACD5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1502"/>
            <a:ext cx="171703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Canonical rule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92646907-63F7-4191-B875-0C9397DC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30089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C2E6408C-D5B1-4230-B12B-851F68C8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42712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3130BF18-70E2-4F77-824F-A5DD298E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648" y="1430089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199F4369-BD84-42E7-BADE-5526F667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1381226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6758CF00-B618-4A8A-845B-4F925758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1793849"/>
            <a:ext cx="97727" cy="97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61524CC5-696A-461E-AD0D-7DAFB332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554" y="1299788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E70D23E8-20BD-4CAA-B1FC-43740CA6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879" y="1459331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0D60B0E8-3F8E-46F1-9E44-7AECBCFB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953" y="1395666"/>
            <a:ext cx="297586" cy="438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6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9993648F-B163-4B4B-BCA4-742D5B27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1430089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0CABA0F6-028E-4BF5-82AB-9B4603B2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1842712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C89B8901-5AE0-491F-A23D-8DFB248D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895" y="1299788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F9FB62B7-3CCA-4CCD-9F3C-FA06AE78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220" y="1459331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1784121E-8A28-4170-94F9-9408053D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0575" y="1430089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953AF4A7-A540-4C25-B3B2-DCDFAA22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712" y="1381226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BE4200AF-460F-48C6-81D5-FA43A787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561" y="1728698"/>
            <a:ext cx="228029" cy="228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FB249DDC-1C90-4700-A30F-CFDC556E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566" y="1766703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2AFAAB2F-407E-40B0-B0D9-99FCF376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92954"/>
            <a:ext cx="1391096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 CZ = CX S</a:t>
            </a:r>
          </a:p>
        </p:txBody>
      </p:sp>
      <p:sp>
        <p:nvSpPr>
          <p:cNvPr id="21" name="object-19-s1-ux">
            <a:extLst xmlns:a="http://schemas.openxmlformats.org/drawingml/2006/main">
              <a:ext uri="{FF2B5EF4-FFF2-40B4-BE49-F238E27FC236}">
                <a16:creationId xmlns:a16="http://schemas.microsoft.com/office/drawing/2014/main" id="{38094748-4E55-42E1-A58C-3CB5E9ED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30164"/>
            <a:ext cx="95" cy="514350"/>
          </a:xfrm>
          <a:custGeom xmlns:a="http://schemas.openxmlformats.org/drawingml/2006/main">
            <a:pathLst>
              <a:path w="9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2" name="object-19-s1-ux-arrow">
            <a:extLst xmlns:a="http://schemas.openxmlformats.org/drawingml/2006/main">
              <a:ext uri="{FF2B5EF4-FFF2-40B4-BE49-F238E27FC236}">
                <a16:creationId xmlns:a16="http://schemas.microsoft.com/office/drawing/2014/main" id="{DE8AF060-FE82-4DEB-9F8B-2ABA2152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20689"/>
            <a:ext cx="114300" cy="123825"/>
          </a:xfrm>
          <a:custGeom xmlns:a="http://schemas.openxmlformats.org/drawingml/2006/main">
            <a:pathLst>
              <a:path w="114300" h="123825">
                <a:moveTo>
                  <a:pt x="57150" y="123825"/>
                </a:move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3" name="object-20-s1-ux">
            <a:extLst xmlns:a="http://schemas.openxmlformats.org/drawingml/2006/main">
              <a:ext uri="{FF2B5EF4-FFF2-40B4-BE49-F238E27FC236}">
                <a16:creationId xmlns:a16="http://schemas.microsoft.com/office/drawing/2014/main" id="{40B35E44-C88E-415E-8196-E6853BE5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084"/>
            <a:ext cx="237127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append CX to both sides</a:t>
            </a:r>
          </a:p>
        </p:txBody>
      </p:sp>
      <p:sp>
        <p:nvSpPr>
          <p:cNvPr id="24" name="object-21-s1-ux">
            <a:extLst xmlns:a="http://schemas.openxmlformats.org/drawingml/2006/main">
              <a:ext uri="{FF2B5EF4-FFF2-40B4-BE49-F238E27FC236}">
                <a16:creationId xmlns:a16="http://schemas.microsoft.com/office/drawing/2014/main" id="{8021678E-1615-403B-8836-A0EEF834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1202"/>
            <a:ext cx="1690539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Anchored rule</a:t>
            </a:r>
          </a:p>
        </p:txBody>
      </p:sp>
      <p:sp>
        <p:nvSpPr>
          <p:cNvPr id="25" name="object-22-s1-ux">
            <a:extLst xmlns:a="http://schemas.openxmlformats.org/drawingml/2006/main">
              <a:ext uri="{FF2B5EF4-FFF2-40B4-BE49-F238E27FC236}">
                <a16:creationId xmlns:a16="http://schemas.microsoft.com/office/drawing/2014/main" id="{A4A5A803-BD56-4EB0-8C64-65B660DA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92164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26" name="object-23-s1-ux">
            <a:extLst xmlns:a="http://schemas.openxmlformats.org/drawingml/2006/main">
              <a:ext uri="{FF2B5EF4-FFF2-40B4-BE49-F238E27FC236}">
                <a16:creationId xmlns:a16="http://schemas.microsoft.com/office/drawing/2014/main" id="{C15622D6-E788-4C7E-BFFF-6FDCE3BD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4787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27" name="object-24-s1-ux">
            <a:extLst xmlns:a="http://schemas.openxmlformats.org/drawingml/2006/main">
              <a:ext uri="{FF2B5EF4-FFF2-40B4-BE49-F238E27FC236}">
                <a16:creationId xmlns:a16="http://schemas.microsoft.com/office/drawing/2014/main" id="{6028FEE4-F211-4D06-98D5-A1F76C76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648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28" name="object-25-s1-ux">
            <a:extLst xmlns:a="http://schemas.openxmlformats.org/drawingml/2006/main">
              <a:ext uri="{FF2B5EF4-FFF2-40B4-BE49-F238E27FC236}">
                <a16:creationId xmlns:a16="http://schemas.microsoft.com/office/drawing/2014/main" id="{30194F70-EEA4-424E-BD9B-51DF7192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29" name="object-26-s1-ux">
            <a:extLst xmlns:a="http://schemas.openxmlformats.org/drawingml/2006/main">
              <a:ext uri="{FF2B5EF4-FFF2-40B4-BE49-F238E27FC236}">
                <a16:creationId xmlns:a16="http://schemas.microsoft.com/office/drawing/2014/main" id="{888DBCC3-B73E-40E6-885B-F8451E9A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3155924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30" name="object-27-s1-ux">
            <a:extLst xmlns:a="http://schemas.openxmlformats.org/drawingml/2006/main">
              <a:ext uri="{FF2B5EF4-FFF2-40B4-BE49-F238E27FC236}">
                <a16:creationId xmlns:a16="http://schemas.microsoft.com/office/drawing/2014/main" id="{E312344F-4ED8-4C39-A3BD-1DD22555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554" y="2661863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31" name="object-28-s1-ux">
            <a:extLst xmlns:a="http://schemas.openxmlformats.org/drawingml/2006/main">
              <a:ext uri="{FF2B5EF4-FFF2-40B4-BE49-F238E27FC236}">
                <a16:creationId xmlns:a16="http://schemas.microsoft.com/office/drawing/2014/main" id="{1AF4D748-D681-462B-B188-676EAB38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879" y="2821406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2" name="object-29-s1-ux">
            <a:extLst xmlns:a="http://schemas.openxmlformats.org/drawingml/2006/main">
              <a:ext uri="{FF2B5EF4-FFF2-40B4-BE49-F238E27FC236}">
                <a16:creationId xmlns:a16="http://schemas.microsoft.com/office/drawing/2014/main" id="{1E5C37F4-E5E5-4DD6-B9E2-A9272026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34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33" name="object-30-s1-ux">
            <a:extLst xmlns:a="http://schemas.openxmlformats.org/drawingml/2006/main">
              <a:ext uri="{FF2B5EF4-FFF2-40B4-BE49-F238E27FC236}">
                <a16:creationId xmlns:a16="http://schemas.microsoft.com/office/drawing/2014/main" id="{CD5C6A54-A493-446B-A532-7C9B86AE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371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34" name="object-31-s1-ux">
            <a:extLst xmlns:a="http://schemas.openxmlformats.org/drawingml/2006/main">
              <a:ext uri="{FF2B5EF4-FFF2-40B4-BE49-F238E27FC236}">
                <a16:creationId xmlns:a16="http://schemas.microsoft.com/office/drawing/2014/main" id="{9357E80E-9D25-4964-8ACB-AE2A7F2A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220" y="3090773"/>
            <a:ext cx="228029" cy="228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35" name="object-32-s1-ux">
            <a:extLst xmlns:a="http://schemas.openxmlformats.org/drawingml/2006/main">
              <a:ext uri="{FF2B5EF4-FFF2-40B4-BE49-F238E27FC236}">
                <a16:creationId xmlns:a16="http://schemas.microsoft.com/office/drawing/2014/main" id="{4D8C9E8C-9443-424E-AD8B-FEBEEF47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28778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36" name="object-33-s1-ux">
            <a:extLst xmlns:a="http://schemas.openxmlformats.org/drawingml/2006/main">
              <a:ext uri="{FF2B5EF4-FFF2-40B4-BE49-F238E27FC236}">
                <a16:creationId xmlns:a16="http://schemas.microsoft.com/office/drawing/2014/main" id="{448E6095-4486-45E4-8E03-6AC6601C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735" y="2998476"/>
            <a:ext cx="412623" cy="95"/>
          </a:xfrm>
          <a:custGeom xmlns:a="http://schemas.openxmlformats.org/drawingml/2006/main">
            <a:pathLst>
              <a:path w="412623" h="95">
                <a:moveTo>
                  <a:pt x="0" y="0"/>
                </a:moveTo>
                <a:lnTo>
                  <a:pt x="412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087E86"/>
            </a:solidFill>
            <a:prstDash val="solid"/>
          </a:ln>
        </p:spPr>
      </p:sp>
      <p:sp>
        <p:nvSpPr>
          <p:cNvPr id="37" name="object-33-s1-ux-arrow">
            <a:extLst xmlns:a="http://schemas.openxmlformats.org/drawingml/2006/main">
              <a:ext uri="{FF2B5EF4-FFF2-40B4-BE49-F238E27FC236}">
                <a16:creationId xmlns:a16="http://schemas.microsoft.com/office/drawing/2014/main" id="{F7B7FFA3-3409-4B15-9C7A-FAD6236F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533" y="2941326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38" name="object-34-s1-ux">
            <a:extLst xmlns:a="http://schemas.openxmlformats.org/drawingml/2006/main">
              <a:ext uri="{FF2B5EF4-FFF2-40B4-BE49-F238E27FC236}">
                <a16:creationId xmlns:a16="http://schemas.microsoft.com/office/drawing/2014/main" id="{DE5BDB85-396A-42DF-86DA-48E91C8A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377" y="2792164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39" name="object-35-s1-ux">
            <a:extLst xmlns:a="http://schemas.openxmlformats.org/drawingml/2006/main">
              <a:ext uri="{FF2B5EF4-FFF2-40B4-BE49-F238E27FC236}">
                <a16:creationId xmlns:a16="http://schemas.microsoft.com/office/drawing/2014/main" id="{3247ACA3-B160-479D-939E-7213347B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377" y="3204787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40" name="object-36-s1-ux">
            <a:extLst xmlns:a="http://schemas.openxmlformats.org/drawingml/2006/main">
              <a:ext uri="{FF2B5EF4-FFF2-40B4-BE49-F238E27FC236}">
                <a16:creationId xmlns:a16="http://schemas.microsoft.com/office/drawing/2014/main" id="{1E4420F1-CF6B-41B6-87FC-369CA521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688" y="2661863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41" name="object-37-s1-ux">
            <a:extLst xmlns:a="http://schemas.openxmlformats.org/drawingml/2006/main">
              <a:ext uri="{FF2B5EF4-FFF2-40B4-BE49-F238E27FC236}">
                <a16:creationId xmlns:a16="http://schemas.microsoft.com/office/drawing/2014/main" id="{2B1A1F5A-007A-4728-BAD4-F0202F1D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013" y="2821406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42" name="object-38-s1-ux">
            <a:extLst xmlns:a="http://schemas.openxmlformats.org/drawingml/2006/main">
              <a:ext uri="{FF2B5EF4-FFF2-40B4-BE49-F238E27FC236}">
                <a16:creationId xmlns:a16="http://schemas.microsoft.com/office/drawing/2014/main" id="{E709EFE1-B1C6-497C-9487-9248BD44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368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3" name="object-39-s1-ux">
            <a:extLst xmlns:a="http://schemas.openxmlformats.org/drawingml/2006/main">
              <a:ext uri="{FF2B5EF4-FFF2-40B4-BE49-F238E27FC236}">
                <a16:creationId xmlns:a16="http://schemas.microsoft.com/office/drawing/2014/main" id="{168280A8-7E36-4866-8B74-AE89D98B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505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44" name="object-40-s1-ux">
            <a:extLst xmlns:a="http://schemas.openxmlformats.org/drawingml/2006/main">
              <a:ext uri="{FF2B5EF4-FFF2-40B4-BE49-F238E27FC236}">
                <a16:creationId xmlns:a16="http://schemas.microsoft.com/office/drawing/2014/main" id="{5C950545-D544-4AE2-8EC1-0B8A83AA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354" y="3090773"/>
            <a:ext cx="228029" cy="228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5" name="object-41-s1-ux">
            <a:extLst xmlns:a="http://schemas.openxmlformats.org/drawingml/2006/main">
              <a:ext uri="{FF2B5EF4-FFF2-40B4-BE49-F238E27FC236}">
                <a16:creationId xmlns:a16="http://schemas.microsoft.com/office/drawing/2014/main" id="{B8F55CA4-3F77-4955-B263-4F5A041F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359" y="3128778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6" name="object-42-s1-ux">
            <a:extLst xmlns:a="http://schemas.openxmlformats.org/drawingml/2006/main">
              <a:ext uri="{FF2B5EF4-FFF2-40B4-BE49-F238E27FC236}">
                <a16:creationId xmlns:a16="http://schemas.microsoft.com/office/drawing/2014/main" id="{F1F24186-D65B-4BA8-945A-227E7A81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161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7" name="object-43-s1-ux">
            <a:extLst xmlns:a="http://schemas.openxmlformats.org/drawingml/2006/main">
              <a:ext uri="{FF2B5EF4-FFF2-40B4-BE49-F238E27FC236}">
                <a16:creationId xmlns:a16="http://schemas.microsoft.com/office/drawing/2014/main" id="{9D924062-A682-46B7-8F68-50812F1A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298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48" name="object-44-s1-ux">
            <a:extLst xmlns:a="http://schemas.openxmlformats.org/drawingml/2006/main">
              <a:ext uri="{FF2B5EF4-FFF2-40B4-BE49-F238E27FC236}">
                <a16:creationId xmlns:a16="http://schemas.microsoft.com/office/drawing/2014/main" id="{8EC0C485-CB04-4188-8197-0E431536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147" y="3090773"/>
            <a:ext cx="228029" cy="228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9" name="object-45-s1-ux">
            <a:extLst xmlns:a="http://schemas.openxmlformats.org/drawingml/2006/main">
              <a:ext uri="{FF2B5EF4-FFF2-40B4-BE49-F238E27FC236}">
                <a16:creationId xmlns:a16="http://schemas.microsoft.com/office/drawing/2014/main" id="{16F649B7-B2DE-4501-94A4-7069D330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3128778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50" name="object-46-s2-ux">
            <a:extLst xmlns:a="http://schemas.openxmlformats.org/drawingml/2006/main">
              <a:ext uri="{FF2B5EF4-FFF2-40B4-BE49-F238E27FC236}">
                <a16:creationId xmlns:a16="http://schemas.microsoft.com/office/drawing/2014/main" id="{79F2BF8F-D091-43FB-91B8-E9F74622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2739"/>
            <a:ext cx="10763250" cy="95"/>
          </a:xfrm>
          <a:custGeom xmlns:a="http://schemas.openxmlformats.org/drawingml/2006/main">
            <a:pathLst>
              <a:path w="10763250" h="95">
                <a:moveTo>
                  <a:pt x="0" y="0"/>
                </a:moveTo>
                <a:lnTo>
                  <a:pt x="1076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51" name="object-47-s2-ux">
            <a:extLst xmlns:a="http://schemas.openxmlformats.org/drawingml/2006/main">
              <a:ext uri="{FF2B5EF4-FFF2-40B4-BE49-F238E27FC236}">
                <a16:creationId xmlns:a16="http://schemas.microsoft.com/office/drawing/2014/main" id="{601B7E8A-F60F-46A7-9FD0-16FADFA3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8004"/>
            <a:ext cx="2451943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cancellation</a:t>
            </a:r>
          </a:p>
        </p:txBody>
      </p:sp>
      <p:sp>
        <p:nvSpPr>
          <p:cNvPr id="52" name="object-48-s2-ux">
            <a:extLst xmlns:a="http://schemas.openxmlformats.org/drawingml/2006/main">
              <a:ext uri="{FF2B5EF4-FFF2-40B4-BE49-F238E27FC236}">
                <a16:creationId xmlns:a16="http://schemas.microsoft.com/office/drawing/2014/main" id="{81B5FFF0-8678-420C-BDDD-26ED5E8F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4739"/>
            <a:ext cx="1533525" cy="95"/>
          </a:xfrm>
          <a:custGeom xmlns:a="http://schemas.openxmlformats.org/drawingml/2006/main">
            <a:pathLst>
              <a:path w="1533525" h="95">
                <a:moveTo>
                  <a:pt x="0" y="0"/>
                </a:moveTo>
                <a:lnTo>
                  <a:pt x="1533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53" name="object-49-s2-ux">
            <a:extLst xmlns:a="http://schemas.openxmlformats.org/drawingml/2006/main">
              <a:ext uri="{FF2B5EF4-FFF2-40B4-BE49-F238E27FC236}">
                <a16:creationId xmlns:a16="http://schemas.microsoft.com/office/drawing/2014/main" id="{9D2BE17F-C2BC-4039-8437-A54A6ACE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0982"/>
            <a:ext cx="1533525" cy="95"/>
          </a:xfrm>
          <a:custGeom xmlns:a="http://schemas.openxmlformats.org/drawingml/2006/main">
            <a:pathLst>
              <a:path w="1533525" h="95">
                <a:moveTo>
                  <a:pt x="0" y="0"/>
                </a:moveTo>
                <a:lnTo>
                  <a:pt x="1533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54" name="object-50-s2-ux">
            <a:extLst xmlns:a="http://schemas.openxmlformats.org/drawingml/2006/main">
              <a:ext uri="{FF2B5EF4-FFF2-40B4-BE49-F238E27FC236}">
                <a16:creationId xmlns:a16="http://schemas.microsoft.com/office/drawing/2014/main" id="{2800BAE9-0D85-46D8-8B96-BA46CB70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04" y="4344739"/>
            <a:ext cx="95" cy="416242"/>
          </a:xfrm>
          <a:custGeom xmlns:a="http://schemas.openxmlformats.org/drawingml/2006/main">
            <a:pathLst>
              <a:path w="95" h="416242">
                <a:moveTo>
                  <a:pt x="0" y="0"/>
                </a:moveTo>
                <a:lnTo>
                  <a:pt x="0" y="4162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55" name="object-51-s2-ux">
            <a:extLst xmlns:a="http://schemas.openxmlformats.org/drawingml/2006/main">
              <a:ext uri="{FF2B5EF4-FFF2-40B4-BE49-F238E27FC236}">
                <a16:creationId xmlns:a16="http://schemas.microsoft.com/office/drawing/2014/main" id="{CCD086F1-B3FC-44AA-ADDA-EB8D2E3F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812" y="4295448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56" name="object-52-s2-ux">
            <a:extLst xmlns:a="http://schemas.openxmlformats.org/drawingml/2006/main">
              <a:ext uri="{FF2B5EF4-FFF2-40B4-BE49-F238E27FC236}">
                <a16:creationId xmlns:a16="http://schemas.microsoft.com/office/drawing/2014/main" id="{F5B89496-86B0-4CF7-8FCF-07945470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89" y="4645968"/>
            <a:ext cx="230029" cy="230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57" name="object-53-s2-ux">
            <a:extLst xmlns:a="http://schemas.openxmlformats.org/drawingml/2006/main">
              <a:ext uri="{FF2B5EF4-FFF2-40B4-BE49-F238E27FC236}">
                <a16:creationId xmlns:a16="http://schemas.microsoft.com/office/drawing/2014/main" id="{0337D04C-CAA0-4A8A-B492-D7917FC6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" y="4684306"/>
            <a:ext cx="153352" cy="153352"/>
          </a:xfrm>
          <a:custGeom xmlns:a="http://schemas.openxmlformats.org/drawingml/2006/main">
            <a:pathLst>
              <a:path w="153352" h="153352">
                <a:moveTo>
                  <a:pt x="0" y="76676"/>
                </a:moveTo>
                <a:lnTo>
                  <a:pt x="153352" y="76676"/>
                </a:lnTo>
              </a:path>
              <a:path w="153352" h="153352">
                <a:moveTo>
                  <a:pt x="76676" y="0"/>
                </a:moveTo>
                <a:lnTo>
                  <a:pt x="76676" y="1533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58" name="object-54-s2-ux">
            <a:extLst xmlns:a="http://schemas.openxmlformats.org/drawingml/2006/main">
              <a:ext uri="{FF2B5EF4-FFF2-40B4-BE49-F238E27FC236}">
                <a16:creationId xmlns:a16="http://schemas.microsoft.com/office/drawing/2014/main" id="{B06D4E6B-13F3-43A0-9E22-FF084684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421" y="4344739"/>
            <a:ext cx="95" cy="416242"/>
          </a:xfrm>
          <a:custGeom xmlns:a="http://schemas.openxmlformats.org/drawingml/2006/main">
            <a:pathLst>
              <a:path w="95" h="416242">
                <a:moveTo>
                  <a:pt x="0" y="0"/>
                </a:moveTo>
                <a:lnTo>
                  <a:pt x="0" y="4162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59" name="object-55-s2-ux">
            <a:extLst xmlns:a="http://schemas.openxmlformats.org/drawingml/2006/main">
              <a:ext uri="{FF2B5EF4-FFF2-40B4-BE49-F238E27FC236}">
                <a16:creationId xmlns:a16="http://schemas.microsoft.com/office/drawing/2014/main" id="{E222C082-D081-45A5-B3A2-34A69ACE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129" y="4295448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60" name="object-56-s2-ux">
            <a:extLst xmlns:a="http://schemas.openxmlformats.org/drawingml/2006/main">
              <a:ext uri="{FF2B5EF4-FFF2-40B4-BE49-F238E27FC236}">
                <a16:creationId xmlns:a16="http://schemas.microsoft.com/office/drawing/2014/main" id="{256DAB04-19CA-4019-9C6E-CD300476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407" y="4645968"/>
            <a:ext cx="230029" cy="230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61" name="object-57-s2-ux">
            <a:extLst xmlns:a="http://schemas.openxmlformats.org/drawingml/2006/main">
              <a:ext uri="{FF2B5EF4-FFF2-40B4-BE49-F238E27FC236}">
                <a16:creationId xmlns:a16="http://schemas.microsoft.com/office/drawing/2014/main" id="{7F2D1696-FBBE-49C5-90E5-0DB58F3C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45" y="4684306"/>
            <a:ext cx="153352" cy="153352"/>
          </a:xfrm>
          <a:custGeom xmlns:a="http://schemas.openxmlformats.org/drawingml/2006/main">
            <a:pathLst>
              <a:path w="153352" h="153352">
                <a:moveTo>
                  <a:pt x="0" y="76676"/>
                </a:moveTo>
                <a:lnTo>
                  <a:pt x="153352" y="76676"/>
                </a:lnTo>
              </a:path>
              <a:path w="153352" h="153352">
                <a:moveTo>
                  <a:pt x="76676" y="0"/>
                </a:moveTo>
                <a:lnTo>
                  <a:pt x="76676" y="1533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62" name="object-58-s2-ux">
            <a:extLst xmlns:a="http://schemas.openxmlformats.org/drawingml/2006/main">
              <a:ext uri="{FF2B5EF4-FFF2-40B4-BE49-F238E27FC236}">
                <a16:creationId xmlns:a16="http://schemas.microsoft.com/office/drawing/2014/main" id="{FF3BEDD3-8B8D-423E-A66D-B7ECF736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970" y="4552861"/>
            <a:ext cx="416242" cy="95"/>
          </a:xfrm>
          <a:custGeom xmlns:a="http://schemas.openxmlformats.org/drawingml/2006/main">
            <a:pathLst>
              <a:path w="416242" h="95">
                <a:moveTo>
                  <a:pt x="0" y="0"/>
                </a:moveTo>
                <a:lnTo>
                  <a:pt x="4162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087E86"/>
            </a:solidFill>
            <a:prstDash val="solid"/>
          </a:ln>
        </p:spPr>
      </p:sp>
      <p:sp>
        <p:nvSpPr>
          <p:cNvPr id="63" name="object-58-s2-ux-arrow">
            <a:extLst xmlns:a="http://schemas.openxmlformats.org/drawingml/2006/main">
              <a:ext uri="{FF2B5EF4-FFF2-40B4-BE49-F238E27FC236}">
                <a16:creationId xmlns:a16="http://schemas.microsoft.com/office/drawing/2014/main" id="{115F11C6-D081-452B-BBC7-DE4ED5B5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87" y="4495711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64" name="object-59-s2-ux">
            <a:extLst xmlns:a="http://schemas.openxmlformats.org/drawingml/2006/main">
              <a:ext uri="{FF2B5EF4-FFF2-40B4-BE49-F238E27FC236}">
                <a16:creationId xmlns:a16="http://schemas.microsoft.com/office/drawing/2014/main" id="{723EBAE6-ACE9-4A6F-9E5A-EB5F76EC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65" y="4344739"/>
            <a:ext cx="963930" cy="95"/>
          </a:xfrm>
          <a:custGeom xmlns:a="http://schemas.openxmlformats.org/drawingml/2006/main">
            <a:pathLst>
              <a:path w="963930" h="95">
                <a:moveTo>
                  <a:pt x="0" y="0"/>
                </a:moveTo>
                <a:lnTo>
                  <a:pt x="963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65" name="object-60-s2-ux">
            <a:extLst xmlns:a="http://schemas.openxmlformats.org/drawingml/2006/main">
              <a:ext uri="{FF2B5EF4-FFF2-40B4-BE49-F238E27FC236}">
                <a16:creationId xmlns:a16="http://schemas.microsoft.com/office/drawing/2014/main" id="{CD07F07E-ECC0-4833-800D-54F3BFC4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65" y="4760982"/>
            <a:ext cx="963930" cy="95"/>
          </a:xfrm>
          <a:custGeom xmlns:a="http://schemas.openxmlformats.org/drawingml/2006/main">
            <a:pathLst>
              <a:path w="963930" h="95">
                <a:moveTo>
                  <a:pt x="0" y="0"/>
                </a:moveTo>
                <a:lnTo>
                  <a:pt x="963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66" name="object-61-s2-ux">
            <a:extLst xmlns:a="http://schemas.openxmlformats.org/drawingml/2006/main">
              <a:ext uri="{FF2B5EF4-FFF2-40B4-BE49-F238E27FC236}">
                <a16:creationId xmlns:a16="http://schemas.microsoft.com/office/drawing/2014/main" id="{A9C39B3D-B830-4262-9112-6E8C0B0D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055" y="5096262"/>
            <a:ext cx="2344489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identity equivalence class</a:t>
            </a:r>
          </a:p>
        </p:txBody>
      </p:sp>
      <p:sp>
        <p:nvSpPr>
          <p:cNvPr id="67" name="object-62-s3-ux">
            <a:extLst xmlns:a="http://schemas.openxmlformats.org/drawingml/2006/main">
              <a:ext uri="{FF2B5EF4-FFF2-40B4-BE49-F238E27FC236}">
                <a16:creationId xmlns:a16="http://schemas.microsoft.com/office/drawing/2014/main" id="{E4254D4F-B5AF-4A82-A414-7CD544EE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798004"/>
            <a:ext cx="3442246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Result for the running example</a:t>
            </a:r>
          </a:p>
        </p:txBody>
      </p:sp>
      <p:sp>
        <p:nvSpPr>
          <p:cNvPr id="68" name="object-63-s3-ux">
            <a:extLst xmlns:a="http://schemas.openxmlformats.org/drawingml/2006/main">
              <a:ext uri="{FF2B5EF4-FFF2-40B4-BE49-F238E27FC236}">
                <a16:creationId xmlns:a16="http://schemas.microsoft.com/office/drawing/2014/main" id="{F8A3E00B-5696-4FBA-B280-7B592678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44739"/>
            <a:ext cx="2168842" cy="95"/>
          </a:xfrm>
          <a:custGeom xmlns:a="http://schemas.openxmlformats.org/drawingml/2006/main">
            <a:pathLst>
              <a:path w="2168842" h="95">
                <a:moveTo>
                  <a:pt x="0" y="0"/>
                </a:moveTo>
                <a:lnTo>
                  <a:pt x="21688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69" name="object-64-s3-ux">
            <a:extLst xmlns:a="http://schemas.openxmlformats.org/drawingml/2006/main">
              <a:ext uri="{FF2B5EF4-FFF2-40B4-BE49-F238E27FC236}">
                <a16:creationId xmlns:a16="http://schemas.microsoft.com/office/drawing/2014/main" id="{24F57AC4-18CF-40F3-BCA0-0D5F2B79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60982"/>
            <a:ext cx="2168842" cy="95"/>
          </a:xfrm>
          <a:custGeom xmlns:a="http://schemas.openxmlformats.org/drawingml/2006/main">
            <a:pathLst>
              <a:path w="2168842" h="95">
                <a:moveTo>
                  <a:pt x="0" y="0"/>
                </a:moveTo>
                <a:lnTo>
                  <a:pt x="21688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70" name="object-65-s3-ux">
            <a:extLst xmlns:a="http://schemas.openxmlformats.org/drawingml/2006/main">
              <a:ext uri="{FF2B5EF4-FFF2-40B4-BE49-F238E27FC236}">
                <a16:creationId xmlns:a16="http://schemas.microsoft.com/office/drawing/2014/main" id="{BF116D73-1038-4114-BFAE-41CFDC66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979" y="4344739"/>
            <a:ext cx="95" cy="416242"/>
          </a:xfrm>
          <a:custGeom xmlns:a="http://schemas.openxmlformats.org/drawingml/2006/main">
            <a:pathLst>
              <a:path w="95" h="416242">
                <a:moveTo>
                  <a:pt x="0" y="0"/>
                </a:moveTo>
                <a:lnTo>
                  <a:pt x="0" y="4162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71" name="object-66-s3-ux">
            <a:extLst xmlns:a="http://schemas.openxmlformats.org/drawingml/2006/main">
              <a:ext uri="{FF2B5EF4-FFF2-40B4-BE49-F238E27FC236}">
                <a16:creationId xmlns:a16="http://schemas.microsoft.com/office/drawing/2014/main" id="{21B7D47F-7D8A-4ADD-8F18-A3FBA3BC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687" y="4295448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72" name="object-67-s3-ux">
            <a:extLst xmlns:a="http://schemas.openxmlformats.org/drawingml/2006/main">
              <a:ext uri="{FF2B5EF4-FFF2-40B4-BE49-F238E27FC236}">
                <a16:creationId xmlns:a16="http://schemas.microsoft.com/office/drawing/2014/main" id="{9A5134E1-9C91-4904-9CFB-3A2DCC4D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687" y="4711690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73" name="object-68-s3-ux">
            <a:extLst xmlns:a="http://schemas.openxmlformats.org/drawingml/2006/main">
              <a:ext uri="{FF2B5EF4-FFF2-40B4-BE49-F238E27FC236}">
                <a16:creationId xmlns:a16="http://schemas.microsoft.com/office/drawing/2014/main" id="{EC75785F-32B5-43C1-8CB8-E22C1C9C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314" y="4213295"/>
            <a:ext cx="481965" cy="679132"/>
          </a:xfrm>
          <a:prstGeom xmlns:a="http://schemas.openxmlformats.org/drawingml/2006/main" prst="roundRect">
            <a:avLst>
              <a:gd name="adj" fmla="val 5929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907">
            <a:solidFill>
              <a:srgbClr val="087E86"/>
            </a:solidFill>
            <a:prstDash val="solid"/>
          </a:ln>
        </p:spPr>
      </p:sp>
      <p:sp>
        <p:nvSpPr>
          <p:cNvPr id="74" name="object-69-s3-ux">
            <a:extLst xmlns:a="http://schemas.openxmlformats.org/drawingml/2006/main">
              <a:ext uri="{FF2B5EF4-FFF2-40B4-BE49-F238E27FC236}">
                <a16:creationId xmlns:a16="http://schemas.microsoft.com/office/drawing/2014/main" id="{2353D204-D6BA-4105-9FED-2610EA4B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916" y="4376410"/>
            <a:ext cx="264914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56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56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75" name="object-70-s3-ux">
            <a:extLst xmlns:a="http://schemas.openxmlformats.org/drawingml/2006/main">
              <a:ext uri="{FF2B5EF4-FFF2-40B4-BE49-F238E27FC236}">
                <a16:creationId xmlns:a16="http://schemas.microsoft.com/office/drawing/2014/main" id="{3E8DAFCA-47F3-4FE1-8526-8F1EAA55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614" y="4344739"/>
            <a:ext cx="95" cy="416242"/>
          </a:xfrm>
          <a:custGeom xmlns:a="http://schemas.openxmlformats.org/drawingml/2006/main">
            <a:pathLst>
              <a:path w="95" h="416242">
                <a:moveTo>
                  <a:pt x="0" y="0"/>
                </a:moveTo>
                <a:lnTo>
                  <a:pt x="0" y="4162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76" name="object-71-s3-ux">
            <a:extLst xmlns:a="http://schemas.openxmlformats.org/drawingml/2006/main">
              <a:ext uri="{FF2B5EF4-FFF2-40B4-BE49-F238E27FC236}">
                <a16:creationId xmlns:a16="http://schemas.microsoft.com/office/drawing/2014/main" id="{C432DA60-D6FD-461B-95EA-778A74D4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322" y="4295448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77" name="object-72-s3-ux">
            <a:extLst xmlns:a="http://schemas.openxmlformats.org/drawingml/2006/main">
              <a:ext uri="{FF2B5EF4-FFF2-40B4-BE49-F238E27FC236}">
                <a16:creationId xmlns:a16="http://schemas.microsoft.com/office/drawing/2014/main" id="{7F4FF8CF-06CE-4C86-AD10-E8A7E5DC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599" y="4645968"/>
            <a:ext cx="230029" cy="230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78" name="object-73-s3-ux">
            <a:extLst xmlns:a="http://schemas.openxmlformats.org/drawingml/2006/main">
              <a:ext uri="{FF2B5EF4-FFF2-40B4-BE49-F238E27FC236}">
                <a16:creationId xmlns:a16="http://schemas.microsoft.com/office/drawing/2014/main" id="{AEA766E9-74EC-4A83-BA5B-B40AFC8B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937" y="4684306"/>
            <a:ext cx="153352" cy="153352"/>
          </a:xfrm>
          <a:custGeom xmlns:a="http://schemas.openxmlformats.org/drawingml/2006/main">
            <a:pathLst>
              <a:path w="153352" h="153352">
                <a:moveTo>
                  <a:pt x="0" y="76676"/>
                </a:moveTo>
                <a:lnTo>
                  <a:pt x="153352" y="76676"/>
                </a:lnTo>
              </a:path>
              <a:path w="153352" h="153352">
                <a:moveTo>
                  <a:pt x="76676" y="0"/>
                </a:moveTo>
                <a:lnTo>
                  <a:pt x="76676" y="1533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79" name="object-74-s3-ux">
            <a:extLst xmlns:a="http://schemas.openxmlformats.org/drawingml/2006/main">
              <a:ext uri="{FF2B5EF4-FFF2-40B4-BE49-F238E27FC236}">
                <a16:creationId xmlns:a16="http://schemas.microsoft.com/office/drawing/2014/main" id="{B5EF6B94-A752-42AB-A71C-D92A2C3F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2" y="4552861"/>
            <a:ext cx="416242" cy="95"/>
          </a:xfrm>
          <a:custGeom xmlns:a="http://schemas.openxmlformats.org/drawingml/2006/main">
            <a:pathLst>
              <a:path w="416242" h="95">
                <a:moveTo>
                  <a:pt x="0" y="0"/>
                </a:moveTo>
                <a:lnTo>
                  <a:pt x="4162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087E86"/>
            </a:solidFill>
            <a:prstDash val="solid"/>
          </a:ln>
        </p:spPr>
      </p:sp>
      <p:sp>
        <p:nvSpPr>
          <p:cNvPr id="80" name="object-74-s3-ux-arrow">
            <a:extLst xmlns:a="http://schemas.openxmlformats.org/drawingml/2006/main">
              <a:ext uri="{FF2B5EF4-FFF2-40B4-BE49-F238E27FC236}">
                <a16:creationId xmlns:a16="http://schemas.microsoft.com/office/drawing/2014/main" id="{77582064-07C6-41CC-B3F4-A6A21B95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4495711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81" name="object-75-s3-ux">
            <a:extLst xmlns:a="http://schemas.openxmlformats.org/drawingml/2006/main">
              <a:ext uri="{FF2B5EF4-FFF2-40B4-BE49-F238E27FC236}">
                <a16:creationId xmlns:a16="http://schemas.microsoft.com/office/drawing/2014/main" id="{5A1159DC-268E-47A5-8870-CF68EFE6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757" y="4344739"/>
            <a:ext cx="898207" cy="95"/>
          </a:xfrm>
          <a:custGeom xmlns:a="http://schemas.openxmlformats.org/drawingml/2006/main">
            <a:pathLst>
              <a:path w="898207" h="95">
                <a:moveTo>
                  <a:pt x="0" y="0"/>
                </a:moveTo>
                <a:lnTo>
                  <a:pt x="898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82" name="object-76-s3-ux">
            <a:extLst xmlns:a="http://schemas.openxmlformats.org/drawingml/2006/main">
              <a:ext uri="{FF2B5EF4-FFF2-40B4-BE49-F238E27FC236}">
                <a16:creationId xmlns:a16="http://schemas.microsoft.com/office/drawing/2014/main" id="{BC8BC5F1-4D79-4C1A-AA7F-ED63A4EB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757" y="4760982"/>
            <a:ext cx="898207" cy="95"/>
          </a:xfrm>
          <a:custGeom xmlns:a="http://schemas.openxmlformats.org/drawingml/2006/main">
            <a:pathLst>
              <a:path w="898207" h="95">
                <a:moveTo>
                  <a:pt x="0" y="0"/>
                </a:moveTo>
                <a:lnTo>
                  <a:pt x="898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83" name="object-77-s3-ux">
            <a:extLst xmlns:a="http://schemas.openxmlformats.org/drawingml/2006/main">
              <a:ext uri="{FF2B5EF4-FFF2-40B4-BE49-F238E27FC236}">
                <a16:creationId xmlns:a16="http://schemas.microsoft.com/office/drawing/2014/main" id="{50645365-42F2-40B1-9B84-4E2122AA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878" y="4213295"/>
            <a:ext cx="481966" cy="679132"/>
          </a:xfrm>
          <a:prstGeom xmlns:a="http://schemas.openxmlformats.org/drawingml/2006/main" prst="roundRect">
            <a:avLst>
              <a:gd name="adj" fmla="val 5929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907">
            <a:solidFill>
              <a:srgbClr val="087E86"/>
            </a:solidFill>
            <a:prstDash val="solid"/>
          </a:ln>
        </p:spPr>
      </p:sp>
      <p:sp>
        <p:nvSpPr>
          <p:cNvPr id="84" name="object-78-s3-ux">
            <a:extLst xmlns:a="http://schemas.openxmlformats.org/drawingml/2006/main">
              <a:ext uri="{FF2B5EF4-FFF2-40B4-BE49-F238E27FC236}">
                <a16:creationId xmlns:a16="http://schemas.microsoft.com/office/drawing/2014/main" id="{40E0F6C9-E7EB-49B8-947E-7E3443F8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480" y="4376410"/>
            <a:ext cx="264914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56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56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85" name="object-79-s3-ux">
            <a:extLst xmlns:a="http://schemas.openxmlformats.org/drawingml/2006/main">
              <a:ext uri="{FF2B5EF4-FFF2-40B4-BE49-F238E27FC236}">
                <a16:creationId xmlns:a16="http://schemas.microsoft.com/office/drawing/2014/main" id="{6D6C51B5-60B6-40ED-A708-32688199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924" y="5041017"/>
            <a:ext cx="177176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−1 CZ, −1 CX</a:t>
            </a:r>
          </a:p>
        </p:txBody>
      </p:sp>
      <p:sp>
        <p:nvSpPr>
          <p:cNvPr id="86" name="object-80-s3-ux">
            <a:extLst xmlns:a="http://schemas.openxmlformats.org/drawingml/2006/main">
              <a:ext uri="{FF2B5EF4-FFF2-40B4-BE49-F238E27FC236}">
                <a16:creationId xmlns:a16="http://schemas.microsoft.com/office/drawing/2014/main" id="{E0717DBB-7228-4B2E-AECD-5EE8376F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4924"/>
            <a:ext cx="10858500" cy="95"/>
          </a:xfrm>
          <a:custGeom xmlns:a="http://schemas.openxmlformats.org/drawingml/2006/main">
            <a:pathLst>
              <a:path w="10858500" h="9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9CBC7"/>
            </a:solidFill>
            <a:prstDash val="solid"/>
          </a:ln>
        </p:spPr>
      </p:sp>
      <p:sp>
        <p:nvSpPr>
          <p:cNvPr id="87" name="object-81-s3-ux">
            <a:extLst xmlns:a="http://schemas.openxmlformats.org/drawingml/2006/main">
              <a:ext uri="{FF2B5EF4-FFF2-40B4-BE49-F238E27FC236}">
                <a16:creationId xmlns:a16="http://schemas.microsoft.com/office/drawing/2014/main" id="{D98937B4-BEF5-44FE-B218-6AD4D4E8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567"/>
            <a:ext cx="6818858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A rule relating different gates becomes a concrete two-gate reduction.</a:t>
            </a:r>
          </a:p>
        </p:txBody>
      </p:sp>
      <p:sp>
        <p:nvSpPr>
          <p:cNvPr id="88" name="object-82-s0-ux">
            <a:extLst xmlns:a="http://schemas.openxmlformats.org/drawingml/2006/main">
              <a:ext uri="{FF2B5EF4-FFF2-40B4-BE49-F238E27FC236}">
                <a16:creationId xmlns:a16="http://schemas.microsoft.com/office/drawing/2014/main" id="{BB21FB7E-5A93-4A84-8C13-BA327E6E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74000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QSymb synthesis / anchoring methods; CZ → CX illustration derived for this talk</a:t>
            </a:r>
          </a:p>
        </p:txBody>
      </p:sp>
      <p:sp>
        <p:nvSpPr>
          <p:cNvPr id="89" name="object-83-s0-ux">
            <a:extLst xmlns:a="http://schemas.openxmlformats.org/drawingml/2006/main">
              <a:ext uri="{FF2B5EF4-FFF2-40B4-BE49-F238E27FC236}">
                <a16:creationId xmlns:a16="http://schemas.microsoft.com/office/drawing/2014/main" id="{47D851BA-FF94-4499-AD61-16FFB4B0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710" y="6445568"/>
            <a:ext cx="44574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8653260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accent">
            <a:extLst xmlns:a="http://schemas.openxmlformats.org/drawingml/2006/main">
              <a:ext uri="{FF2B5EF4-FFF2-40B4-BE49-F238E27FC236}">
                <a16:creationId xmlns:a16="http://schemas.microsoft.com/office/drawing/2014/main" id="{916AF8CC-72EF-40FD-8736-D19EFE97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A3BB9702-B6CA-43A7-B169-47DFAB55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3043863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Evaluation setup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76CFC28C-1C30-4A58-AA9D-FD828BDA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2963"/>
            <a:ext cx="10858500" cy="95"/>
          </a:xfrm>
          <a:custGeom xmlns:a="http://schemas.openxmlformats.org/drawingml/2006/main">
            <a:pathLst>
              <a:path w="10858500" h="9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9CBC7"/>
            </a:solidFill>
            <a:prstDash val="solid"/>
          </a:ln>
        </p:spPr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139F0962-F801-45DB-9293-510AB9E4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1969"/>
            <a:ext cx="1038910" cy="729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0C145220-ADE0-45DD-853D-75C7274E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8610"/>
            <a:ext cx="174367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benchmark circuits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743D28FA-0130-4286-91AE-F42D9D2B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31969"/>
            <a:ext cx="1330017" cy="729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4–36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46F90E57-950C-42CE-BB00-4C550261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78610"/>
            <a:ext cx="1532632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qubits per circuit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C1D42353-E4FF-46FA-9DC3-FDC85730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1969"/>
            <a:ext cx="1818769" cy="729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60 min</a:t>
            </a:r>
          </a:p>
        </p:txBody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D331F624-4F81-4200-B3D4-CCA3A154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78610"/>
            <a:ext cx="2110829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search budget · 3 trials</a:t>
            </a:r>
          </a:p>
        </p:txBody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4E24B3EF-8FC3-46EC-A5BC-86F5500E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4900"/>
            <a:ext cx="285541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Benchmarks and targets</a:t>
            </a:r>
          </a:p>
        </p:txBody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EA297077-ED86-48C3-8982-11DFD459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1145"/>
            <a:ext cx="2370237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QAOA, VQE, QPE, QFT,</a:t>
            </a:r>
          </a:p>
        </p:txBody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686D48C1-E709-44A9-A3ED-6AB708F6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8653"/>
            <a:ext cx="23939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Grover and Shor families</a:t>
            </a:r>
          </a:p>
        </p:txBody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91DA2950-58A9-44E8-BC0E-A7F536D0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8560"/>
            <a:ext cx="2032397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IBM-Eagle and Nam</a:t>
            </a:r>
          </a:p>
        </p:txBody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4A0911C1-3C42-4A34-A019-30E2EE4B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6068"/>
            <a:ext cx="215026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15–17,438 input gates</a:t>
            </a:r>
          </a:p>
        </p:txBody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9FACBCC2-EA8B-4EE7-9CA3-9D436B26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74900"/>
            <a:ext cx="174396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QSymb search</a:t>
            </a:r>
          </a:p>
        </p:txBody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413E972F-711C-41E4-94DF-407BF933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11145"/>
            <a:ext cx="3489127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Up to 9 equality-saturation iterations,</a:t>
            </a:r>
          </a:p>
        </p:txBody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9BD7B449-B61A-4D38-A218-79CDE9F1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08653"/>
            <a:ext cx="3150691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alternating with symbolic rewrites</a:t>
            </a:r>
          </a:p>
        </p:txBody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F6838596-BD01-4496-B2DD-B8E7FCA3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8560"/>
            <a:ext cx="1904554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Symbolic windows: </a:t>
            </a:r>
          </a:p>
        </p:txBody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6059A3A4-7944-419E-A554-5B9FBB58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479" y="3958560"/>
            <a:ext cx="103003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≥10 gates</a:t>
            </a:r>
          </a:p>
        </p:txBody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C3CE2741-EAD1-41A9-A3BB-B32E9D13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56068"/>
            <a:ext cx="301123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Metric: two-qubit-gate reduction</a:t>
            </a:r>
          </a:p>
        </p:txBody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6B3B079A-79F2-419C-AE94-D0D54C1D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2180"/>
            <a:ext cx="10858500" cy="95"/>
          </a:xfrm>
          <a:custGeom xmlns:a="http://schemas.openxmlformats.org/drawingml/2006/main">
            <a:pathLst>
              <a:path w="10858500" h="9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9CBC7"/>
            </a:solidFill>
            <a:prstDash val="solid"/>
          </a:ln>
        </p:spPr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F8FAC6FE-DC7F-4CB1-B73D-3F8B0023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3155"/>
            <a:ext cx="117737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Comparators</a:t>
            </a:r>
          </a:p>
        </p:txBody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397285BB-7C27-4663-8846-05E47A08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04" y="5003155"/>
            <a:ext cx="474821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Qiskit (level 3) · TKET · Quartz · Queso · Guoq-Rewrite</a:t>
            </a:r>
          </a:p>
        </p:txBody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441F3374-E925-499F-BDC8-D4D802E5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73370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AMD Ryzen 9 9950X, 128 GB RAM. Guoq comparison uses its rewrite engine. Fixed-pass tools finish in seconds.</a:t>
            </a:r>
          </a:p>
        </p:txBody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4D7C1918-CF4B-41F0-A455-FF5C5F68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295781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§6, Algorithm 3, §7.2, Table 4</a:t>
            </a:r>
          </a:p>
        </p:txBody>
      </p:sp>
      <p:sp>
        <p:nvSpPr>
          <p:cNvPr id="26" name="object-24-s0-ux">
            <a:extLst xmlns:a="http://schemas.openxmlformats.org/drawingml/2006/main">
              <a:ext uri="{FF2B5EF4-FFF2-40B4-BE49-F238E27FC236}">
                <a16:creationId xmlns:a16="http://schemas.microsoft.com/office/drawing/2014/main" id="{C02D3FBA-6408-4A05-8EB5-B422D3F8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7172734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">
            <a:extLst xmlns:a="http://schemas.openxmlformats.org/drawingml/2006/main">
              <a:ext uri="{FF2B5EF4-FFF2-40B4-BE49-F238E27FC236}">
                <a16:creationId xmlns:a16="http://schemas.microsoft.com/office/drawing/2014/main" id="{B211513C-5B21-42AB-9236-C85FBDF2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83B15EFA-AE5B-46A7-984C-AA41B6FB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369082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QSymb improves final two-qubit-gate reduction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A51DFB5D-C147-477E-8447-4CC32102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009"/>
            <a:ext cx="263783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Final aggregate reduction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F50AF201-DD02-4CAA-80C2-94EDED73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8952"/>
            <a:ext cx="229001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27.44%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D040694A-891B-42AB-9E59-09525CFF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9000"/>
            <a:ext cx="1098947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IBM-Eagle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B27B19C8-9154-43A2-8593-F65CC464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9321"/>
            <a:ext cx="229001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29.95%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6AB4991D-703C-484E-9241-C53B4DBF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9369"/>
            <a:ext cx="538758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Nam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13AA73B7-BFA4-4C82-9F0D-E40CA418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9224"/>
            <a:ext cx="2524423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Relative to original two-qubit counts.</a:t>
            </a:r>
          </a:p>
        </p:txBody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8D52968E-44C8-4580-9AB5-51FA45F3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2495"/>
            <a:ext cx="2541538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These are not gains over a baseline.</a:t>
            </a:r>
          </a:p>
        </p:txBody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51E63DBC-EF88-41A6-B5EE-973A1F8D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191964"/>
            <a:ext cx="95" cy="3541663"/>
          </a:xfrm>
          <a:custGeom xmlns:a="http://schemas.openxmlformats.org/drawingml/2006/main">
            <a:pathLst>
              <a:path w="95" h="3541663">
                <a:moveTo>
                  <a:pt x="0" y="0"/>
                </a:moveTo>
                <a:lnTo>
                  <a:pt x="0" y="354166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9CBC7"/>
            </a:solidFill>
            <a:prstDash val="solid"/>
          </a:ln>
        </p:spPr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650C07BD-A6AF-4168-9C8E-5D1691A4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171009"/>
            <a:ext cx="3837533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Share of benchmarks with a strict win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5772150" y="1704677"/>
          <a:ext xmlns:a="http://schemas.openxmlformats.org/drawingml/2006/main" cx="5753100" cy="3028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87985"/>
                <a:gridCol w="1649909"/>
                <a:gridCol w="1415207"/>
              </a:tblGrid>
              <a:tr h="447675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275" b="0">
                          <a:solidFill>
                            <a:srgbClr val="5E7275"/>
                          </a:solidFill>
                          <a:latin typeface="Arial"/>
                          <a:ea typeface="Arial"/>
                          <a:cs typeface="Arial"/>
                        </a:rPr>
                        <a:t>Comparator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275" b="0">
                          <a:solidFill>
                            <a:srgbClr val="5E7275"/>
                          </a:solidFill>
                          <a:latin typeface="Arial"/>
                          <a:ea typeface="Arial"/>
                          <a:cs typeface="Arial"/>
                        </a:rPr>
                        <a:t>IBM-Eagle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275" b="0">
                          <a:solidFill>
                            <a:srgbClr val="5E7275"/>
                          </a:solidFill>
                          <a:latin typeface="Arial"/>
                          <a:ea typeface="Arial"/>
                          <a:cs typeface="Arial"/>
                        </a:rPr>
                        <a:t>Nam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519113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Qiskit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90%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88%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51435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Guoq-Rewrite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67%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74%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51435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Quartz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82%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81%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51435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TKET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85%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86%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51435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Queso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83%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82.9%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</a:tbl>
          </a:graphicData>
        </a:graphic>
      </p:graphicFrame>
      <p:sp>
        <p:nvSpPr>
          <p:cNvPr id="13" name="object-10-s0-ux-border-225.96875">
            <a:extLst xmlns:a="http://schemas.openxmlformats.org/drawingml/2006/main">
              <a:ext uri="{FF2B5EF4-FFF2-40B4-BE49-F238E27FC236}">
                <a16:creationId xmlns:a16="http://schemas.microsoft.com/office/drawing/2014/main" id="{9F445E4C-D4D0-4522-AAAC-A04F3A0D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52352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14" name="object-10-s0-ux-border-280.46875">
            <a:extLst xmlns:a="http://schemas.openxmlformats.org/drawingml/2006/main">
              <a:ext uri="{FF2B5EF4-FFF2-40B4-BE49-F238E27FC236}">
                <a16:creationId xmlns:a16="http://schemas.microsoft.com/office/drawing/2014/main" id="{99E69F9A-E3F2-4D43-A8A4-1B146A3A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71465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15" name="object-10-s0-ux-border-334.46875">
            <a:extLst xmlns:a="http://schemas.openxmlformats.org/drawingml/2006/main">
              <a:ext uri="{FF2B5EF4-FFF2-40B4-BE49-F238E27FC236}">
                <a16:creationId xmlns:a16="http://schemas.microsoft.com/office/drawing/2014/main" id="{FCFB9313-0719-4366-8BD9-C5E9103C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85815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16" name="object-10-s0-ux-border-388.46875">
            <a:extLst xmlns:a="http://schemas.openxmlformats.org/drawingml/2006/main">
              <a:ext uri="{FF2B5EF4-FFF2-40B4-BE49-F238E27FC236}">
                <a16:creationId xmlns:a16="http://schemas.microsoft.com/office/drawing/2014/main" id="{1D545E19-4C6E-4FF7-BE55-CDA2A467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00165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17" name="object-10-s0-ux-border-442.46875">
            <a:extLst xmlns:a="http://schemas.openxmlformats.org/drawingml/2006/main">
              <a:ext uri="{FF2B5EF4-FFF2-40B4-BE49-F238E27FC236}">
                <a16:creationId xmlns:a16="http://schemas.microsoft.com/office/drawing/2014/main" id="{58344ACE-B06B-48F4-8F42-5A663A80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14515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18" name="object-10-s0-ux-border-496.46875">
            <a:extLst xmlns:a="http://schemas.openxmlformats.org/drawingml/2006/main">
              <a:ext uri="{FF2B5EF4-FFF2-40B4-BE49-F238E27FC236}">
                <a16:creationId xmlns:a16="http://schemas.microsoft.com/office/drawing/2014/main" id="{23E8BE63-FE38-445A-9549-BD17F949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28865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19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9161FD02-5295-45C3-8473-89570A4A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4924"/>
            <a:ext cx="10858500" cy="95"/>
          </a:xfrm>
          <a:custGeom xmlns:a="http://schemas.openxmlformats.org/drawingml/2006/main">
            <a:pathLst>
              <a:path w="10858500" h="9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9CBC7"/>
            </a:solidFill>
            <a:prstDash val="solid"/>
          </a:ln>
        </p:spPr>
      </p:sp>
      <p:sp>
        <p:nvSpPr>
          <p:cNvPr id="20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692EFF30-3224-4428-9FF0-2710420F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567"/>
            <a:ext cx="8856166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QSymb starts slower than Guoq, then reaches better final results under the search budget.</a:t>
            </a:r>
          </a:p>
        </p:txBody>
      </p:sp>
      <p:sp>
        <p:nvSpPr>
          <p:cNvPr id="21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2AD49A23-2F67-438B-BC04-5C0A1FB6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66653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§7.2, Figs. 11–12 and runtime comparison</a:t>
            </a:r>
          </a:p>
        </p:txBody>
      </p:sp>
      <p:sp>
        <p:nvSpPr>
          <p:cNvPr id="22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BD6B812A-3DEC-4B09-96EC-136A72C9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3387843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accent">
            <a:extLst xmlns:a="http://schemas.openxmlformats.org/drawingml/2006/main">
              <a:ext uri="{FF2B5EF4-FFF2-40B4-BE49-F238E27FC236}">
                <a16:creationId xmlns:a16="http://schemas.microsoft.com/office/drawing/2014/main" id="{621780C1-0DC2-4C3F-BA0A-A2279B25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32708C72-8328-4F65-A371-4A294B8A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802023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Symbolic rules and anchoring improve the search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E6076792-CF08-4A35-A6F8-DBBFD18E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4362"/>
            <a:ext cx="2050435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382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26–191×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7B0BA0D9-7C07-43E2-B4AA-4C319E58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12932"/>
            <a:ext cx="2572196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smaller concrete rule sets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7DCD86B6-9842-476D-9438-E4E32DE2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8689"/>
            <a:ext cx="2363242" cy="249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with full prior-rule coverage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AE179204-0949-4BED-90F5-D59F68A6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268164"/>
            <a:ext cx="95" cy="781050"/>
          </a:xfrm>
          <a:custGeom xmlns:a="http://schemas.openxmlformats.org/drawingml/2006/main">
            <a:pathLst>
              <a:path w="95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96B90795-D0CC-4C77-B621-5773C1B0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324362"/>
            <a:ext cx="1348115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382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11.6×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6A8767AE-C9FA-4425-8472-768A36FF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323409"/>
            <a:ext cx="1822996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symbolic synthesis</a:t>
            </a:r>
          </a:p>
        </p:txBody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E041A9B4-4616-4C5B-B4E5-06F480DA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49164"/>
            <a:ext cx="2035522" cy="249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speedup from grouping</a:t>
            </a:r>
          </a:p>
        </p:txBody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52D54AD9-0E99-4A90-BBA0-A9B1DE95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7352"/>
            <a:ext cx="3344763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Full QSymb versus ablations</a:t>
            </a:r>
          </a:p>
        </p:txBody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D785EEC7-2C9A-4CF6-8868-AC617989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009"/>
            <a:ext cx="136921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only</a:t>
            </a:r>
          </a:p>
        </p:txBody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B558002B-C94B-4AD5-A509-4B2D61A6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0764"/>
            <a:ext cx="5238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F"/>
          </a:solidFill>
          <a:ln xmlns:a="http://schemas.openxmlformats.org/drawingml/2006/main" w="19050">
            <a:solidFill>
              <a:srgbClr val="DDE5DF"/>
            </a:solidFill>
            <a:prstDash val="solid"/>
          </a:ln>
        </p:spPr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194B20E5-29E7-41C2-A1D8-C278EBAF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0764"/>
            <a:ext cx="50815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5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012B4614-0709-49E4-86AF-F9B6599A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0764"/>
            <a:ext cx="40862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03CC4028-280B-440C-8B50-9DAE7E47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36004"/>
            <a:ext cx="533846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78%</a:t>
            </a:r>
          </a:p>
        </p:txBody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ECC01516-82FA-4C59-8577-079F5DB5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044577"/>
            <a:ext cx="55289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97%</a:t>
            </a:r>
          </a:p>
        </p:txBody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5B29C5F6-F57D-470A-B951-DD60948A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740" y="3395097"/>
            <a:ext cx="130265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as good or better</a:t>
            </a:r>
          </a:p>
        </p:txBody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87E7D50B-8007-4A3C-929F-71D10802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7559"/>
            <a:ext cx="2924026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+ canonical symbolic</a:t>
            </a:r>
          </a:p>
        </p:txBody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8FD10709-4C75-426D-A628-C5EFE389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92314"/>
            <a:ext cx="5238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F"/>
          </a:solidFill>
          <a:ln xmlns:a="http://schemas.openxmlformats.org/drawingml/2006/main" w="19050">
            <a:solidFill>
              <a:srgbClr val="DDE5DF"/>
            </a:solidFill>
            <a:prstDash val="solid"/>
          </a:ln>
        </p:spPr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EAD6ECFD-3ABC-4619-BF98-DCABC50D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92314"/>
            <a:ext cx="50815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5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C9380F47-A1B2-48CF-9D80-85330F40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92314"/>
            <a:ext cx="1624013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493F77B1-4147-465D-B0CF-AE644238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007554"/>
            <a:ext cx="533846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31%</a:t>
            </a:r>
          </a:p>
        </p:txBody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515602A3-AD07-458C-9DC8-AE6C4099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016127"/>
            <a:ext cx="55289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97%</a:t>
            </a:r>
          </a:p>
        </p:txBody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FBCED0F5-7710-4AF1-8F85-4D04E638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740" y="4366647"/>
            <a:ext cx="130265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as good or better</a:t>
            </a:r>
          </a:p>
        </p:txBody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DBD6E25E-56CE-4C5A-A6C4-61B72141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49564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26" name="object-24-s0-ux">
            <a:extLst xmlns:a="http://schemas.openxmlformats.org/drawingml/2006/main">
              <a:ext uri="{FF2B5EF4-FFF2-40B4-BE49-F238E27FC236}">
                <a16:creationId xmlns:a16="http://schemas.microsoft.com/office/drawing/2014/main" id="{6D23120A-9856-41C0-82AE-9E6E2F33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811464"/>
            <a:ext cx="1158553" cy="249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strictly better</a:t>
            </a:r>
          </a:p>
        </p:txBody>
      </p:sp>
      <p:sp>
        <p:nvSpPr>
          <p:cNvPr id="27" name="object-25-s0-ux">
            <a:extLst xmlns:a="http://schemas.openxmlformats.org/drawingml/2006/main">
              <a:ext uri="{FF2B5EF4-FFF2-40B4-BE49-F238E27FC236}">
                <a16:creationId xmlns:a16="http://schemas.microsoft.com/office/drawing/2014/main" id="{41015A7C-AFC6-45AC-84AA-0101438A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49564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5CC"/>
          </a:solidFill>
          <a:ln xmlns:a="http://schemas.openxmlformats.org/drawingml/2006/main" w="19050">
            <a:solidFill>
              <a:srgbClr val="A9D5CC"/>
            </a:solidFill>
            <a:prstDash val="solid"/>
          </a:ln>
        </p:spPr>
      </p:sp>
      <p:sp>
        <p:nvSpPr>
          <p:cNvPr id="28" name="object-26-s0-ux">
            <a:extLst xmlns:a="http://schemas.openxmlformats.org/drawingml/2006/main">
              <a:ext uri="{FF2B5EF4-FFF2-40B4-BE49-F238E27FC236}">
                <a16:creationId xmlns:a16="http://schemas.microsoft.com/office/drawing/2014/main" id="{4530DBA2-E14A-4DFC-BFBB-10D3B367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811464"/>
            <a:ext cx="54233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equal</a:t>
            </a:r>
          </a:p>
        </p:txBody>
      </p:sp>
      <p:sp>
        <p:nvSpPr>
          <p:cNvPr id="29" name="object-27-s0-ux">
            <a:extLst xmlns:a="http://schemas.openxmlformats.org/drawingml/2006/main">
              <a:ext uri="{FF2B5EF4-FFF2-40B4-BE49-F238E27FC236}">
                <a16:creationId xmlns:a16="http://schemas.microsoft.com/office/drawing/2014/main" id="{D3F9CFD9-D14D-49A7-BDD0-385BB61D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811" y="2690247"/>
            <a:ext cx="49038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30" name="object-28-s0-ux">
            <a:extLst xmlns:a="http://schemas.openxmlformats.org/drawingml/2006/main">
              <a:ext uri="{FF2B5EF4-FFF2-40B4-BE49-F238E27FC236}">
                <a16:creationId xmlns:a16="http://schemas.microsoft.com/office/drawing/2014/main" id="{6C5C9385-DC8C-4F7E-A8BA-BA7313BC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069038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Bars show shares of benchmark cases. Dark + light teal = 97% as good or better. Gray = remaining 3%.</a:t>
            </a:r>
          </a:p>
        </p:txBody>
      </p:sp>
      <p:sp>
        <p:nvSpPr>
          <p:cNvPr id="31" name="object-29-s0-ux">
            <a:extLst xmlns:a="http://schemas.openxmlformats.org/drawingml/2006/main">
              <a:ext uri="{FF2B5EF4-FFF2-40B4-BE49-F238E27FC236}">
                <a16:creationId xmlns:a16="http://schemas.microsoft.com/office/drawing/2014/main" id="{56C75FB1-EC80-418F-9737-0136DA11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297849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Tables 1–3, §7.3, Figs. 13–14</a:t>
            </a:r>
          </a:p>
        </p:txBody>
      </p:sp>
      <p:sp>
        <p:nvSpPr>
          <p:cNvPr id="32" name="object-30-s0-ux">
            <a:extLst xmlns:a="http://schemas.openxmlformats.org/drawingml/2006/main">
              <a:ext uri="{FF2B5EF4-FFF2-40B4-BE49-F238E27FC236}">
                <a16:creationId xmlns:a16="http://schemas.microsoft.com/office/drawing/2014/main" id="{44B6FA13-FEBC-4AE2-A1CE-02106182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1332888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2026-10-03T20:41:15.8000000Z</dcterms:created>
  <dcterms:modified xsi:type="dcterms:W3CDTF">2026-10-03T20:41:15.8000000Z</dcterms:modified>
</coreProperties>
</file>